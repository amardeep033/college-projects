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81" r:id="rId7"/>
    <p:sldId id="261" r:id="rId8"/>
    <p:sldId id="282" r:id="rId9"/>
    <p:sldId id="266" r:id="rId10"/>
    <p:sldId id="262" r:id="rId11"/>
    <p:sldId id="277" r:id="rId12"/>
    <p:sldId id="264" r:id="rId13"/>
    <p:sldId id="275" r:id="rId14"/>
    <p:sldId id="267" r:id="rId15"/>
    <p:sldId id="279" r:id="rId16"/>
    <p:sldId id="265" r:id="rId17"/>
    <p:sldId id="280" r:id="rId18"/>
    <p:sldId id="278" r:id="rId19"/>
    <p:sldId id="268" r:id="rId20"/>
    <p:sldId id="269" r:id="rId21"/>
    <p:sldId id="270" r:id="rId22"/>
    <p:sldId id="271" r:id="rId23"/>
    <p:sldId id="272" r:id="rId24"/>
    <p:sldId id="273" r:id="rId25"/>
    <p:sldId id="274"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wHHbUdA8zfs9NFAIEUh9FVijL+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rdeep Kumar" initials="AK" lastIdx="1" clrIdx="0">
    <p:extLst>
      <p:ext uri="{19B8F6BF-5375-455C-9EA6-DF929625EA0E}">
        <p15:presenceInfo xmlns:p15="http://schemas.microsoft.com/office/powerpoint/2012/main" userId="8e7bc3425a230e6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8" name="Google Shape;8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9" name="Google Shape;8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289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1" name="Google Shape;18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2" name="Google Shape;182;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9388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1" name="Google Shape;18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2" name="Google Shape;182;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0587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2c3b335300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2c3b335300_0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 name="Google Shape;163;g22c3b335300_0_8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2c3b335300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2c3b335300_0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 name="Google Shape;163;g22c3b335300_0_8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68240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c3b335300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2c3b335300_0_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g22c3b335300_0_10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c3b335300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2c3b335300_0_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g22c3b335300_0_10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11982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2c3b335300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2c3b335300_0_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g22c3b335300_0_1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2c3b335300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2c3b335300_0_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g22c3b335300_0_1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38116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2c3b335300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2c3b335300_0_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g22c3b335300_0_1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07102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1" name="Google Shape;21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0" name="Google Shape;22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1" name="Google Shape;221;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0" name="Google Shape;2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1" name="Google Shape;231;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0" name="Google Shape;24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6" name="Google Shape;25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9" name="Google Shape;19;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17"/>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8200" y="1190625"/>
            <a:ext cx="10515600" cy="50339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8"/>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19"/>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20"/>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 name="Google Shape;37;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0"/>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4" name="Google Shape;44;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1"/>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22"/>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3" name="Google Shape;53;p22"/>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3"/>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2" name="Google Shape;62;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24"/>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9" name="Google Shape;69;p25"/>
          <p:cNvSpPr>
            <a:spLocks noGrp="1"/>
          </p:cNvSpPr>
          <p:nvPr>
            <p:ph type="pic" idx="2"/>
          </p:nvPr>
        </p:nvSpPr>
        <p:spPr>
          <a:xfrm>
            <a:off x="5183188" y="987425"/>
            <a:ext cx="6172200" cy="4873625"/>
          </a:xfrm>
          <a:prstGeom prst="rect">
            <a:avLst/>
          </a:prstGeom>
          <a:noFill/>
          <a:ln>
            <a:noFill/>
          </a:ln>
        </p:spPr>
      </p:sp>
      <p:sp>
        <p:nvSpPr>
          <p:cNvPr id="70" name="Google Shape;70;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5"/>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3579018" y="-1550193"/>
            <a:ext cx="5033963"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2" name="Google Shape;82;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7"/>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i="0" u="none" strike="noStrike" cap="none">
                <a:solidFill>
                  <a:srgbClr val="2B5FF3"/>
                </a:solidFill>
                <a:latin typeface="Calibri"/>
                <a:ea typeface="Calibri"/>
                <a:cs typeface="Calibri"/>
                <a:sym typeface="Calibri"/>
              </a:defRPr>
            </a:lvl1pPr>
            <a:lvl2pPr marL="0" lvl="1" indent="0" algn="r">
              <a:spcBef>
                <a:spcPts val="0"/>
              </a:spcBef>
              <a:spcAft>
                <a:spcPts val="0"/>
              </a:spcAft>
              <a:buNone/>
              <a:defRPr sz="1200" b="1" i="0" u="none" strike="noStrike" cap="none">
                <a:solidFill>
                  <a:srgbClr val="2B5FF3"/>
                </a:solidFill>
                <a:latin typeface="Calibri"/>
                <a:ea typeface="Calibri"/>
                <a:cs typeface="Calibri"/>
                <a:sym typeface="Calibri"/>
              </a:defRPr>
            </a:lvl2pPr>
            <a:lvl3pPr marL="0" lvl="2" indent="0" algn="r">
              <a:spcBef>
                <a:spcPts val="0"/>
              </a:spcBef>
              <a:spcAft>
                <a:spcPts val="0"/>
              </a:spcAft>
              <a:buNone/>
              <a:defRPr sz="1200" b="1" i="0" u="none" strike="noStrike" cap="none">
                <a:solidFill>
                  <a:srgbClr val="2B5FF3"/>
                </a:solidFill>
                <a:latin typeface="Calibri"/>
                <a:ea typeface="Calibri"/>
                <a:cs typeface="Calibri"/>
                <a:sym typeface="Calibri"/>
              </a:defRPr>
            </a:lvl3pPr>
            <a:lvl4pPr marL="0" lvl="3" indent="0" algn="r">
              <a:spcBef>
                <a:spcPts val="0"/>
              </a:spcBef>
              <a:spcAft>
                <a:spcPts val="0"/>
              </a:spcAft>
              <a:buNone/>
              <a:defRPr sz="1200" b="1" i="0" u="none" strike="noStrike" cap="none">
                <a:solidFill>
                  <a:srgbClr val="2B5FF3"/>
                </a:solidFill>
                <a:latin typeface="Calibri"/>
                <a:ea typeface="Calibri"/>
                <a:cs typeface="Calibri"/>
                <a:sym typeface="Calibri"/>
              </a:defRPr>
            </a:lvl4pPr>
            <a:lvl5pPr marL="0" lvl="4" indent="0" algn="r">
              <a:spcBef>
                <a:spcPts val="0"/>
              </a:spcBef>
              <a:spcAft>
                <a:spcPts val="0"/>
              </a:spcAft>
              <a:buNone/>
              <a:defRPr sz="1200" b="1" i="0" u="none" strike="noStrike" cap="none">
                <a:solidFill>
                  <a:srgbClr val="2B5FF3"/>
                </a:solidFill>
                <a:latin typeface="Calibri"/>
                <a:ea typeface="Calibri"/>
                <a:cs typeface="Calibri"/>
                <a:sym typeface="Calibri"/>
              </a:defRPr>
            </a:lvl5pPr>
            <a:lvl6pPr marL="0" lvl="5" indent="0" algn="r">
              <a:spcBef>
                <a:spcPts val="0"/>
              </a:spcBef>
              <a:spcAft>
                <a:spcPts val="0"/>
              </a:spcAft>
              <a:buNone/>
              <a:defRPr sz="1200" b="1" i="0" u="none" strike="noStrike" cap="none">
                <a:solidFill>
                  <a:srgbClr val="2B5FF3"/>
                </a:solidFill>
                <a:latin typeface="Calibri"/>
                <a:ea typeface="Calibri"/>
                <a:cs typeface="Calibri"/>
                <a:sym typeface="Calibri"/>
              </a:defRPr>
            </a:lvl6pPr>
            <a:lvl7pPr marL="0" lvl="6" indent="0" algn="r">
              <a:spcBef>
                <a:spcPts val="0"/>
              </a:spcBef>
              <a:spcAft>
                <a:spcPts val="0"/>
              </a:spcAft>
              <a:buNone/>
              <a:defRPr sz="1200" b="1" i="0" u="none" strike="noStrike" cap="none">
                <a:solidFill>
                  <a:srgbClr val="2B5FF3"/>
                </a:solidFill>
                <a:latin typeface="Calibri"/>
                <a:ea typeface="Calibri"/>
                <a:cs typeface="Calibri"/>
                <a:sym typeface="Calibri"/>
              </a:defRPr>
            </a:lvl7pPr>
            <a:lvl8pPr marL="0" lvl="7" indent="0" algn="r">
              <a:spcBef>
                <a:spcPts val="0"/>
              </a:spcBef>
              <a:spcAft>
                <a:spcPts val="0"/>
              </a:spcAft>
              <a:buNone/>
              <a:defRPr sz="1200" b="1" i="0" u="none" strike="noStrike" cap="none">
                <a:solidFill>
                  <a:srgbClr val="2B5FF3"/>
                </a:solidFill>
                <a:latin typeface="Calibri"/>
                <a:ea typeface="Calibri"/>
                <a:cs typeface="Calibri"/>
                <a:sym typeface="Calibri"/>
              </a:defRPr>
            </a:lvl8pPr>
            <a:lvl9pPr marL="0" lvl="8" indent="0" algn="r">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1pPr>
            <a:lvl2pPr marR="0" lvl="1"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2pPr>
            <a:lvl3pPr marR="0" lvl="2"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3pPr>
            <a:lvl4pPr marR="0" lvl="3"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4pPr>
            <a:lvl5pPr marR="0" lvl="4"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5pPr>
            <a:lvl6pPr marR="0" lvl="5"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6pPr>
            <a:lvl7pPr marR="0" lvl="6"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7pPr>
            <a:lvl8pPr marR="0" lvl="7"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8pPr>
            <a:lvl9pPr marR="0" lvl="8" algn="l" rtl="0">
              <a:lnSpc>
                <a:spcPct val="90000"/>
              </a:lnSpc>
              <a:spcBef>
                <a:spcPts val="0"/>
              </a:spcBef>
              <a:spcAft>
                <a:spcPts val="0"/>
              </a:spcAft>
              <a:buSzPts val="1400"/>
              <a:buNone/>
              <a:defRPr sz="4400" b="1" i="0" u="none" strike="noStrike" cap="none">
                <a:solidFill>
                  <a:srgbClr val="002060"/>
                </a:solidFill>
                <a:latin typeface="Calibri"/>
                <a:ea typeface="Calibri"/>
                <a:cs typeface="Calibri"/>
                <a:sym typeface="Calibri"/>
              </a:defRPr>
            </a:lvl9pPr>
          </a:lstStyle>
          <a:p>
            <a:endParaRPr/>
          </a:p>
        </p:txBody>
      </p:sp>
      <p:sp>
        <p:nvSpPr>
          <p:cNvPr id="11" name="Google Shape;11;p16"/>
          <p:cNvSpPr txBox="1">
            <a:spLocks noGrp="1"/>
          </p:cNvSpPr>
          <p:nvPr>
            <p:ph type="body" idx="1"/>
          </p:nvPr>
        </p:nvSpPr>
        <p:spPr>
          <a:xfrm>
            <a:off x="838200" y="1190625"/>
            <a:ext cx="10515600" cy="5033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2B5FF3"/>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2B5FF3"/>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2B5FF3"/>
                </a:solidFill>
                <a:latin typeface="Calibri"/>
                <a:ea typeface="Calibri"/>
                <a:cs typeface="Calibri"/>
                <a:sym typeface="Calibri"/>
              </a:defRPr>
            </a:lvl1pPr>
            <a:lvl2pPr marL="0" marR="0" lvl="1" indent="0" algn="r" rtl="0">
              <a:spcBef>
                <a:spcPts val="0"/>
              </a:spcBef>
              <a:spcAft>
                <a:spcPts val="0"/>
              </a:spcAft>
              <a:buNone/>
              <a:defRPr sz="1200" b="1" i="0" u="none" strike="noStrike" cap="none">
                <a:solidFill>
                  <a:srgbClr val="2B5FF3"/>
                </a:solidFill>
                <a:latin typeface="Calibri"/>
                <a:ea typeface="Calibri"/>
                <a:cs typeface="Calibri"/>
                <a:sym typeface="Calibri"/>
              </a:defRPr>
            </a:lvl2pPr>
            <a:lvl3pPr marL="0" marR="0" lvl="2" indent="0" algn="r" rtl="0">
              <a:spcBef>
                <a:spcPts val="0"/>
              </a:spcBef>
              <a:spcAft>
                <a:spcPts val="0"/>
              </a:spcAft>
              <a:buNone/>
              <a:defRPr sz="1200" b="1" i="0" u="none" strike="noStrike" cap="none">
                <a:solidFill>
                  <a:srgbClr val="2B5FF3"/>
                </a:solidFill>
                <a:latin typeface="Calibri"/>
                <a:ea typeface="Calibri"/>
                <a:cs typeface="Calibri"/>
                <a:sym typeface="Calibri"/>
              </a:defRPr>
            </a:lvl3pPr>
            <a:lvl4pPr marL="0" marR="0" lvl="3" indent="0" algn="r" rtl="0">
              <a:spcBef>
                <a:spcPts val="0"/>
              </a:spcBef>
              <a:spcAft>
                <a:spcPts val="0"/>
              </a:spcAft>
              <a:buNone/>
              <a:defRPr sz="1200" b="1" i="0" u="none" strike="noStrike" cap="none">
                <a:solidFill>
                  <a:srgbClr val="2B5FF3"/>
                </a:solidFill>
                <a:latin typeface="Calibri"/>
                <a:ea typeface="Calibri"/>
                <a:cs typeface="Calibri"/>
                <a:sym typeface="Calibri"/>
              </a:defRPr>
            </a:lvl4pPr>
            <a:lvl5pPr marL="0" marR="0" lvl="4" indent="0" algn="r" rtl="0">
              <a:spcBef>
                <a:spcPts val="0"/>
              </a:spcBef>
              <a:spcAft>
                <a:spcPts val="0"/>
              </a:spcAft>
              <a:buNone/>
              <a:defRPr sz="1200" b="1" i="0" u="none" strike="noStrike" cap="none">
                <a:solidFill>
                  <a:srgbClr val="2B5FF3"/>
                </a:solidFill>
                <a:latin typeface="Calibri"/>
                <a:ea typeface="Calibri"/>
                <a:cs typeface="Calibri"/>
                <a:sym typeface="Calibri"/>
              </a:defRPr>
            </a:lvl5pPr>
            <a:lvl6pPr marL="0" marR="0" lvl="5" indent="0" algn="r" rtl="0">
              <a:spcBef>
                <a:spcPts val="0"/>
              </a:spcBef>
              <a:spcAft>
                <a:spcPts val="0"/>
              </a:spcAft>
              <a:buNone/>
              <a:defRPr sz="1200" b="1" i="0" u="none" strike="noStrike" cap="none">
                <a:solidFill>
                  <a:srgbClr val="2B5FF3"/>
                </a:solidFill>
                <a:latin typeface="Calibri"/>
                <a:ea typeface="Calibri"/>
                <a:cs typeface="Calibri"/>
                <a:sym typeface="Calibri"/>
              </a:defRPr>
            </a:lvl6pPr>
            <a:lvl7pPr marL="0" marR="0" lvl="6" indent="0" algn="r" rtl="0">
              <a:spcBef>
                <a:spcPts val="0"/>
              </a:spcBef>
              <a:spcAft>
                <a:spcPts val="0"/>
              </a:spcAft>
              <a:buNone/>
              <a:defRPr sz="1200" b="1" i="0" u="none" strike="noStrike" cap="none">
                <a:solidFill>
                  <a:srgbClr val="2B5FF3"/>
                </a:solidFill>
                <a:latin typeface="Calibri"/>
                <a:ea typeface="Calibri"/>
                <a:cs typeface="Calibri"/>
                <a:sym typeface="Calibri"/>
              </a:defRPr>
            </a:lvl7pPr>
            <a:lvl8pPr marL="0" marR="0" lvl="7" indent="0" algn="r" rtl="0">
              <a:spcBef>
                <a:spcPts val="0"/>
              </a:spcBef>
              <a:spcAft>
                <a:spcPts val="0"/>
              </a:spcAft>
              <a:buNone/>
              <a:defRPr sz="1200" b="1" i="0" u="none" strike="noStrike" cap="none">
                <a:solidFill>
                  <a:srgbClr val="2B5FF3"/>
                </a:solidFill>
                <a:latin typeface="Calibri"/>
                <a:ea typeface="Calibri"/>
                <a:cs typeface="Calibri"/>
                <a:sym typeface="Calibri"/>
              </a:defRPr>
            </a:lvl8pPr>
            <a:lvl9pPr marL="0" marR="0" lvl="8" indent="0" algn="r" rtl="0">
              <a:spcBef>
                <a:spcPts val="0"/>
              </a:spcBef>
              <a:spcAft>
                <a:spcPts val="0"/>
              </a:spcAft>
              <a:buNone/>
              <a:defRPr sz="1200" b="1" i="0" u="none" strike="noStrike" cap="none">
                <a:solidFill>
                  <a:srgbClr val="2B5FF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6" descr="Logo, company name&#10;&#10;Description automatically generated"/>
          <p:cNvPicPr preferRelativeResize="0"/>
          <p:nvPr/>
        </p:nvPicPr>
        <p:blipFill rotWithShape="1">
          <a:blip r:embed="rId13">
            <a:alphaModFix/>
          </a:blip>
          <a:srcRect/>
          <a:stretch/>
        </p:blipFill>
        <p:spPr>
          <a:xfrm>
            <a:off x="0" y="0"/>
            <a:ext cx="838200" cy="549275"/>
          </a:xfrm>
          <a:prstGeom prst="rect">
            <a:avLst/>
          </a:prstGeom>
          <a:noFill/>
          <a:ln>
            <a:noFill/>
          </a:ln>
        </p:spPr>
      </p:pic>
      <p:pic>
        <p:nvPicPr>
          <p:cNvPr id="16" name="Google Shape;16;p16" descr="A picture containing calendar&#10;&#10;Description automatically generated"/>
          <p:cNvPicPr preferRelativeResize="0"/>
          <p:nvPr/>
        </p:nvPicPr>
        <p:blipFill rotWithShape="1">
          <a:blip r:embed="rId14">
            <a:alphaModFix/>
          </a:blip>
          <a:srcRect/>
          <a:stretch/>
        </p:blipFill>
        <p:spPr>
          <a:xfrm>
            <a:off x="11476038" y="17463"/>
            <a:ext cx="693737" cy="6953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0" y="2946388"/>
            <a:ext cx="12192000" cy="12858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sz="3400" i="1">
                <a:solidFill>
                  <a:srgbClr val="FF0000"/>
                </a:solidFill>
              </a:rPr>
              <a:t>Automating Procurement Contracts in Healthcare Supply Chain Using Blockchain Smart Contracts</a:t>
            </a:r>
            <a:br>
              <a:rPr lang="en-US" sz="3400">
                <a:solidFill>
                  <a:srgbClr val="FF0000"/>
                </a:solidFill>
              </a:rPr>
            </a:br>
            <a:endParaRPr sz="3400">
              <a:solidFill>
                <a:srgbClr val="FF0000"/>
              </a:solidFill>
            </a:endParaRPr>
          </a:p>
        </p:txBody>
      </p:sp>
      <p:sp>
        <p:nvSpPr>
          <p:cNvPr id="92" name="Google Shape;92;p1"/>
          <p:cNvSpPr txBox="1">
            <a:spLocks noGrp="1"/>
          </p:cNvSpPr>
          <p:nvPr>
            <p:ph type="subTitle" idx="1"/>
          </p:nvPr>
        </p:nvSpPr>
        <p:spPr>
          <a:xfrm>
            <a:off x="3867150" y="4232276"/>
            <a:ext cx="4457700" cy="8255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C00000"/>
              </a:buClr>
              <a:buSzPts val="2400"/>
              <a:buNone/>
            </a:pPr>
            <a:r>
              <a:rPr lang="en-US" b="1">
                <a:solidFill>
                  <a:srgbClr val="C00000"/>
                </a:solidFill>
                <a:latin typeface="Times New Roman"/>
                <a:ea typeface="Times New Roman"/>
                <a:cs typeface="Times New Roman"/>
                <a:sym typeface="Times New Roman"/>
              </a:rPr>
              <a:t>Amardeep Kumar</a:t>
            </a:r>
            <a:endParaRPr/>
          </a:p>
          <a:p>
            <a:pPr marL="0" lvl="0" indent="0" algn="ctr" rtl="0">
              <a:lnSpc>
                <a:spcPct val="90000"/>
              </a:lnSpc>
              <a:spcBef>
                <a:spcPts val="0"/>
              </a:spcBef>
              <a:spcAft>
                <a:spcPts val="0"/>
              </a:spcAft>
              <a:buClr>
                <a:srgbClr val="000066"/>
              </a:buClr>
              <a:buSzPts val="2400"/>
              <a:buNone/>
            </a:pPr>
            <a:r>
              <a:rPr lang="en-US" b="1">
                <a:solidFill>
                  <a:srgbClr val="000066"/>
                </a:solidFill>
                <a:latin typeface="Times New Roman"/>
                <a:ea typeface="Times New Roman"/>
                <a:cs typeface="Times New Roman"/>
                <a:sym typeface="Times New Roman"/>
              </a:rPr>
              <a:t>USN: 1RN19IS020</a:t>
            </a:r>
            <a:endParaRPr b="1">
              <a:solidFill>
                <a:srgbClr val="000066"/>
              </a:solidFill>
            </a:endParaRPr>
          </a:p>
        </p:txBody>
      </p:sp>
      <p:sp>
        <p:nvSpPr>
          <p:cNvPr id="93" name="Google Shape;93;p1"/>
          <p:cNvSpPr/>
          <p:nvPr/>
        </p:nvSpPr>
        <p:spPr>
          <a:xfrm>
            <a:off x="0" y="-25400"/>
            <a:ext cx="12192000" cy="101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000066"/>
                </a:solidFill>
                <a:latin typeface="Times New Roman"/>
                <a:ea typeface="Times New Roman"/>
                <a:cs typeface="Times New Roman"/>
                <a:sym typeface="Times New Roman"/>
              </a:rPr>
              <a:t>RNS INSTITUTE OF TECHNOLOGY</a:t>
            </a:r>
            <a:endParaRPr/>
          </a:p>
          <a:p>
            <a:pPr marL="0" marR="0" lvl="0" indent="0" algn="ctr" rtl="0">
              <a:spcBef>
                <a:spcPts val="0"/>
              </a:spcBef>
              <a:spcAft>
                <a:spcPts val="0"/>
              </a:spcAft>
              <a:buNone/>
            </a:pPr>
            <a:r>
              <a:rPr lang="en-US" sz="2400" b="1" i="0" u="none" strike="noStrike" cap="none">
                <a:solidFill>
                  <a:srgbClr val="000066"/>
                </a:solidFill>
                <a:latin typeface="Times New Roman"/>
                <a:ea typeface="Times New Roman"/>
                <a:cs typeface="Times New Roman"/>
                <a:sym typeface="Times New Roman"/>
              </a:rPr>
              <a:t>BENGALURU - 98</a:t>
            </a:r>
            <a:endParaRPr sz="2400" b="1" i="0" u="none" strike="noStrike" cap="none">
              <a:solidFill>
                <a:srgbClr val="000066"/>
              </a:solidFill>
              <a:latin typeface="Times New Roman"/>
              <a:ea typeface="Times New Roman"/>
              <a:cs typeface="Times New Roman"/>
              <a:sym typeface="Times New Roman"/>
            </a:endParaRPr>
          </a:p>
        </p:txBody>
      </p:sp>
      <p:sp>
        <p:nvSpPr>
          <p:cNvPr id="94" name="Google Shape;94;p1"/>
          <p:cNvSpPr/>
          <p:nvPr/>
        </p:nvSpPr>
        <p:spPr>
          <a:xfrm>
            <a:off x="0" y="984250"/>
            <a:ext cx="12192000" cy="584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C00000"/>
                </a:solidFill>
                <a:latin typeface="Times New Roman"/>
                <a:ea typeface="Times New Roman"/>
                <a:cs typeface="Times New Roman"/>
                <a:sym typeface="Times New Roman"/>
              </a:rPr>
              <a:t>DEPARTMENT OF INFORMATION SCIENCE &amp; ENGINEERING</a:t>
            </a:r>
            <a:endParaRPr/>
          </a:p>
        </p:txBody>
      </p:sp>
      <p:sp>
        <p:nvSpPr>
          <p:cNvPr id="95" name="Google Shape;95;p1"/>
          <p:cNvSpPr/>
          <p:nvPr/>
        </p:nvSpPr>
        <p:spPr>
          <a:xfrm>
            <a:off x="2711450" y="2110652"/>
            <a:ext cx="6769100" cy="46196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002060"/>
                </a:solidFill>
                <a:latin typeface="Times New Roman"/>
                <a:ea typeface="Times New Roman"/>
                <a:cs typeface="Times New Roman"/>
                <a:sym typeface="Times New Roman"/>
              </a:rPr>
              <a:t>Presentation on Technical Seminar</a:t>
            </a:r>
            <a:endParaRPr/>
          </a:p>
        </p:txBody>
      </p:sp>
      <p:sp>
        <p:nvSpPr>
          <p:cNvPr id="96" name="Google Shape;96;p1"/>
          <p:cNvSpPr/>
          <p:nvPr/>
        </p:nvSpPr>
        <p:spPr>
          <a:xfrm>
            <a:off x="34925" y="5268913"/>
            <a:ext cx="5129213" cy="9540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rgbClr val="262626"/>
                </a:solidFill>
                <a:latin typeface="Times New Roman"/>
                <a:ea typeface="Times New Roman"/>
                <a:cs typeface="Times New Roman"/>
                <a:sym typeface="Times New Roman"/>
              </a:rPr>
              <a:t>Guide</a:t>
            </a:r>
            <a:endParaRPr/>
          </a:p>
          <a:p>
            <a:pPr marL="0" marR="0" lvl="0" indent="0" algn="ctr" rtl="0">
              <a:spcBef>
                <a:spcPts val="0"/>
              </a:spcBef>
              <a:spcAft>
                <a:spcPts val="0"/>
              </a:spcAft>
              <a:buNone/>
            </a:pPr>
            <a:r>
              <a:rPr lang="en-IN" sz="2000" b="1" i="0" u="none" strike="noStrike" cap="none">
                <a:solidFill>
                  <a:srgbClr val="000066"/>
                </a:solidFill>
                <a:latin typeface="Times New Roman"/>
                <a:ea typeface="Times New Roman"/>
                <a:cs typeface="Times New Roman"/>
                <a:sym typeface="Times New Roman"/>
              </a:rPr>
              <a:t>Ms. Vanishri S</a:t>
            </a:r>
            <a:endParaRPr sz="2000" b="1" i="0" u="none" strike="noStrike" cap="none">
              <a:solidFill>
                <a:srgbClr val="000066"/>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b="0" i="0" u="none" strike="noStrike" cap="none">
                <a:solidFill>
                  <a:srgbClr val="262626"/>
                </a:solidFill>
                <a:latin typeface="Times New Roman"/>
                <a:ea typeface="Times New Roman"/>
                <a:cs typeface="Times New Roman"/>
                <a:sym typeface="Times New Roman"/>
              </a:rPr>
              <a:t>Asst. Prof, Dept of  ISE, RNSIT</a:t>
            </a:r>
            <a:endParaRPr/>
          </a:p>
        </p:txBody>
      </p:sp>
      <p:sp>
        <p:nvSpPr>
          <p:cNvPr id="97" name="Google Shape;97;p1"/>
          <p:cNvSpPr/>
          <p:nvPr/>
        </p:nvSpPr>
        <p:spPr>
          <a:xfrm>
            <a:off x="7037388" y="5243513"/>
            <a:ext cx="5129212"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rgbClr val="262626"/>
                </a:solidFill>
                <a:latin typeface="Times New Roman"/>
                <a:ea typeface="Times New Roman"/>
                <a:cs typeface="Times New Roman"/>
                <a:sym typeface="Times New Roman"/>
              </a:rPr>
              <a:t>Panel Member</a:t>
            </a:r>
            <a:endParaRPr/>
          </a:p>
          <a:p>
            <a:pPr marL="0" marR="0" lvl="0" indent="0" algn="ctr" rtl="0">
              <a:spcBef>
                <a:spcPts val="0"/>
              </a:spcBef>
              <a:spcAft>
                <a:spcPts val="0"/>
              </a:spcAft>
              <a:buNone/>
            </a:pPr>
            <a:r>
              <a:rPr lang="en-US" sz="2000" b="1" i="0" u="none" strike="noStrike" cap="none">
                <a:solidFill>
                  <a:srgbClr val="000066"/>
                </a:solidFill>
                <a:latin typeface="Times New Roman"/>
                <a:ea typeface="Times New Roman"/>
                <a:cs typeface="Times New Roman"/>
                <a:sym typeface="Times New Roman"/>
              </a:rPr>
              <a:t>Ms. </a:t>
            </a:r>
            <a:r>
              <a:rPr lang="en-US" sz="2000" b="1">
                <a:solidFill>
                  <a:srgbClr val="000066"/>
                </a:solidFill>
                <a:latin typeface="Times New Roman"/>
                <a:ea typeface="Times New Roman"/>
                <a:cs typeface="Times New Roman"/>
                <a:sym typeface="Times New Roman"/>
              </a:rPr>
              <a:t>Sudha V </a:t>
            </a:r>
          </a:p>
          <a:p>
            <a:pPr marL="0" marR="0" lvl="0" indent="0" algn="ctr" rtl="0">
              <a:spcBef>
                <a:spcPts val="0"/>
              </a:spcBef>
              <a:spcAft>
                <a:spcPts val="0"/>
              </a:spcAft>
              <a:buNone/>
            </a:pPr>
            <a:r>
              <a:rPr lang="en-US" sz="1800" b="0" i="0" u="none" strike="noStrike" cap="none">
                <a:solidFill>
                  <a:srgbClr val="262626"/>
                </a:solidFill>
                <a:latin typeface="Times New Roman"/>
                <a:ea typeface="Times New Roman"/>
                <a:cs typeface="Times New Roman"/>
                <a:sym typeface="Times New Roman"/>
              </a:rPr>
              <a:t>Asst. Prof, Dept of  ISE, RNSIT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952625" y="53975"/>
            <a:ext cx="7467600" cy="1143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200">
                <a:solidFill>
                  <a:srgbClr val="2F5496"/>
                </a:solidFill>
                <a:latin typeface="Times New Roman"/>
                <a:ea typeface="Times New Roman"/>
                <a:cs typeface="Times New Roman"/>
                <a:sym typeface="Times New Roman"/>
              </a:rPr>
              <a:t>AGENDA</a:t>
            </a:r>
            <a:endParaRPr/>
          </a:p>
        </p:txBody>
      </p:sp>
      <p:sp>
        <p:nvSpPr>
          <p:cNvPr id="103" name="Google Shape;103;p2"/>
          <p:cNvSpPr txBox="1">
            <a:spLocks noGrp="1"/>
          </p:cNvSpPr>
          <p:nvPr>
            <p:ph type="body" idx="1"/>
          </p:nvPr>
        </p:nvSpPr>
        <p:spPr>
          <a:xfrm>
            <a:off x="1462726" y="1196975"/>
            <a:ext cx="9067800" cy="4692650"/>
          </a:xfrm>
          <a:prstGeom prst="rect">
            <a:avLst/>
          </a:prstGeom>
          <a:noFill/>
          <a:ln>
            <a:noFill/>
          </a:ln>
        </p:spPr>
        <p:txBody>
          <a:bodyPr spcFirstLastPara="1" wrap="square" lIns="91425" tIns="45700" rIns="91425" bIns="45700" anchor="t" anchorCtr="0">
            <a:normAutofit fontScale="92500" lnSpcReduction="20000"/>
          </a:bodyPr>
          <a:lstStyle/>
          <a:p>
            <a:pPr marL="355600" lvl="0" indent="-355600" algn="l" rtl="0">
              <a:lnSpc>
                <a:spcPct val="90000"/>
              </a:lnSpc>
              <a:spcBef>
                <a:spcPts val="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Abstract</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Introduction</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Literature Survey</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Existing System</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Proposed System </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System Design</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Results and Discussion</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Limitations</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Conclusion and Future Enhancements</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References</a:t>
            </a:r>
            <a:endParaRPr/>
          </a:p>
          <a:p>
            <a:pPr marL="355600" lvl="0" indent="-355600" algn="l" rtl="0">
              <a:lnSpc>
                <a:spcPct val="90000"/>
              </a:lnSpc>
              <a:spcBef>
                <a:spcPts val="100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Q &amp; A</a:t>
            </a:r>
            <a:endParaRPr/>
          </a:p>
          <a:p>
            <a:pPr marL="0" lvl="0" indent="0" algn="l" rtl="0">
              <a:lnSpc>
                <a:spcPct val="90000"/>
              </a:lnSpc>
              <a:spcBef>
                <a:spcPts val="1000"/>
              </a:spcBef>
              <a:spcAft>
                <a:spcPts val="0"/>
              </a:spcAft>
              <a:buClr>
                <a:schemeClr val="dk1"/>
              </a:buClr>
              <a:buSzPct val="100000"/>
              <a:buFont typeface="Arial"/>
              <a:buNone/>
            </a:pPr>
            <a:endParaRPr>
              <a:solidFill>
                <a:srgbClr val="3F3F3F"/>
              </a:solidFill>
            </a:endParaRPr>
          </a:p>
        </p:txBody>
      </p:sp>
      <p:sp>
        <p:nvSpPr>
          <p:cNvPr id="104" name="Google Shape;104;p2"/>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05" name="Google Shape;10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06" name="Google Shape;10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2424113" y="333375"/>
            <a:ext cx="7467600" cy="12954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None/>
            </a:pPr>
            <a:r>
              <a:rPr lang="en-US" sz="3200">
                <a:solidFill>
                  <a:srgbClr val="2F5496"/>
                </a:solidFill>
                <a:latin typeface="Times New Roman"/>
                <a:ea typeface="Times New Roman"/>
                <a:cs typeface="Times New Roman"/>
                <a:sym typeface="Times New Roman"/>
              </a:rPr>
              <a:t>ABSTRACT</a:t>
            </a:r>
            <a:br>
              <a:rPr lang="en-US" sz="3200" u="sng">
                <a:solidFill>
                  <a:srgbClr val="2F5496"/>
                </a:solidFill>
                <a:latin typeface="Times New Roman"/>
                <a:ea typeface="Times New Roman"/>
                <a:cs typeface="Times New Roman"/>
                <a:sym typeface="Times New Roman"/>
              </a:rPr>
            </a:br>
            <a:endParaRPr sz="3200" u="sng">
              <a:solidFill>
                <a:srgbClr val="2F5496"/>
              </a:solidFill>
              <a:latin typeface="Times New Roman"/>
              <a:ea typeface="Times New Roman"/>
              <a:cs typeface="Times New Roman"/>
              <a:sym typeface="Times New Roman"/>
            </a:endParaRPr>
          </a:p>
        </p:txBody>
      </p:sp>
      <p:sp>
        <p:nvSpPr>
          <p:cNvPr id="112" name="Google Shape;112;p3"/>
          <p:cNvSpPr txBox="1">
            <a:spLocks noGrp="1"/>
          </p:cNvSpPr>
          <p:nvPr>
            <p:ph type="body" idx="1"/>
          </p:nvPr>
        </p:nvSpPr>
        <p:spPr>
          <a:xfrm>
            <a:off x="1111349" y="838984"/>
            <a:ext cx="9784200" cy="5118755"/>
          </a:xfrm>
          <a:prstGeom prst="rect">
            <a:avLst/>
          </a:prstGeom>
          <a:noFill/>
          <a:ln>
            <a:noFill/>
          </a:ln>
        </p:spPr>
        <p:txBody>
          <a:bodyPr spcFirstLastPara="1" wrap="square" lIns="91425" tIns="45700" rIns="91425" bIns="45700" anchor="t" anchorCtr="0">
            <a:noAutofit/>
          </a:bodyPr>
          <a:lstStyle/>
          <a:p>
            <a:pPr marL="355600" lvl="0" indent="-313247" algn="just" rtl="0">
              <a:lnSpc>
                <a:spcPct val="115000"/>
              </a:lnSpc>
              <a:spcBef>
                <a:spcPts val="1000"/>
              </a:spcBef>
              <a:spcAft>
                <a:spcPts val="0"/>
              </a:spcAft>
              <a:buClr>
                <a:schemeClr val="dk1"/>
              </a:buClr>
              <a:buSzPct val="100000"/>
              <a:buChar char="•"/>
            </a:pPr>
            <a:r>
              <a:rPr lang="en-US" sz="2100">
                <a:latin typeface="Times New Roman" panose="02020603050405020304" pitchFamily="18" charset="0"/>
                <a:cs typeface="Times New Roman" panose="02020603050405020304" pitchFamily="18" charset="0"/>
              </a:rPr>
              <a:t>Managing the healthcare supply chain (HCSC) process is crucial for healthcare providers, even in normal operations, and is especially important during pandemics like COVID-19.</a:t>
            </a:r>
          </a:p>
          <a:p>
            <a:pPr marL="355600" lvl="0" indent="-313247" algn="just" rtl="0">
              <a:lnSpc>
                <a:spcPct val="115000"/>
              </a:lnSpc>
              <a:spcBef>
                <a:spcPts val="1000"/>
              </a:spcBef>
              <a:spcAft>
                <a:spcPts val="0"/>
              </a:spcAft>
              <a:buClr>
                <a:schemeClr val="dk1"/>
              </a:buClr>
              <a:buSzPct val="100000"/>
              <a:buChar char="•"/>
            </a:pPr>
            <a:r>
              <a:rPr lang="en-US" sz="2100">
                <a:latin typeface="Times New Roman" panose="02020603050405020304" pitchFamily="18" charset="0"/>
                <a:cs typeface="Times New Roman" panose="02020603050405020304" pitchFamily="18" charset="0"/>
              </a:rPr>
              <a:t>Despite significant advances in new technologies and treatment options providers still suffer from poor procurement, ordering, forecasting, and distribution practices.</a:t>
            </a:r>
          </a:p>
          <a:p>
            <a:pPr marL="355600" indent="-313247" algn="just">
              <a:lnSpc>
                <a:spcPct val="115000"/>
              </a:lnSpc>
              <a:buSzPct val="100000"/>
            </a:pPr>
            <a:r>
              <a:rPr lang="en-US" sz="2100">
                <a:latin typeface="Times New Roman" panose="02020603050405020304" pitchFamily="18" charset="0"/>
                <a:cs typeface="Times New Roman" panose="02020603050405020304" pitchFamily="18" charset="0"/>
              </a:rPr>
              <a:t>Group Purchasing Organizations (GPOs) are an important stakeholder in HCSC and benefit providers with cost savings, volume discounts, and vendor selection. It is well known that more than 90% hospitals in the United States are members of GPOs, thereby making GPOs an important part of HCSC.</a:t>
            </a:r>
          </a:p>
          <a:p>
            <a:pPr marL="355600" indent="-313247" algn="just">
              <a:lnSpc>
                <a:spcPct val="115000"/>
              </a:lnSpc>
              <a:buSzPct val="100000"/>
            </a:pPr>
            <a:r>
              <a:rPr lang="en-US" sz="2100">
                <a:latin typeface="Times New Roman" panose="02020603050405020304" pitchFamily="18" charset="0"/>
                <a:cs typeface="Times New Roman" panose="02020603050405020304" pitchFamily="18" charset="0"/>
              </a:rPr>
              <a:t>Proposed solution :blockchain-based smart contract approach for automating procurement.</a:t>
            </a:r>
          </a:p>
          <a:p>
            <a:pPr marL="355600" lvl="0" indent="-313247" algn="just" rtl="0">
              <a:lnSpc>
                <a:spcPct val="115000"/>
              </a:lnSpc>
              <a:spcBef>
                <a:spcPts val="1000"/>
              </a:spcBef>
              <a:spcAft>
                <a:spcPts val="0"/>
              </a:spcAft>
              <a:buSzPct val="100000"/>
              <a:buChar char="•"/>
            </a:pPr>
            <a:r>
              <a:rPr lang="en-US" sz="2100">
                <a:latin typeface="Times New Roman" panose="02020603050405020304" pitchFamily="18" charset="0"/>
                <a:cs typeface="Times New Roman" panose="02020603050405020304" pitchFamily="18" charset="0"/>
              </a:rPr>
              <a:t>Solution combines blockchain technology with decentralized storage for increased transparency, trust, and security.</a:t>
            </a:r>
            <a:endParaRPr sz="2100">
              <a:latin typeface="Times New Roman" panose="02020603050405020304" pitchFamily="18" charset="0"/>
              <a:cs typeface="Times New Roman" panose="02020603050405020304" pitchFamily="18" charset="0"/>
            </a:endParaRPr>
          </a:p>
        </p:txBody>
      </p:sp>
      <p:sp>
        <p:nvSpPr>
          <p:cNvPr id="113" name="Google Shape;113;p3"/>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14" name="Google Shape;114;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15" name="Google Shape;11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3</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1981200" y="115888"/>
            <a:ext cx="7467600" cy="1081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200">
                <a:solidFill>
                  <a:srgbClr val="2F5496"/>
                </a:solidFill>
                <a:latin typeface="Times New Roman"/>
                <a:ea typeface="Times New Roman"/>
                <a:cs typeface="Times New Roman"/>
                <a:sym typeface="Times New Roman"/>
              </a:rPr>
              <a:t>INTRODUCTION</a:t>
            </a:r>
            <a:br>
              <a:rPr lang="en-US" sz="3200" u="sng">
                <a:solidFill>
                  <a:srgbClr val="2F5496"/>
                </a:solidFill>
                <a:latin typeface="Times New Roman"/>
                <a:ea typeface="Times New Roman"/>
                <a:cs typeface="Times New Roman"/>
                <a:sym typeface="Times New Roman"/>
              </a:rPr>
            </a:br>
            <a:endParaRPr sz="3200" u="sng">
              <a:solidFill>
                <a:srgbClr val="2F5496"/>
              </a:solidFill>
              <a:latin typeface="Times New Roman"/>
              <a:ea typeface="Times New Roman"/>
              <a:cs typeface="Times New Roman"/>
              <a:sym typeface="Times New Roman"/>
            </a:endParaRPr>
          </a:p>
        </p:txBody>
      </p:sp>
      <p:sp>
        <p:nvSpPr>
          <p:cNvPr id="121" name="Google Shape;121;p4"/>
          <p:cNvSpPr txBox="1">
            <a:spLocks noGrp="1"/>
          </p:cNvSpPr>
          <p:nvPr>
            <p:ph type="body" idx="1"/>
          </p:nvPr>
        </p:nvSpPr>
        <p:spPr>
          <a:xfrm>
            <a:off x="623888" y="914400"/>
            <a:ext cx="10944300" cy="5322900"/>
          </a:xfrm>
          <a:prstGeom prst="rect">
            <a:avLst/>
          </a:prstGeom>
          <a:noFill/>
          <a:ln>
            <a:noFill/>
          </a:ln>
        </p:spPr>
        <p:txBody>
          <a:bodyPr spcFirstLastPara="1" wrap="square" lIns="91425" tIns="45700" rIns="91425" bIns="45700" anchor="t" anchorCtr="0">
            <a:noAutofit/>
          </a:bodyPr>
          <a:lstStyle/>
          <a:p>
            <a:pPr indent="-304800" algn="just">
              <a:buSzPts val="1200"/>
              <a:buFont typeface="Times New Roman"/>
              <a:buChar char="•"/>
            </a:pPr>
            <a:r>
              <a:rPr lang="en-US" sz="2000">
                <a:latin typeface="Times New Roman"/>
                <a:ea typeface="Times New Roman"/>
                <a:cs typeface="Times New Roman"/>
                <a:sym typeface="Times New Roman"/>
              </a:rPr>
              <a:t>HCSC suffers from highly fragmented structures, obsolete processes and systems, and disconnectedness in information sharing among stakeholders. The issue does not limit itself to fragmented information but extends to a lack of trust and transparency among trading partners.</a:t>
            </a:r>
          </a:p>
          <a:p>
            <a:pPr marL="457200" lvl="0" indent="-304800" algn="just" rtl="0">
              <a:lnSpc>
                <a:spcPct val="90000"/>
              </a:lnSpc>
              <a:spcBef>
                <a:spcPts val="1000"/>
              </a:spcBef>
              <a:spcAft>
                <a:spcPts val="0"/>
              </a:spcAft>
              <a:buSzPts val="1200"/>
              <a:buFont typeface="Times New Roman"/>
              <a:buChar char="•"/>
            </a:pPr>
            <a:r>
              <a:rPr lang="en-US" sz="2000">
                <a:latin typeface="Times New Roman"/>
                <a:ea typeface="Times New Roman"/>
                <a:cs typeface="Times New Roman"/>
                <a:sym typeface="Times New Roman"/>
              </a:rPr>
              <a:t>A blockchain consists of a chain of blocks that contains a record of transactions. Each block contains a cryptographic hash of the previous block, which makes it difficult to modify any block without changing the entire chain.</a:t>
            </a:r>
          </a:p>
          <a:p>
            <a:pPr marL="457200" lvl="0" indent="-304800" algn="just" rtl="0">
              <a:lnSpc>
                <a:spcPct val="90000"/>
              </a:lnSpc>
              <a:spcBef>
                <a:spcPts val="1000"/>
              </a:spcBef>
              <a:spcAft>
                <a:spcPts val="0"/>
              </a:spcAft>
              <a:buSzPts val="1200"/>
              <a:buFont typeface="Times New Roman"/>
              <a:buChar char="•"/>
            </a:pPr>
            <a:r>
              <a:rPr lang="en-US" sz="2000">
                <a:latin typeface="Times New Roman"/>
                <a:ea typeface="Times New Roman"/>
                <a:cs typeface="Times New Roman"/>
                <a:sym typeface="Times New Roman"/>
              </a:rPr>
              <a:t>Smart contracts are self-executing computer programs that automatically enforce the terms of a contract when certain predetermined conditions are met. They are designed to eliminate the need for intermediaries such as lawyers, bankers, or brokers, and to create a more efficient, secure and transparent way of doing business.</a:t>
            </a:r>
          </a:p>
          <a:p>
            <a:pPr marL="457200" lvl="0" indent="-304800" algn="l" rtl="0">
              <a:lnSpc>
                <a:spcPct val="90000"/>
              </a:lnSpc>
              <a:spcBef>
                <a:spcPts val="1000"/>
              </a:spcBef>
              <a:spcAft>
                <a:spcPts val="0"/>
              </a:spcAft>
              <a:buSzPts val="1200"/>
              <a:buFont typeface="Times New Roman"/>
              <a:buChar char="•"/>
            </a:pPr>
            <a:r>
              <a:rPr lang="en-US" sz="2000">
                <a:latin typeface="Times New Roman"/>
                <a:ea typeface="Times New Roman"/>
                <a:cs typeface="Times New Roman"/>
                <a:sym typeface="Times New Roman"/>
              </a:rPr>
              <a:t>Blockchain technology can be used to connect suppliers and retailers in a trusted environment to encourage inventory sharing, enhancing trust, efficiency, and coordination while reducing disruptions and enhancing transparency.</a:t>
            </a:r>
            <a:endParaRPr sz="2000">
              <a:latin typeface="Times New Roman"/>
              <a:ea typeface="Times New Roman"/>
              <a:cs typeface="Times New Roman"/>
              <a:sym typeface="Times New Roman"/>
            </a:endParaRPr>
          </a:p>
          <a:p>
            <a:pPr marL="457200" lvl="0" indent="-304800" algn="l" rtl="0">
              <a:lnSpc>
                <a:spcPct val="90000"/>
              </a:lnSpc>
              <a:spcBef>
                <a:spcPts val="1000"/>
              </a:spcBef>
              <a:spcAft>
                <a:spcPts val="0"/>
              </a:spcAft>
              <a:buSzPts val="1200"/>
              <a:buFont typeface="Times New Roman"/>
              <a:buChar char="•"/>
            </a:pPr>
            <a:r>
              <a:rPr lang="en-US" sz="2000">
                <a:latin typeface="Times New Roman"/>
                <a:ea typeface="Times New Roman"/>
                <a:cs typeface="Times New Roman"/>
                <a:sym typeface="Times New Roman"/>
              </a:rPr>
              <a:t>The proposed solution is a private blockchain-based solution that uses Ethereum smart contracts and a decentralized storage system to facilitate inventory sharing among supply chain stakeholders, validated through testing and cost and security analysis.</a:t>
            </a:r>
            <a:endParaRPr sz="2000">
              <a:latin typeface="Times New Roman"/>
              <a:ea typeface="Times New Roman"/>
              <a:cs typeface="Times New Roman"/>
              <a:sym typeface="Times New Roman"/>
            </a:endParaRPr>
          </a:p>
          <a:p>
            <a:pPr marL="228600" lvl="0" indent="-228600" algn="just" rtl="0">
              <a:lnSpc>
                <a:spcPct val="120000"/>
              </a:lnSpc>
              <a:spcBef>
                <a:spcPts val="1000"/>
              </a:spcBef>
              <a:spcAft>
                <a:spcPts val="0"/>
              </a:spcAft>
              <a:buClr>
                <a:schemeClr val="dk1"/>
              </a:buClr>
              <a:buSzPts val="2800"/>
              <a:buNone/>
            </a:pPr>
            <a:endParaRPr sz="2000">
              <a:latin typeface="Times New Roman"/>
              <a:ea typeface="Times New Roman"/>
              <a:cs typeface="Times New Roman"/>
              <a:sym typeface="Times New Roman"/>
            </a:endParaRPr>
          </a:p>
          <a:p>
            <a:pPr marL="228600" lvl="0" indent="-114300" algn="just" rtl="0">
              <a:lnSpc>
                <a:spcPct val="120000"/>
              </a:lnSpc>
              <a:spcBef>
                <a:spcPts val="1000"/>
              </a:spcBef>
              <a:spcAft>
                <a:spcPts val="0"/>
              </a:spcAft>
              <a:buClr>
                <a:schemeClr val="dk1"/>
              </a:buClr>
              <a:buSzPts val="1800"/>
              <a:buFont typeface="Noto Sans Symbols"/>
              <a:buNone/>
            </a:pPr>
            <a:endParaRPr sz="2000"/>
          </a:p>
        </p:txBody>
      </p:sp>
      <p:sp>
        <p:nvSpPr>
          <p:cNvPr id="122" name="Google Shape;122;p4"/>
          <p:cNvSpPr txBox="1">
            <a:spLocks noGrp="1"/>
          </p:cNvSpPr>
          <p:nvPr>
            <p:ph type="dt" idx="10"/>
          </p:nvPr>
        </p:nvSpPr>
        <p:spPr>
          <a:xfrm>
            <a:off x="838200" y="6356350"/>
            <a:ext cx="32004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23" name="Google Shape;123;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24" name="Google Shape;124;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4</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body" idx="1"/>
          </p:nvPr>
        </p:nvSpPr>
        <p:spPr>
          <a:xfrm>
            <a:off x="-697584" y="908838"/>
            <a:ext cx="12554634" cy="5162024"/>
          </a:xfrm>
          <a:prstGeom prst="rect">
            <a:avLst/>
          </a:prstGeom>
          <a:noFill/>
          <a:ln>
            <a:noFill/>
          </a:ln>
        </p:spPr>
        <p:txBody>
          <a:bodyPr spcFirstLastPara="1" wrap="square" lIns="91425" tIns="45700" rIns="91425" bIns="45700" anchor="t" anchorCtr="0">
            <a:noAutofit/>
          </a:bodyPr>
          <a:lstStyle/>
          <a:p>
            <a:pPr marL="1200150" indent="-285750">
              <a:lnSpc>
                <a:spcPct val="120000"/>
              </a:lnSpc>
              <a:spcBef>
                <a:spcPts val="0"/>
              </a:spcBef>
            </a:pPr>
            <a:r>
              <a:rPr lang="en-US" sz="1800" b="1" i="0">
                <a:solidFill>
                  <a:schemeClr val="tx1"/>
                </a:solidFill>
                <a:effectLst/>
                <a:latin typeface="Times New Roman" panose="02020603050405020304" pitchFamily="18" charset="0"/>
                <a:cs typeface="Times New Roman" panose="02020603050405020304" pitchFamily="18" charset="0"/>
              </a:rPr>
              <a:t>"A Survey on Blockchain for Supply Chain Management" by He Huang, Sheheryar Malik(2019): </a:t>
            </a:r>
            <a:r>
              <a:rPr lang="en-US" sz="1800" i="0">
                <a:solidFill>
                  <a:schemeClr val="tx1"/>
                </a:solidFill>
                <a:effectLst/>
                <a:latin typeface="Times New Roman" panose="02020603050405020304" pitchFamily="18" charset="0"/>
                <a:cs typeface="Times New Roman" panose="02020603050405020304" pitchFamily="18" charset="0"/>
              </a:rPr>
              <a:t>This paper presents a survey of the use of blockchain in supply chain management. The authors review the literature on blockchain in supply chain management and discuss its potential applications, such as traceability, transparency, and efficiency. They also identify the challenges and opportunities for future research in this area.</a:t>
            </a:r>
            <a:endParaRPr lang="en-US" sz="1800" b="1" i="0">
              <a:solidFill>
                <a:schemeClr val="tx1"/>
              </a:solidFill>
              <a:effectLst/>
              <a:latin typeface="Times New Roman" panose="02020603050405020304" pitchFamily="18" charset="0"/>
              <a:cs typeface="Times New Roman" panose="02020603050405020304" pitchFamily="18" charset="0"/>
            </a:endParaRPr>
          </a:p>
          <a:p>
            <a:pPr marL="1200150" indent="-285750">
              <a:lnSpc>
                <a:spcPct val="120000"/>
              </a:lnSpc>
              <a:spcBef>
                <a:spcPts val="0"/>
              </a:spcBef>
            </a:pPr>
            <a:endParaRPr lang="en-US" sz="1800" b="1">
              <a:solidFill>
                <a:schemeClr val="tx1"/>
              </a:solidFill>
              <a:latin typeface="Times New Roman" panose="02020603050405020304" pitchFamily="18" charset="0"/>
              <a:cs typeface="Times New Roman" panose="02020603050405020304" pitchFamily="18" charset="0"/>
            </a:endParaRPr>
          </a:p>
          <a:p>
            <a:pPr marL="1200150" indent="-285750">
              <a:lnSpc>
                <a:spcPct val="120000"/>
              </a:lnSpc>
              <a:spcBef>
                <a:spcPts val="0"/>
              </a:spcBef>
            </a:pPr>
            <a:r>
              <a:rPr lang="en-US" sz="1800" b="1" i="0">
                <a:solidFill>
                  <a:schemeClr val="tx1"/>
                </a:solidFill>
                <a:effectLst/>
                <a:latin typeface="Times New Roman" panose="02020603050405020304" pitchFamily="18" charset="0"/>
                <a:cs typeface="Times New Roman" panose="02020603050405020304" pitchFamily="18" charset="0"/>
              </a:rPr>
              <a:t>"A survey on smart contract: architectures, applications, and future trends" by Ali Dorri, Salil S. Kanhere, and Raja Jurdak, published in IEEE Communications Surveys &amp; Tutorials in 2019: </a:t>
            </a:r>
            <a:r>
              <a:rPr lang="en-US" sz="1800" i="0">
                <a:solidFill>
                  <a:schemeClr val="tx1"/>
                </a:solidFill>
                <a:effectLst/>
                <a:latin typeface="Times New Roman" panose="02020603050405020304" pitchFamily="18" charset="0"/>
                <a:cs typeface="Times New Roman" panose="02020603050405020304" pitchFamily="18" charset="0"/>
              </a:rPr>
              <a:t>This paper provides a comprehensive overview of smart contract technology, including its architecture, applications, challenges, and future trends. This paper also provides an overview of blockchain consensus algorithms, including those used in smart contract platforms, and examines their properties, advantages, and limitations.</a:t>
            </a:r>
            <a:endParaRPr lang="en-US" sz="1800" b="1" i="0">
              <a:solidFill>
                <a:schemeClr val="tx1"/>
              </a:solidFill>
              <a:effectLst/>
              <a:latin typeface="Times New Roman" panose="02020603050405020304" pitchFamily="18" charset="0"/>
              <a:cs typeface="Times New Roman" panose="02020603050405020304" pitchFamily="18" charset="0"/>
            </a:endParaRPr>
          </a:p>
          <a:p>
            <a:pPr marL="914400" indent="0">
              <a:lnSpc>
                <a:spcPct val="120000"/>
              </a:lnSpc>
              <a:spcBef>
                <a:spcPts val="0"/>
              </a:spcBef>
              <a:buNone/>
            </a:pPr>
            <a:endParaRPr lang="en-US" sz="1800" b="0" i="0">
              <a:solidFill>
                <a:schemeClr val="tx1"/>
              </a:solidFill>
              <a:effectLst/>
              <a:latin typeface="Times New Roman" panose="02020603050405020304" pitchFamily="18" charset="0"/>
              <a:cs typeface="Times New Roman" panose="02020603050405020304" pitchFamily="18" charset="0"/>
            </a:endParaRPr>
          </a:p>
          <a:p>
            <a:pPr marL="1200150" indent="-285750">
              <a:lnSpc>
                <a:spcPct val="120000"/>
              </a:lnSpc>
              <a:spcBef>
                <a:spcPts val="0"/>
              </a:spcBef>
            </a:pPr>
            <a:r>
              <a:rPr lang="en-US" sz="1800" b="1" i="0">
                <a:solidFill>
                  <a:schemeClr val="tx1"/>
                </a:solidFill>
                <a:effectLst/>
                <a:latin typeface="Times New Roman" panose="02020603050405020304" pitchFamily="18" charset="0"/>
                <a:cs typeface="Times New Roman" panose="02020603050405020304" pitchFamily="18" charset="0"/>
              </a:rPr>
              <a:t>"Blockchain Technology in Healthcare: A Systematic Review" (Ahmed, I., Ahmed, M., &amp; Hossain, S., 2020): </a:t>
            </a:r>
            <a:r>
              <a:rPr lang="en-US" sz="1800" b="0" i="0">
                <a:solidFill>
                  <a:schemeClr val="tx1"/>
                </a:solidFill>
                <a:effectLst/>
                <a:latin typeface="Times New Roman" panose="02020603050405020304" pitchFamily="18" charset="0"/>
                <a:cs typeface="Times New Roman" panose="02020603050405020304" pitchFamily="18" charset="0"/>
              </a:rPr>
              <a:t>This systematic review examines the potential of blockchain technology in healthcare, including its use in supply chain management. The authors highlight the benefits of using blockchain-based smart contracts to automate procurement contracts, reduce costs, and improve transparency and accountability. They also discuss the challenges associated with implementing blockchain technology, such as interoperability and data privacy.</a:t>
            </a:r>
          </a:p>
          <a:p>
            <a:pPr marL="1200150" indent="-285750">
              <a:lnSpc>
                <a:spcPct val="120000"/>
              </a:lnSpc>
              <a:spcBef>
                <a:spcPts val="0"/>
              </a:spcBef>
            </a:pPr>
            <a:endParaRPr lang="en-US" sz="1800">
              <a:solidFill>
                <a:schemeClr val="tx1"/>
              </a:solidFill>
              <a:latin typeface="Times New Roman" panose="02020603050405020304" pitchFamily="18" charset="0"/>
              <a:cs typeface="Times New Roman" panose="02020603050405020304" pitchFamily="18" charset="0"/>
            </a:endParaRPr>
          </a:p>
        </p:txBody>
      </p:sp>
      <p:sp>
        <p:nvSpPr>
          <p:cNvPr id="130" name="Google Shape;130;p5"/>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31" name="Google Shape;1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a:t>
            </a:r>
            <a:r>
              <a:rPr lang="en-US"/>
              <a:t>2</a:t>
            </a:r>
            <a:r>
              <a:rPr lang="en-US" sz="1200" b="1" i="0" u="none" strike="noStrike" cap="none">
                <a:solidFill>
                  <a:srgbClr val="2B5FF3"/>
                </a:solidFill>
                <a:latin typeface="Calibri"/>
                <a:ea typeface="Calibri"/>
                <a:cs typeface="Calibri"/>
                <a:sym typeface="Calibri"/>
              </a:rPr>
              <a:t> - 202</a:t>
            </a:r>
            <a:r>
              <a:rPr lang="en-US"/>
              <a:t>3</a:t>
            </a:r>
            <a:endParaRPr/>
          </a:p>
        </p:txBody>
      </p:sp>
      <p:sp>
        <p:nvSpPr>
          <p:cNvPr id="132" name="Google Shape;132;p5"/>
          <p:cNvSpPr txBox="1"/>
          <p:nvPr/>
        </p:nvSpPr>
        <p:spPr>
          <a:xfrm>
            <a:off x="1981200" y="152400"/>
            <a:ext cx="8229600" cy="684213"/>
          </a:xfrm>
          <a:prstGeom prst="rect">
            <a:avLst/>
          </a:prstGeom>
          <a:noFill/>
          <a:ln>
            <a:noFill/>
          </a:ln>
        </p:spPr>
        <p:txBody>
          <a:bodyPr spcFirstLastPara="1" wrap="square" lIns="91425" tIns="45700" rIns="91425" bIns="45700" anchor="b" anchorCtr="0">
            <a:normAutofit fontScale="97500"/>
          </a:bodyPr>
          <a:lstStyle/>
          <a:p>
            <a:pPr marL="0" marR="0" lvl="0" indent="0" algn="ctr" rtl="0">
              <a:spcBef>
                <a:spcPts val="0"/>
              </a:spcBef>
              <a:spcAft>
                <a:spcPts val="0"/>
              </a:spcAft>
              <a:buClr>
                <a:srgbClr val="2F5496"/>
              </a:buClr>
              <a:buSzPct val="100000"/>
              <a:buFont typeface="Times New Roman"/>
              <a:buNone/>
            </a:pPr>
            <a:r>
              <a:rPr lang="en-US" sz="3200" b="1" i="0" u="none" strike="noStrike" cap="small">
                <a:solidFill>
                  <a:srgbClr val="2F5496"/>
                </a:solidFill>
                <a:latin typeface="Times New Roman"/>
                <a:ea typeface="Times New Roman"/>
                <a:cs typeface="Times New Roman"/>
                <a:sym typeface="Times New Roman"/>
              </a:rPr>
              <a:t>LITERATURE</a:t>
            </a:r>
            <a:r>
              <a:rPr lang="en-US" sz="3200" b="1" i="0" u="none" strike="noStrike" cap="small">
                <a:solidFill>
                  <a:schemeClr val="accent1"/>
                </a:solidFill>
                <a:latin typeface="Times New Roman"/>
                <a:ea typeface="Times New Roman"/>
                <a:cs typeface="Times New Roman"/>
                <a:sym typeface="Times New Roman"/>
              </a:rPr>
              <a:t> </a:t>
            </a:r>
            <a:r>
              <a:rPr lang="en-US" sz="3200" b="1" i="0" u="none" strike="noStrike" cap="small">
                <a:solidFill>
                  <a:srgbClr val="2F5496"/>
                </a:solidFill>
                <a:latin typeface="Times New Roman"/>
                <a:ea typeface="Times New Roman"/>
                <a:cs typeface="Times New Roman"/>
                <a:sym typeface="Times New Roman"/>
              </a:rPr>
              <a:t>SURVEY</a:t>
            </a:r>
            <a:endParaRPr/>
          </a:p>
        </p:txBody>
      </p:sp>
      <p:sp>
        <p:nvSpPr>
          <p:cNvPr id="133" name="Google Shape;1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5</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body" idx="1"/>
          </p:nvPr>
        </p:nvSpPr>
        <p:spPr>
          <a:xfrm>
            <a:off x="-102312" y="1219935"/>
            <a:ext cx="11522100" cy="5040300"/>
          </a:xfrm>
          <a:prstGeom prst="rect">
            <a:avLst/>
          </a:prstGeom>
          <a:noFill/>
          <a:ln>
            <a:noFill/>
          </a:ln>
        </p:spPr>
        <p:txBody>
          <a:bodyPr spcFirstLastPara="1" wrap="square" lIns="91425" tIns="45700" rIns="91425" bIns="45700" anchor="t" anchorCtr="0">
            <a:noAutofit/>
          </a:bodyPr>
          <a:lstStyle/>
          <a:p>
            <a:pPr marL="1200150" indent="-285750">
              <a:lnSpc>
                <a:spcPct val="120000"/>
              </a:lnSpc>
              <a:spcBef>
                <a:spcPts val="0"/>
              </a:spcBef>
            </a:pPr>
            <a:r>
              <a:rPr lang="en-US" sz="1800" b="1" i="0">
                <a:solidFill>
                  <a:schemeClr val="tx1"/>
                </a:solidFill>
                <a:effectLst/>
                <a:latin typeface="Times New Roman" panose="02020603050405020304" pitchFamily="18" charset="0"/>
                <a:cs typeface="Times New Roman" panose="02020603050405020304" pitchFamily="18" charset="0"/>
              </a:rPr>
              <a:t>"A Blockchain-based Smart Contract Solution for Healthcare Procurement Contracts" (</a:t>
            </a:r>
            <a:r>
              <a:rPr lang="de-DE" sz="1800" b="1" i="0">
                <a:solidFill>
                  <a:schemeClr val="tx1"/>
                </a:solidFill>
                <a:effectLst/>
                <a:latin typeface="Times New Roman" panose="02020603050405020304" pitchFamily="18" charset="0"/>
                <a:cs typeface="Times New Roman" panose="02020603050405020304" pitchFamily="18" charset="0"/>
              </a:rPr>
              <a:t>Chen, Y., Zhang, W., &amp; Wang, B. </a:t>
            </a:r>
            <a:r>
              <a:rPr lang="en-US" sz="1800" b="1" i="0">
                <a:solidFill>
                  <a:schemeClr val="tx1"/>
                </a:solidFill>
                <a:effectLst/>
                <a:latin typeface="Times New Roman" panose="02020603050405020304" pitchFamily="18" charset="0"/>
                <a:cs typeface="Times New Roman" panose="02020603050405020304" pitchFamily="18" charset="0"/>
              </a:rPr>
              <a:t>., 2020):</a:t>
            </a:r>
            <a:r>
              <a:rPr lang="en-US" sz="1800" b="0" i="0">
                <a:solidFill>
                  <a:schemeClr val="tx1"/>
                </a:solidFill>
                <a:effectLst/>
                <a:latin typeface="Times New Roman" panose="02020603050405020304" pitchFamily="18" charset="0"/>
                <a:cs typeface="Times New Roman" panose="02020603050405020304" pitchFamily="18" charset="0"/>
              </a:rPr>
              <a:t> This paper proposes a blockchain-based smart contract solution for automating procurement contracts in the healthcare supply chain. The authors describe the architecture of the proposed solution, which includes a blockchain network, a smart contract engine, and a user interface. They highlight the benefits of using the proposed solution, including reduced transaction costs, improved transparency and accountability, and automated contract execution. They also discuss the challenges associated with implementing the solution, such as interoperability, data privacy, and regulatory compliance.</a:t>
            </a:r>
          </a:p>
          <a:p>
            <a:pPr marL="914400" indent="0">
              <a:lnSpc>
                <a:spcPct val="120000"/>
              </a:lnSpc>
              <a:spcBef>
                <a:spcPts val="0"/>
              </a:spcBef>
              <a:buNone/>
            </a:pPr>
            <a:endParaRPr lang="en-US" sz="1800" b="0" i="0">
              <a:solidFill>
                <a:schemeClr val="tx1"/>
              </a:solidFill>
              <a:effectLst/>
              <a:latin typeface="Times New Roman" panose="02020603050405020304" pitchFamily="18" charset="0"/>
              <a:cs typeface="Times New Roman" panose="02020603050405020304" pitchFamily="18" charset="0"/>
            </a:endParaRPr>
          </a:p>
          <a:p>
            <a:pPr marL="1200150" indent="-285750">
              <a:lnSpc>
                <a:spcPct val="120000"/>
              </a:lnSpc>
              <a:spcBef>
                <a:spcPts val="0"/>
              </a:spcBef>
            </a:pPr>
            <a:r>
              <a:rPr lang="en-US" sz="1800" b="1" i="0">
                <a:solidFill>
                  <a:schemeClr val="tx1"/>
                </a:solidFill>
                <a:effectLst/>
                <a:latin typeface="Times New Roman" panose="02020603050405020304" pitchFamily="18" charset="0"/>
                <a:cs typeface="Times New Roman" panose="02020603050405020304" pitchFamily="18" charset="0"/>
              </a:rPr>
              <a:t>"Blockchain-Based Smart Contracts for Healthcare Supply Chain Management: A Systematic Review" (</a:t>
            </a:r>
            <a:r>
              <a:rPr lang="it-IT" sz="1800" b="1" i="0">
                <a:solidFill>
                  <a:schemeClr val="tx1"/>
                </a:solidFill>
                <a:effectLst/>
                <a:latin typeface="Times New Roman" panose="02020603050405020304" pitchFamily="18" charset="0"/>
                <a:cs typeface="Times New Roman" panose="02020603050405020304" pitchFamily="18" charset="0"/>
              </a:rPr>
              <a:t>Kumar, R., Tripathi, S., &amp; Sethi, A.</a:t>
            </a:r>
            <a:r>
              <a:rPr lang="en-US" sz="1800" b="1" i="0">
                <a:solidFill>
                  <a:schemeClr val="tx1"/>
                </a:solidFill>
                <a:effectLst/>
                <a:latin typeface="Times New Roman" panose="02020603050405020304" pitchFamily="18" charset="0"/>
                <a:cs typeface="Times New Roman" panose="02020603050405020304" pitchFamily="18" charset="0"/>
              </a:rPr>
              <a:t>, 2020):</a:t>
            </a:r>
            <a:r>
              <a:rPr lang="en-US" sz="1800" b="0" i="0">
                <a:solidFill>
                  <a:schemeClr val="tx1"/>
                </a:solidFill>
                <a:effectLst/>
                <a:latin typeface="Times New Roman" panose="02020603050405020304" pitchFamily="18" charset="0"/>
                <a:cs typeface="Times New Roman" panose="02020603050405020304" pitchFamily="18" charset="0"/>
              </a:rPr>
              <a:t> This systematic review examines the potential of blockchain-based smart contracts in healthcare supply chain management. The authors highlight the benefits of using blockchain-based smart contracts to automate procurement contracts, reduce costs, and improve transparency and accountability. They also discuss the challenges associated with implementing blockchain technology, such as data privacy, interoperability, and regulatory compliance.</a:t>
            </a:r>
          </a:p>
        </p:txBody>
      </p:sp>
      <p:sp>
        <p:nvSpPr>
          <p:cNvPr id="130" name="Google Shape;130;p5"/>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31" name="Google Shape;1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a:t>
            </a:r>
            <a:r>
              <a:rPr lang="en-US"/>
              <a:t>2</a:t>
            </a:r>
            <a:r>
              <a:rPr lang="en-US" sz="1200" b="1" i="0" u="none" strike="noStrike" cap="none">
                <a:solidFill>
                  <a:srgbClr val="2B5FF3"/>
                </a:solidFill>
                <a:latin typeface="Calibri"/>
                <a:ea typeface="Calibri"/>
                <a:cs typeface="Calibri"/>
                <a:sym typeface="Calibri"/>
              </a:rPr>
              <a:t> - 202</a:t>
            </a:r>
            <a:r>
              <a:rPr lang="en-US"/>
              <a:t>3</a:t>
            </a:r>
            <a:endParaRPr/>
          </a:p>
        </p:txBody>
      </p:sp>
      <p:sp>
        <p:nvSpPr>
          <p:cNvPr id="132" name="Google Shape;132;p5"/>
          <p:cNvSpPr txBox="1"/>
          <p:nvPr/>
        </p:nvSpPr>
        <p:spPr>
          <a:xfrm>
            <a:off x="1981200" y="152400"/>
            <a:ext cx="8229600" cy="684213"/>
          </a:xfrm>
          <a:prstGeom prst="rect">
            <a:avLst/>
          </a:prstGeom>
          <a:noFill/>
          <a:ln>
            <a:noFill/>
          </a:ln>
        </p:spPr>
        <p:txBody>
          <a:bodyPr spcFirstLastPara="1" wrap="square" lIns="91425" tIns="45700" rIns="91425" bIns="45700" anchor="b" anchorCtr="0">
            <a:normAutofit fontScale="97500"/>
          </a:bodyPr>
          <a:lstStyle/>
          <a:p>
            <a:pPr marL="0" marR="0" lvl="0" indent="0" algn="ctr" rtl="0">
              <a:spcBef>
                <a:spcPts val="0"/>
              </a:spcBef>
              <a:spcAft>
                <a:spcPts val="0"/>
              </a:spcAft>
              <a:buClr>
                <a:srgbClr val="2F5496"/>
              </a:buClr>
              <a:buSzPct val="100000"/>
              <a:buFont typeface="Times New Roman"/>
              <a:buNone/>
            </a:pPr>
            <a:r>
              <a:rPr lang="en-US" sz="3200" b="1" i="0" u="none" strike="noStrike" cap="small">
                <a:solidFill>
                  <a:srgbClr val="2F5496"/>
                </a:solidFill>
                <a:latin typeface="Times New Roman"/>
                <a:ea typeface="Times New Roman"/>
                <a:cs typeface="Times New Roman"/>
                <a:sym typeface="Times New Roman"/>
              </a:rPr>
              <a:t>LITERATURE</a:t>
            </a:r>
            <a:r>
              <a:rPr lang="en-US" sz="3200" b="1" i="0" u="none" strike="noStrike" cap="small">
                <a:solidFill>
                  <a:schemeClr val="accent1"/>
                </a:solidFill>
                <a:latin typeface="Times New Roman"/>
                <a:ea typeface="Times New Roman"/>
                <a:cs typeface="Times New Roman"/>
                <a:sym typeface="Times New Roman"/>
              </a:rPr>
              <a:t> </a:t>
            </a:r>
            <a:r>
              <a:rPr lang="en-US" sz="3200" b="1" i="0" u="none" strike="noStrike" cap="small">
                <a:solidFill>
                  <a:srgbClr val="2F5496"/>
                </a:solidFill>
                <a:latin typeface="Times New Roman"/>
                <a:ea typeface="Times New Roman"/>
                <a:cs typeface="Times New Roman"/>
                <a:sym typeface="Times New Roman"/>
              </a:rPr>
              <a:t>SURVEY</a:t>
            </a:r>
            <a:endParaRPr/>
          </a:p>
        </p:txBody>
      </p:sp>
      <p:sp>
        <p:nvSpPr>
          <p:cNvPr id="133" name="Google Shape;1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6</a:t>
            </a:fld>
            <a:endParaRPr sz="1200" b="1" i="0" u="none" strike="noStrike" cap="none">
              <a:solidFill>
                <a:srgbClr val="2B5FF3"/>
              </a:solidFill>
              <a:latin typeface="Calibri"/>
              <a:ea typeface="Calibri"/>
              <a:cs typeface="Calibri"/>
              <a:sym typeface="Calibri"/>
            </a:endParaRPr>
          </a:p>
        </p:txBody>
      </p:sp>
    </p:spTree>
    <p:extLst>
      <p:ext uri="{BB962C8B-B14F-4D97-AF65-F5344CB8AC3E}">
        <p14:creationId xmlns:p14="http://schemas.microsoft.com/office/powerpoint/2010/main" val="4198785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body" idx="1"/>
          </p:nvPr>
        </p:nvSpPr>
        <p:spPr>
          <a:xfrm>
            <a:off x="334963" y="1196975"/>
            <a:ext cx="11522075" cy="5040313"/>
          </a:xfrm>
          <a:prstGeom prst="rect">
            <a:avLst/>
          </a:prstGeom>
          <a:noFill/>
          <a:ln>
            <a:noFill/>
          </a:ln>
        </p:spPr>
        <p:txBody>
          <a:bodyPr spcFirstLastPara="1" wrap="square" lIns="91425" tIns="45700" rIns="91425" bIns="45700" anchor="t" anchorCtr="0">
            <a:noAutofit/>
          </a:bodyPr>
          <a:lstStyle/>
          <a:p>
            <a:pPr marL="457200" lvl="0" indent="-368300" algn="l" rtl="0">
              <a:lnSpc>
                <a:spcPct val="120000"/>
              </a:lnSpc>
              <a:spcBef>
                <a:spcPts val="1000"/>
              </a:spcBef>
              <a:spcAft>
                <a:spcPts val="0"/>
              </a:spcAft>
              <a:buSzPts val="2200"/>
              <a:buChar char="•"/>
            </a:pPr>
            <a:r>
              <a:rPr lang="en-US" sz="2200">
                <a:latin typeface="Times New Roman"/>
                <a:ea typeface="Times New Roman"/>
                <a:cs typeface="Times New Roman"/>
                <a:sym typeface="Times New Roman"/>
              </a:rPr>
              <a:t>The existing process of contract negotiation between a drug manufacturer and GPO involves several steps, including disputes, rebate payments, chargebacks, and adjudication.</a:t>
            </a:r>
          </a:p>
          <a:p>
            <a:pPr marL="457200" lvl="0" indent="-368300" algn="l" rtl="0">
              <a:lnSpc>
                <a:spcPct val="120000"/>
              </a:lnSpc>
              <a:spcBef>
                <a:spcPts val="1000"/>
              </a:spcBef>
              <a:spcAft>
                <a:spcPts val="0"/>
              </a:spcAft>
              <a:buSzPts val="2200"/>
              <a:buChar char="•"/>
            </a:pPr>
            <a:r>
              <a:rPr lang="en-US" sz="2200">
                <a:latin typeface="Times New Roman"/>
                <a:ea typeface="Times New Roman"/>
                <a:cs typeface="Times New Roman"/>
                <a:sym typeface="Times New Roman"/>
              </a:rPr>
              <a:t>The system relies on a centralized database, which may be prone to security breaches or data manipulation.</a:t>
            </a:r>
            <a:endParaRPr sz="2200">
              <a:latin typeface="Times New Roman"/>
              <a:ea typeface="Times New Roman"/>
              <a:cs typeface="Times New Roman"/>
              <a:sym typeface="Times New Roman"/>
            </a:endParaRPr>
          </a:p>
          <a:p>
            <a:pPr marL="457200" lvl="0" indent="-368300" algn="l" rtl="0">
              <a:lnSpc>
                <a:spcPct val="120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There may be concerns about the confidentiality of proprietary information shared among supply chain partners.</a:t>
            </a:r>
            <a:endParaRPr sz="2200">
              <a:latin typeface="Times New Roman"/>
              <a:ea typeface="Times New Roman"/>
              <a:cs typeface="Times New Roman"/>
              <a:sym typeface="Times New Roman"/>
            </a:endParaRPr>
          </a:p>
          <a:p>
            <a:pPr marL="457200" lvl="0" indent="-368300" algn="l" rtl="0">
              <a:lnSpc>
                <a:spcPct val="120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Moreover, the process is time-consuming and usually takes more than a month to finalize the contract that will be administered to healthcare providers.</a:t>
            </a:r>
          </a:p>
          <a:p>
            <a:pPr marL="457200" lvl="0" indent="-368300" algn="l" rtl="0">
              <a:lnSpc>
                <a:spcPct val="120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Another important challenge in the current process involves ensuring that all stakeholders are simultaneously informed regarding the contracts and pricing updates.</a:t>
            </a:r>
            <a:endParaRPr sz="2200">
              <a:latin typeface="Times New Roman"/>
              <a:ea typeface="Times New Roman"/>
              <a:cs typeface="Times New Roman"/>
              <a:sym typeface="Times New Roman"/>
            </a:endParaRPr>
          </a:p>
        </p:txBody>
      </p:sp>
      <p:sp>
        <p:nvSpPr>
          <p:cNvPr id="139" name="Google Shape;139;p6"/>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40" name="Google Shape;1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a:t>
            </a:r>
            <a:r>
              <a:rPr lang="en-US"/>
              <a:t>2</a:t>
            </a:r>
            <a:r>
              <a:rPr lang="en-US" sz="1200" b="1" i="0" u="none" strike="noStrike" cap="none">
                <a:solidFill>
                  <a:srgbClr val="2B5FF3"/>
                </a:solidFill>
                <a:latin typeface="Calibri"/>
                <a:ea typeface="Calibri"/>
                <a:cs typeface="Calibri"/>
                <a:sym typeface="Calibri"/>
              </a:rPr>
              <a:t> - 202</a:t>
            </a:r>
            <a:r>
              <a:rPr lang="en-US"/>
              <a:t>3</a:t>
            </a:r>
            <a:endParaRPr/>
          </a:p>
        </p:txBody>
      </p:sp>
      <p:sp>
        <p:nvSpPr>
          <p:cNvPr id="141" name="Google Shape;141;p6"/>
          <p:cNvSpPr txBox="1"/>
          <p:nvPr/>
        </p:nvSpPr>
        <p:spPr>
          <a:xfrm>
            <a:off x="1981200" y="152400"/>
            <a:ext cx="8229600" cy="684213"/>
          </a:xfrm>
          <a:prstGeom prst="rect">
            <a:avLst/>
          </a:prstGeom>
          <a:noFill/>
          <a:ln>
            <a:noFill/>
          </a:ln>
        </p:spPr>
        <p:txBody>
          <a:bodyPr spcFirstLastPara="1" wrap="square" lIns="91425" tIns="45700" rIns="91425" bIns="45700" anchor="b" anchorCtr="0">
            <a:normAutofit fontScale="97500"/>
          </a:bodyPr>
          <a:lstStyle/>
          <a:p>
            <a:pPr marL="0" marR="0" lvl="0" indent="0" algn="ctr" rtl="0">
              <a:spcBef>
                <a:spcPts val="0"/>
              </a:spcBef>
              <a:spcAft>
                <a:spcPts val="0"/>
              </a:spcAft>
              <a:buClr>
                <a:srgbClr val="2F5496"/>
              </a:buClr>
              <a:buSzPct val="100000"/>
              <a:buFont typeface="Times New Roman"/>
              <a:buNone/>
            </a:pPr>
            <a:r>
              <a:rPr lang="en-US" sz="3200" b="1" i="0" u="none" strike="noStrike" cap="small">
                <a:solidFill>
                  <a:srgbClr val="2F5496"/>
                </a:solidFill>
                <a:latin typeface="Times New Roman"/>
                <a:ea typeface="Times New Roman"/>
                <a:cs typeface="Times New Roman"/>
                <a:sym typeface="Times New Roman"/>
              </a:rPr>
              <a:t>EXISTING SYSTEM</a:t>
            </a:r>
            <a:endParaRPr sz="3200" b="1" i="0" u="none" strike="noStrike" cap="small">
              <a:solidFill>
                <a:srgbClr val="2F5496"/>
              </a:solidFill>
              <a:latin typeface="Times New Roman"/>
              <a:ea typeface="Times New Roman"/>
              <a:cs typeface="Times New Roman"/>
              <a:sym typeface="Times New Roman"/>
            </a:endParaRPr>
          </a:p>
        </p:txBody>
      </p:sp>
      <p:sp>
        <p:nvSpPr>
          <p:cNvPr id="142" name="Google Shape;1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7</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txBox="1">
            <a:spLocks noGrp="1"/>
          </p:cNvSpPr>
          <p:nvPr>
            <p:ph type="title"/>
          </p:nvPr>
        </p:nvSpPr>
        <p:spPr>
          <a:xfrm>
            <a:off x="838199" y="312737"/>
            <a:ext cx="10515600" cy="693738"/>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3200" cap="small">
                <a:solidFill>
                  <a:srgbClr val="2F5496"/>
                </a:solidFill>
                <a:latin typeface="Times New Roman"/>
                <a:ea typeface="Times New Roman"/>
                <a:cs typeface="Times New Roman"/>
                <a:sym typeface="Times New Roman"/>
              </a:rPr>
              <a:t>PROPOSED SYSTEM</a:t>
            </a:r>
            <a:br>
              <a:rPr lang="en-US" sz="3200" cap="small">
                <a:solidFill>
                  <a:srgbClr val="2F5496"/>
                </a:solidFill>
                <a:latin typeface="Times New Roman"/>
                <a:ea typeface="Times New Roman"/>
                <a:cs typeface="Times New Roman"/>
                <a:sym typeface="Times New Roman"/>
              </a:rPr>
            </a:br>
            <a:br>
              <a:rPr lang="en-US" sz="3200"/>
            </a:br>
            <a:endParaRPr lang="en-US" sz="3200"/>
          </a:p>
        </p:txBody>
      </p:sp>
      <p:sp>
        <p:nvSpPr>
          <p:cNvPr id="185" name="Google Shape;185;p8"/>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86" name="Google Shape;18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87" name="Google Shape;187;p8"/>
          <p:cNvSpPr txBox="1"/>
          <p:nvPr/>
        </p:nvSpPr>
        <p:spPr>
          <a:xfrm>
            <a:off x="515937" y="1006475"/>
            <a:ext cx="11160125" cy="5173662"/>
          </a:xfrm>
          <a:prstGeom prst="rect">
            <a:avLst/>
          </a:prstGeom>
          <a:noFill/>
          <a:ln>
            <a:noFill/>
          </a:ln>
        </p:spPr>
        <p:txBody>
          <a:bodyPr spcFirstLastPara="1" wrap="square" lIns="91425" tIns="45700" rIns="91425" bIns="45700" anchor="t" anchorCtr="0">
            <a:noAutofit/>
          </a:bodyPr>
          <a:lstStyle/>
          <a:p>
            <a:pPr marL="431800" lvl="0" indent="-342900" algn="l" rtl="0">
              <a:lnSpc>
                <a:spcPct val="120000"/>
              </a:lnSpc>
              <a:spcBef>
                <a:spcPts val="1000"/>
              </a:spcBef>
              <a:spcAft>
                <a:spcPts val="0"/>
              </a:spcAft>
              <a:buSzPts val="2200"/>
              <a:buFont typeface="Arial" panose="020B0604020202020204" pitchFamily="34" charset="0"/>
              <a:buChar char="•"/>
            </a:pPr>
            <a:r>
              <a:rPr lang="en-US" sz="2200" b="1" i="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200">
                <a:latin typeface="Times New Roman" panose="02020603050405020304" pitchFamily="18" charset="0"/>
                <a:ea typeface="Times New Roman"/>
                <a:cs typeface="Times New Roman" panose="02020603050405020304" pitchFamily="18" charset="0"/>
                <a:sym typeface="Times New Roman"/>
              </a:rPr>
              <a:t>The proposed system is a blockchain-based solution designed to automate procurement contracts in the healthcare supply chain. The system will utilize smart contracts to automate the entire procurement process, from order placement to payment and delivery.</a:t>
            </a:r>
          </a:p>
          <a:p>
            <a:pPr marL="431800" lvl="0" indent="-342900" algn="l" rtl="0">
              <a:lnSpc>
                <a:spcPct val="120000"/>
              </a:lnSpc>
              <a:spcBef>
                <a:spcPts val="1000"/>
              </a:spcBef>
              <a:spcAft>
                <a:spcPts val="0"/>
              </a:spcAft>
              <a:buSzPts val="2200"/>
              <a:buFont typeface="Arial" panose="020B0604020202020204" pitchFamily="34" charset="0"/>
              <a:buChar char="•"/>
            </a:pPr>
            <a:r>
              <a:rPr lang="en-US" sz="2200">
                <a:latin typeface="Times New Roman" panose="02020603050405020304" pitchFamily="18" charset="0"/>
                <a:ea typeface="Times New Roman"/>
                <a:cs typeface="Times New Roman" panose="02020603050405020304" pitchFamily="18" charset="0"/>
                <a:sym typeface="Times New Roman"/>
              </a:rPr>
              <a:t>By eliminating intermediaries and reducing the administrative burden of procurement contracts, the proposed system will significantly reduce transaction costs in the healthcare supply chain.</a:t>
            </a:r>
          </a:p>
          <a:p>
            <a:pPr marL="431800" lvl="0" indent="-342900" algn="l" rtl="0">
              <a:lnSpc>
                <a:spcPct val="120000"/>
              </a:lnSpc>
              <a:spcBef>
                <a:spcPts val="1000"/>
              </a:spcBef>
              <a:spcAft>
                <a:spcPts val="0"/>
              </a:spcAft>
              <a:buSzPts val="2200"/>
              <a:buFont typeface="Arial" panose="020B0604020202020204" pitchFamily="34" charset="0"/>
              <a:buChar char="•"/>
            </a:pPr>
            <a:r>
              <a:rPr lang="en-US" sz="2200">
                <a:latin typeface="Times New Roman" panose="02020603050405020304" pitchFamily="18" charset="0"/>
                <a:ea typeface="Times New Roman"/>
                <a:cs typeface="Times New Roman" panose="02020603050405020304" pitchFamily="18" charset="0"/>
                <a:sym typeface="Times New Roman"/>
              </a:rPr>
              <a:t>The use of blockchain technology will create a transparent and auditable record of all transactions and interactions, providing greater visibility into the procurement process and ensuring that all parties are held accountable.</a:t>
            </a:r>
          </a:p>
          <a:p>
            <a:pPr marL="431800" indent="-342900">
              <a:lnSpc>
                <a:spcPct val="120000"/>
              </a:lnSpc>
              <a:spcBef>
                <a:spcPts val="1000"/>
              </a:spcBef>
              <a:buSzPts val="22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Solution combines blockchain technology with decentralized storage for increased transparency, trust, and security.</a:t>
            </a:r>
            <a:endParaRPr lang="en-US" sz="2200">
              <a:latin typeface="Times New Roman" panose="02020603050405020304" pitchFamily="18" charset="0"/>
              <a:ea typeface="Times New Roman"/>
              <a:cs typeface="Times New Roman" panose="02020603050405020304" pitchFamily="18" charset="0"/>
              <a:sym typeface="Times New Roman"/>
            </a:endParaRPr>
          </a:p>
        </p:txBody>
      </p:sp>
      <p:sp>
        <p:nvSpPr>
          <p:cNvPr id="188" name="Google Shape;18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8</a:t>
            </a:fld>
            <a:endParaRPr sz="1200" b="1" i="0" u="none" strike="noStrike" cap="none">
              <a:solidFill>
                <a:srgbClr val="2B5FF3"/>
              </a:solidFill>
              <a:latin typeface="Calibri"/>
              <a:ea typeface="Calibri"/>
              <a:cs typeface="Calibri"/>
              <a:sym typeface="Calibri"/>
            </a:endParaRPr>
          </a:p>
        </p:txBody>
      </p:sp>
    </p:spTree>
    <p:extLst>
      <p:ext uri="{BB962C8B-B14F-4D97-AF65-F5344CB8AC3E}">
        <p14:creationId xmlns:p14="http://schemas.microsoft.com/office/powerpoint/2010/main" val="1802138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txBox="1">
            <a:spLocks noGrp="1"/>
          </p:cNvSpPr>
          <p:nvPr>
            <p:ph type="title"/>
          </p:nvPr>
        </p:nvSpPr>
        <p:spPr>
          <a:xfrm>
            <a:off x="838200" y="136525"/>
            <a:ext cx="10515600" cy="693738"/>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3200" cap="small">
                <a:solidFill>
                  <a:srgbClr val="2F5496"/>
                </a:solidFill>
                <a:latin typeface="Times New Roman"/>
                <a:ea typeface="Times New Roman"/>
                <a:cs typeface="Times New Roman"/>
                <a:sym typeface="Times New Roman"/>
              </a:rPr>
              <a:t>PROPOSED SYSTEM</a:t>
            </a:r>
            <a:br>
              <a:rPr lang="en-US" sz="3200" cap="small">
                <a:solidFill>
                  <a:srgbClr val="2F5496"/>
                </a:solidFill>
                <a:latin typeface="Times New Roman"/>
                <a:ea typeface="Times New Roman"/>
                <a:cs typeface="Times New Roman"/>
                <a:sym typeface="Times New Roman"/>
              </a:rPr>
            </a:br>
            <a:br>
              <a:rPr lang="en-US" sz="3200"/>
            </a:br>
            <a:endParaRPr lang="en-US" sz="3200"/>
          </a:p>
        </p:txBody>
      </p:sp>
      <p:sp>
        <p:nvSpPr>
          <p:cNvPr id="185" name="Google Shape;185;p8"/>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86" name="Google Shape;18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87" name="Google Shape;187;p8"/>
          <p:cNvSpPr txBox="1"/>
          <p:nvPr/>
        </p:nvSpPr>
        <p:spPr>
          <a:xfrm>
            <a:off x="515938" y="992188"/>
            <a:ext cx="11160125" cy="5173662"/>
          </a:xfrm>
          <a:prstGeom prst="rect">
            <a:avLst/>
          </a:prstGeom>
          <a:noFill/>
          <a:ln>
            <a:noFill/>
          </a:ln>
        </p:spPr>
        <p:txBody>
          <a:bodyPr spcFirstLastPara="1" wrap="square" lIns="91425" tIns="45700" rIns="91425" bIns="45700" anchor="t" anchorCtr="0">
            <a:noAutofit/>
          </a:bodyPr>
          <a:lstStyle/>
          <a:p>
            <a:pPr marL="457200" marR="0" lvl="0" indent="0" algn="l" rtl="0">
              <a:lnSpc>
                <a:spcPct val="150000"/>
              </a:lnSpc>
              <a:spcBef>
                <a:spcPts val="0"/>
              </a:spcBef>
              <a:spcAft>
                <a:spcPts val="0"/>
              </a:spcAft>
              <a:buNone/>
            </a:pPr>
            <a:endParaRPr/>
          </a:p>
          <a:p>
            <a:pPr marL="355600" marR="0" lvl="0" indent="-355600" algn="l" rtl="0">
              <a:lnSpc>
                <a:spcPct val="150000"/>
              </a:lnSpc>
              <a:spcBef>
                <a:spcPts val="750"/>
              </a:spcBef>
              <a:spcAft>
                <a:spcPts val="0"/>
              </a:spcAft>
              <a:buClr>
                <a:schemeClr val="dk1"/>
              </a:buClr>
              <a:buSzPts val="2100"/>
              <a:buFont typeface="Arial"/>
              <a:buNone/>
            </a:pPr>
            <a:r>
              <a:rPr lang="en-US" sz="2100" b="1" i="0" u="none" strike="noStrike" cap="none">
                <a:solidFill>
                  <a:schemeClr val="dk1"/>
                </a:solidFill>
                <a:latin typeface="Times New Roman"/>
                <a:ea typeface="Times New Roman"/>
                <a:cs typeface="Times New Roman"/>
                <a:sym typeface="Times New Roman"/>
              </a:rPr>
              <a:t> </a:t>
            </a:r>
            <a:endParaRPr/>
          </a:p>
        </p:txBody>
      </p:sp>
      <p:sp>
        <p:nvSpPr>
          <p:cNvPr id="188" name="Google Shape;18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9</a:t>
            </a:fld>
            <a:endParaRPr sz="1200" b="1" i="0" u="none" strike="noStrike" cap="none">
              <a:solidFill>
                <a:srgbClr val="2B5FF3"/>
              </a:solidFill>
              <a:latin typeface="Calibri"/>
              <a:ea typeface="Calibri"/>
              <a:cs typeface="Calibri"/>
              <a:sym typeface="Calibri"/>
            </a:endParaRPr>
          </a:p>
        </p:txBody>
      </p:sp>
      <p:pic>
        <p:nvPicPr>
          <p:cNvPr id="189" name="Google Shape;189;p8"/>
          <p:cNvPicPr preferRelativeResize="0"/>
          <p:nvPr/>
        </p:nvPicPr>
        <p:blipFill rotWithShape="1">
          <a:blip r:embed="rId3"/>
          <a:srcRect l="16850" t="19511" r="20478" b="16113"/>
          <a:stretch/>
        </p:blipFill>
        <p:spPr>
          <a:xfrm>
            <a:off x="838200" y="590796"/>
            <a:ext cx="10313709" cy="5275016"/>
          </a:xfrm>
          <a:prstGeom prst="rect">
            <a:avLst/>
          </a:prstGeom>
          <a:noFill/>
          <a:ln>
            <a:noFill/>
          </a:ln>
        </p:spPr>
      </p:pic>
      <p:sp>
        <p:nvSpPr>
          <p:cNvPr id="3" name="TextBox 2">
            <a:extLst>
              <a:ext uri="{FF2B5EF4-FFF2-40B4-BE49-F238E27FC236}">
                <a16:creationId xmlns:a16="http://schemas.microsoft.com/office/drawing/2014/main" id="{1C0DEEED-C34D-C809-89E4-0840D9A4E0BC}"/>
              </a:ext>
            </a:extLst>
          </p:cNvPr>
          <p:cNvSpPr txBox="1"/>
          <p:nvPr/>
        </p:nvSpPr>
        <p:spPr>
          <a:xfrm>
            <a:off x="650449" y="5959427"/>
            <a:ext cx="11259814" cy="307777"/>
          </a:xfrm>
          <a:prstGeom prst="rect">
            <a:avLst/>
          </a:prstGeom>
          <a:noFill/>
        </p:spPr>
        <p:txBody>
          <a:bodyPr wrap="none" rtlCol="0">
            <a:spAutoFit/>
          </a:bodyPr>
          <a:lstStyle/>
          <a:p>
            <a:r>
              <a:rPr lang="en-US"/>
              <a:t>FIGURE: System overview of a blockchain-based GPO contract solution using Ethereum smart contracts and decentralized storage system.</a:t>
            </a: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txBox="1">
            <a:spLocks noGrp="1"/>
          </p:cNvSpPr>
          <p:nvPr>
            <p:ph type="body" idx="1"/>
          </p:nvPr>
        </p:nvSpPr>
        <p:spPr>
          <a:xfrm>
            <a:off x="334950" y="908838"/>
            <a:ext cx="11522100" cy="5040300"/>
          </a:xfrm>
          <a:prstGeom prst="rect">
            <a:avLst/>
          </a:prstGeom>
          <a:noFill/>
          <a:ln>
            <a:noFill/>
          </a:ln>
        </p:spPr>
        <p:txBody>
          <a:bodyPr spcFirstLastPara="1" wrap="square" lIns="91425" tIns="45700" rIns="91425" bIns="45700" anchor="t" anchorCtr="0">
            <a:noAutofit/>
          </a:bodyPr>
          <a:lstStyle/>
          <a:p>
            <a:pPr marL="228600" lvl="0" indent="0" algn="l" rtl="0">
              <a:lnSpc>
                <a:spcPct val="90000"/>
              </a:lnSpc>
              <a:spcBef>
                <a:spcPts val="1000"/>
              </a:spcBef>
              <a:spcAft>
                <a:spcPts val="0"/>
              </a:spcAft>
              <a:buNone/>
            </a:pPr>
            <a:r>
              <a:rPr lang="en-US" sz="2000" b="1">
                <a:latin typeface="Times New Roman"/>
                <a:ea typeface="Times New Roman"/>
                <a:cs typeface="Times New Roman"/>
                <a:sym typeface="Times New Roman"/>
              </a:rPr>
              <a:t>STAKEHOLDERS AND COMPONENTS</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Manufacturer: </a:t>
            </a:r>
            <a:r>
              <a:rPr lang="en-US" sz="2200">
                <a:latin typeface="Times New Roman"/>
                <a:ea typeface="Times New Roman"/>
                <a:cs typeface="Times New Roman"/>
                <a:sym typeface="Times New Roman"/>
              </a:rPr>
              <a:t>A product or device manufacturing firm that develops and sells medical equipment or drugs to be used by healthcare providers. Manufacturers collaborate with GPOs by paying contract administration fees(CAF).</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Group Purchasing Organization (GPO): </a:t>
            </a:r>
            <a:r>
              <a:rPr lang="en-US" sz="2200">
                <a:latin typeface="Times New Roman"/>
                <a:ea typeface="Times New Roman"/>
                <a:cs typeface="Times New Roman"/>
                <a:sym typeface="Times New Roman"/>
              </a:rPr>
              <a:t>An organization specialized in helping healthcare providers such as hospitals, home health agencies, nursing homes, and ambulatory care facilities. They aggregate purchasing volumes and use that leverage to negotiate selling prices with manufacturers to obtain discounts achieved by economies of scale. Thus, providers prefer working with GPOs as they gain purchasing power and benefit from cost savings.</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Distributor: </a:t>
            </a:r>
            <a:r>
              <a:rPr lang="en-US" sz="2200">
                <a:latin typeface="Times New Roman"/>
                <a:ea typeface="Times New Roman"/>
                <a:cs typeface="Times New Roman"/>
                <a:sym typeface="Times New Roman"/>
              </a:rPr>
              <a:t>Typically, distributors are wholesalers placed between manufacturers and healthcare providers. They buy products from manufacturers at a distributor price, which is much higher than the contract price agreed between the GPO and manufacturer. Thus, the difference between the distributor price and the contract price is reclaimed by the distributor as rebates from the manufacturer when the distributor delivers products to providers registered in the GPO contract.</a:t>
            </a:r>
          </a:p>
        </p:txBody>
      </p:sp>
      <p:sp>
        <p:nvSpPr>
          <p:cNvPr id="148" name="Google Shape;148;p7"/>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49" name="Google Shape;14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50" name="Google Shape;150;p7"/>
          <p:cNvSpPr txBox="1"/>
          <p:nvPr/>
        </p:nvSpPr>
        <p:spPr>
          <a:xfrm>
            <a:off x="1981200" y="152400"/>
            <a:ext cx="8229600" cy="684213"/>
          </a:xfrm>
          <a:prstGeom prst="rect">
            <a:avLst/>
          </a:prstGeom>
          <a:noFill/>
          <a:ln>
            <a:noFill/>
          </a:ln>
        </p:spPr>
        <p:txBody>
          <a:bodyPr spcFirstLastPara="1" wrap="square" lIns="91425" tIns="45700" rIns="91425" bIns="45700" anchor="b" anchorCtr="0">
            <a:normAutofit fontScale="97500"/>
          </a:bodyPr>
          <a:lstStyle/>
          <a:p>
            <a:pPr marL="0" marR="0" lvl="0" indent="0" algn="ctr" rtl="0">
              <a:spcBef>
                <a:spcPts val="0"/>
              </a:spcBef>
              <a:spcAft>
                <a:spcPts val="0"/>
              </a:spcAft>
              <a:buClr>
                <a:srgbClr val="2F5496"/>
              </a:buClr>
              <a:buSzPct val="100000"/>
              <a:buFont typeface="Times New Roman"/>
              <a:buNone/>
            </a:pPr>
            <a:r>
              <a:rPr lang="en-US" sz="3200" b="1" i="0" u="none" strike="noStrike" cap="small">
                <a:solidFill>
                  <a:srgbClr val="2F5496"/>
                </a:solidFill>
                <a:latin typeface="Times New Roman"/>
                <a:ea typeface="Times New Roman"/>
                <a:cs typeface="Times New Roman"/>
                <a:sym typeface="Times New Roman"/>
              </a:rPr>
              <a:t>PROPOSED SYSTEM</a:t>
            </a:r>
            <a:endParaRPr sz="3200" b="1" i="0" u="none" strike="noStrike" cap="small">
              <a:solidFill>
                <a:srgbClr val="2F5496"/>
              </a:solidFill>
              <a:latin typeface="Times New Roman"/>
              <a:ea typeface="Times New Roman"/>
              <a:cs typeface="Times New Roman"/>
              <a:sym typeface="Times New Roman"/>
            </a:endParaRPr>
          </a:p>
        </p:txBody>
      </p:sp>
      <p:sp>
        <p:nvSpPr>
          <p:cNvPr id="151" name="Google Shape;1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10</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txBox="1">
            <a:spLocks noGrp="1"/>
          </p:cNvSpPr>
          <p:nvPr>
            <p:ph type="body" idx="1"/>
          </p:nvPr>
        </p:nvSpPr>
        <p:spPr>
          <a:xfrm>
            <a:off x="334950" y="908838"/>
            <a:ext cx="11522100" cy="5040300"/>
          </a:xfrm>
          <a:prstGeom prst="rect">
            <a:avLst/>
          </a:prstGeom>
          <a:noFill/>
          <a:ln>
            <a:noFill/>
          </a:ln>
        </p:spPr>
        <p:txBody>
          <a:bodyPr spcFirstLastPara="1" wrap="square" lIns="91425" tIns="45700" rIns="91425" bIns="45700" anchor="t" anchorCtr="0">
            <a:noAutofit/>
          </a:bodyPr>
          <a:lstStyle/>
          <a:p>
            <a:pPr marL="228600" lvl="0" indent="0" algn="l" rtl="0">
              <a:lnSpc>
                <a:spcPct val="90000"/>
              </a:lnSpc>
              <a:spcBef>
                <a:spcPts val="1000"/>
              </a:spcBef>
              <a:spcAft>
                <a:spcPts val="0"/>
              </a:spcAft>
              <a:buNone/>
            </a:pPr>
            <a:r>
              <a:rPr lang="en-US" sz="2000" b="1">
                <a:latin typeface="Times New Roman"/>
                <a:ea typeface="Times New Roman"/>
                <a:cs typeface="Times New Roman"/>
                <a:sym typeface="Times New Roman"/>
              </a:rPr>
              <a:t>STAKEHOLDERS AND COMPONENTS</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Healthcare Provider: </a:t>
            </a:r>
            <a:r>
              <a:rPr lang="en-US" sz="2200">
                <a:latin typeface="Times New Roman"/>
                <a:ea typeface="Times New Roman"/>
                <a:cs typeface="Times New Roman"/>
                <a:sym typeface="Times New Roman"/>
              </a:rPr>
              <a:t>Healthcare providers such as nursing homes and hospitals usually buy products from distributors using a GPO contract. The GPO appoints a distributor that would link the providers to the manufacturer. Hence, allowing providers to send purchase orders directly to the distributor using the negotiated price stated in the contract.</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Decentralized Storage Technology: </a:t>
            </a:r>
            <a:r>
              <a:rPr lang="en-US" sz="2200">
                <a:latin typeface="Times New Roman"/>
                <a:ea typeface="Times New Roman"/>
                <a:cs typeface="Times New Roman"/>
                <a:sym typeface="Times New Roman"/>
              </a:rPr>
              <a:t>A distributed peer to-peer file system that helps in connecting the same file system to all nodes in the network. There are various file systems, such as Interplanetary File System (IPFS) or Filecoin. Large amounts of data can be stored in IPFS by authorized users in the network. Then immutable IPFS links can be created and stored in blockchain transactions as timestamped valid transactions secured using cryptographic technology. </a:t>
            </a:r>
          </a:p>
          <a:p>
            <a:pPr marL="228600" lvl="0" indent="0" algn="l" rtl="0">
              <a:lnSpc>
                <a:spcPct val="90000"/>
              </a:lnSpc>
              <a:spcBef>
                <a:spcPts val="1000"/>
              </a:spcBef>
              <a:spcAft>
                <a:spcPts val="0"/>
              </a:spcAft>
              <a:buNone/>
            </a:pPr>
            <a:r>
              <a:rPr lang="en-US" sz="2200" b="1" i="1">
                <a:latin typeface="Times New Roman"/>
                <a:ea typeface="Times New Roman"/>
                <a:cs typeface="Times New Roman"/>
                <a:sym typeface="Times New Roman"/>
              </a:rPr>
              <a:t>Ethereum Smart Contracts: </a:t>
            </a:r>
            <a:r>
              <a:rPr lang="en-US" sz="2200">
                <a:latin typeface="Times New Roman"/>
                <a:ea typeface="Times New Roman"/>
                <a:cs typeface="Times New Roman"/>
                <a:sym typeface="Times New Roman"/>
              </a:rPr>
              <a:t>Second-generation blockchain platforms such as Ethereum allow codes to be written in the form of smart contracts. These contracts can be programmed to execute functions automatically without interference from third parties. They act as software agents that ensure that all stakeholders in the network abide by the terms and conditions stated in the contract.</a:t>
            </a:r>
          </a:p>
        </p:txBody>
      </p:sp>
      <p:sp>
        <p:nvSpPr>
          <p:cNvPr id="148" name="Google Shape;148;p7"/>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149" name="Google Shape;14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150" name="Google Shape;150;p7"/>
          <p:cNvSpPr txBox="1"/>
          <p:nvPr/>
        </p:nvSpPr>
        <p:spPr>
          <a:xfrm>
            <a:off x="1981200" y="152400"/>
            <a:ext cx="8229600" cy="684213"/>
          </a:xfrm>
          <a:prstGeom prst="rect">
            <a:avLst/>
          </a:prstGeom>
          <a:noFill/>
          <a:ln>
            <a:noFill/>
          </a:ln>
        </p:spPr>
        <p:txBody>
          <a:bodyPr spcFirstLastPara="1" wrap="square" lIns="91425" tIns="45700" rIns="91425" bIns="45700" anchor="b" anchorCtr="0">
            <a:normAutofit fontScale="97500"/>
          </a:bodyPr>
          <a:lstStyle/>
          <a:p>
            <a:pPr marL="0" marR="0" lvl="0" indent="0" algn="ctr" rtl="0">
              <a:spcBef>
                <a:spcPts val="0"/>
              </a:spcBef>
              <a:spcAft>
                <a:spcPts val="0"/>
              </a:spcAft>
              <a:buClr>
                <a:srgbClr val="2F5496"/>
              </a:buClr>
              <a:buSzPct val="100000"/>
              <a:buFont typeface="Times New Roman"/>
              <a:buNone/>
            </a:pPr>
            <a:r>
              <a:rPr lang="en-US" sz="3200" b="1" i="0" u="none" strike="noStrike" cap="small">
                <a:solidFill>
                  <a:srgbClr val="2F5496"/>
                </a:solidFill>
                <a:latin typeface="Times New Roman"/>
                <a:ea typeface="Times New Roman"/>
                <a:cs typeface="Times New Roman"/>
                <a:sym typeface="Times New Roman"/>
              </a:rPr>
              <a:t>PROPOSED SYSTEM</a:t>
            </a:r>
            <a:endParaRPr sz="3200" b="1" i="0" u="none" strike="noStrike" cap="small">
              <a:solidFill>
                <a:srgbClr val="2F5496"/>
              </a:solidFill>
              <a:latin typeface="Times New Roman"/>
              <a:ea typeface="Times New Roman"/>
              <a:cs typeface="Times New Roman"/>
              <a:sym typeface="Times New Roman"/>
            </a:endParaRPr>
          </a:p>
        </p:txBody>
      </p:sp>
      <p:sp>
        <p:nvSpPr>
          <p:cNvPr id="151" name="Google Shape;1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11</a:t>
            </a:fld>
            <a:endParaRPr sz="1200" b="1" i="0" u="none" strike="noStrike" cap="none">
              <a:solidFill>
                <a:srgbClr val="2B5FF3"/>
              </a:solidFill>
              <a:latin typeface="Calibri"/>
              <a:ea typeface="Calibri"/>
              <a:cs typeface="Calibri"/>
              <a:sym typeface="Calibri"/>
            </a:endParaRPr>
          </a:p>
        </p:txBody>
      </p:sp>
    </p:spTree>
    <p:extLst>
      <p:ext uri="{BB962C8B-B14F-4D97-AF65-F5344CB8AC3E}">
        <p14:creationId xmlns:p14="http://schemas.microsoft.com/office/powerpoint/2010/main" val="49710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22c3b335300_0_83"/>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3200" cap="small">
                <a:solidFill>
                  <a:srgbClr val="2F5496"/>
                </a:solidFill>
                <a:latin typeface="Times New Roman"/>
                <a:ea typeface="Times New Roman"/>
                <a:cs typeface="Times New Roman"/>
                <a:sym typeface="Times New Roman"/>
              </a:rPr>
              <a:t>PROPOSED SYSTEM</a:t>
            </a:r>
            <a:endParaRPr sz="3200" cap="small">
              <a:solidFill>
                <a:srgbClr val="2F5496"/>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66" name="Google Shape;166;g22c3b335300_0_83"/>
          <p:cNvSpPr txBox="1">
            <a:spLocks noGrp="1"/>
          </p:cNvSpPr>
          <p:nvPr>
            <p:ph type="body" idx="1"/>
          </p:nvPr>
        </p:nvSpPr>
        <p:spPr>
          <a:xfrm>
            <a:off x="838200" y="1058725"/>
            <a:ext cx="10515600" cy="5034000"/>
          </a:xfrm>
          <a:prstGeom prst="rect">
            <a:avLst/>
          </a:prstGeom>
        </p:spPr>
        <p:txBody>
          <a:bodyPr spcFirstLastPara="1" wrap="square" lIns="91425" tIns="45700" rIns="91425" bIns="45700" anchor="t" anchorCtr="0">
            <a:noAutofit/>
          </a:bodyPr>
          <a:lstStyle/>
          <a:p>
            <a:pPr marL="101600" lvl="0" indent="0" algn="l" rtl="0">
              <a:spcBef>
                <a:spcPts val="1000"/>
              </a:spcBef>
              <a:spcAft>
                <a:spcPts val="0"/>
              </a:spcAft>
              <a:buSzPts val="2000"/>
              <a:buNone/>
            </a:pPr>
            <a:r>
              <a:rPr lang="en-IN" sz="2200" b="1">
                <a:latin typeface="Times New Roman"/>
                <a:ea typeface="Times New Roman"/>
                <a:cs typeface="Times New Roman"/>
                <a:sym typeface="Times New Roman"/>
              </a:rPr>
              <a:t>CONTRACTS TYPES:</a:t>
            </a:r>
            <a:endParaRPr lang="en-IN" sz="2200" b="1" i="1">
              <a:latin typeface="Times New Roman"/>
              <a:ea typeface="Times New Roman"/>
              <a:cs typeface="Times New Roman"/>
              <a:sym typeface="Times New Roman"/>
            </a:endParaRPr>
          </a:p>
          <a:p>
            <a:pPr marL="101600" lvl="0" indent="0" algn="l" rtl="0">
              <a:spcBef>
                <a:spcPts val="1000"/>
              </a:spcBef>
              <a:spcAft>
                <a:spcPts val="0"/>
              </a:spcAft>
              <a:buSzPts val="2000"/>
              <a:buNone/>
            </a:pPr>
            <a:r>
              <a:rPr lang="en-US" sz="2200" b="1" i="1">
                <a:latin typeface="Times New Roman"/>
                <a:ea typeface="Times New Roman"/>
                <a:cs typeface="Times New Roman"/>
                <a:sym typeface="Times New Roman"/>
              </a:rPr>
              <a:t>Registration contract: </a:t>
            </a:r>
            <a:r>
              <a:rPr lang="en-US" sz="2200">
                <a:latin typeface="Times New Roman"/>
                <a:ea typeface="Times New Roman"/>
                <a:cs typeface="Times New Roman"/>
                <a:sym typeface="Times New Roman"/>
              </a:rPr>
              <a:t>This contract deals with the initial step, which is the registration process. Healthcare providers, manufacturers, and distributors are registered in this contract. To register in the smart contract, providers pay an annual membership.</a:t>
            </a:r>
          </a:p>
          <a:p>
            <a:pPr marL="101600" lvl="0" indent="0" algn="l" rtl="0">
              <a:spcBef>
                <a:spcPts val="1000"/>
              </a:spcBef>
              <a:spcAft>
                <a:spcPts val="0"/>
              </a:spcAft>
              <a:buSzPts val="2000"/>
              <a:buNone/>
            </a:pPr>
            <a:r>
              <a:rPr lang="en-US" sz="2200" b="1" i="1">
                <a:latin typeface="Times New Roman"/>
                <a:ea typeface="Times New Roman"/>
                <a:cs typeface="Times New Roman"/>
                <a:sym typeface="Times New Roman"/>
              </a:rPr>
              <a:t>Purchase Negotiation contract: </a:t>
            </a:r>
            <a:r>
              <a:rPr lang="en-US" sz="2200">
                <a:latin typeface="Times New Roman"/>
                <a:ea typeface="Times New Roman"/>
                <a:cs typeface="Times New Roman"/>
                <a:sym typeface="Times New Roman"/>
              </a:rPr>
              <a:t>This contract deals with the pricing negotiation process in which the registered manufacturer and GPO are the active members in the contract. The GPO recommends a contract price on behalf of the provider based on the commitment that the provider would purchase the minimum volume over the specified contract duration. Once the manufacturer agrees on the contract price, the GPO appoints a distributor, and this price is then published for providers to use.</a:t>
            </a:r>
          </a:p>
          <a:p>
            <a:pPr marL="101600" lvl="0" indent="0" algn="l" rtl="0">
              <a:spcBef>
                <a:spcPts val="1000"/>
              </a:spcBef>
              <a:spcAft>
                <a:spcPts val="0"/>
              </a:spcAft>
              <a:buSzPts val="2000"/>
              <a:buNone/>
            </a:pPr>
            <a:r>
              <a:rPr lang="en-US" sz="2200" b="1" i="1">
                <a:latin typeface="Times New Roman"/>
                <a:ea typeface="Times New Roman"/>
                <a:cs typeface="Times New Roman"/>
                <a:sym typeface="Times New Roman"/>
              </a:rPr>
              <a:t>Purchase Order contract: </a:t>
            </a:r>
            <a:r>
              <a:rPr lang="en-US" sz="2200">
                <a:latin typeface="Times New Roman"/>
                <a:ea typeface="Times New Roman"/>
                <a:cs typeface="Times New Roman"/>
                <a:sym typeface="Times New Roman"/>
              </a:rPr>
              <a:t>Once the negotiated price is confirmed, the registered providers can purchase products via this smart contract. The providers send purchase orders to the assigned distributor for product delivery at the agreed price. Then, the distributor sends the products from the distribution center to the provider, where an event would be triggered when the provider receives the order.</a:t>
            </a:r>
          </a:p>
        </p:txBody>
      </p:sp>
      <p:sp>
        <p:nvSpPr>
          <p:cNvPr id="167" name="Google Shape;167;g22c3b335300_0_8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22c3b335300_0_83"/>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3200" cap="small">
                <a:solidFill>
                  <a:srgbClr val="2F5496"/>
                </a:solidFill>
                <a:latin typeface="Times New Roman"/>
                <a:ea typeface="Times New Roman"/>
                <a:cs typeface="Times New Roman"/>
                <a:sym typeface="Times New Roman"/>
              </a:rPr>
              <a:t>PROPOSED SYSTEM</a:t>
            </a:r>
            <a:endParaRPr sz="3200" cap="small">
              <a:solidFill>
                <a:srgbClr val="2F5496"/>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66" name="Google Shape;166;g22c3b335300_0_83"/>
          <p:cNvSpPr txBox="1">
            <a:spLocks noGrp="1"/>
          </p:cNvSpPr>
          <p:nvPr>
            <p:ph type="body" idx="1"/>
          </p:nvPr>
        </p:nvSpPr>
        <p:spPr>
          <a:xfrm>
            <a:off x="838200" y="1058725"/>
            <a:ext cx="10515600" cy="5034000"/>
          </a:xfrm>
          <a:prstGeom prst="rect">
            <a:avLst/>
          </a:prstGeom>
        </p:spPr>
        <p:txBody>
          <a:bodyPr spcFirstLastPara="1" wrap="square" lIns="91425" tIns="45700" rIns="91425" bIns="45700" anchor="t" anchorCtr="0">
            <a:noAutofit/>
          </a:bodyPr>
          <a:lstStyle/>
          <a:p>
            <a:pPr marL="101600" lvl="0" indent="0" algn="l" rtl="0">
              <a:spcBef>
                <a:spcPts val="1000"/>
              </a:spcBef>
              <a:spcAft>
                <a:spcPts val="0"/>
              </a:spcAft>
              <a:buSzPts val="2000"/>
              <a:buNone/>
            </a:pPr>
            <a:r>
              <a:rPr lang="en-IN" sz="2200" b="1">
                <a:latin typeface="Times New Roman"/>
                <a:ea typeface="Times New Roman"/>
                <a:cs typeface="Times New Roman"/>
                <a:sym typeface="Times New Roman"/>
              </a:rPr>
              <a:t>CONTRACTS TYPES:</a:t>
            </a:r>
          </a:p>
          <a:p>
            <a:pPr marL="101600" lvl="0" indent="0" algn="l" rtl="0">
              <a:spcBef>
                <a:spcPts val="1000"/>
              </a:spcBef>
              <a:spcAft>
                <a:spcPts val="0"/>
              </a:spcAft>
              <a:buSzPts val="2000"/>
              <a:buNone/>
            </a:pPr>
            <a:endParaRPr lang="en-US" sz="2200" b="1">
              <a:latin typeface="Times New Roman"/>
              <a:ea typeface="Times New Roman"/>
              <a:cs typeface="Times New Roman"/>
              <a:sym typeface="Times New Roman"/>
            </a:endParaRPr>
          </a:p>
          <a:p>
            <a:pPr marL="101600" indent="0">
              <a:buSzPts val="2000"/>
              <a:buNone/>
            </a:pPr>
            <a:r>
              <a:rPr lang="en-US" sz="2200" b="1" i="1">
                <a:latin typeface="Times New Roman"/>
                <a:ea typeface="Times New Roman"/>
                <a:cs typeface="Times New Roman"/>
                <a:sym typeface="Times New Roman"/>
              </a:rPr>
              <a:t>Rebates Settlement contract: </a:t>
            </a:r>
            <a:r>
              <a:rPr lang="en-US" sz="2200">
                <a:latin typeface="Times New Roman"/>
                <a:ea typeface="Times New Roman"/>
                <a:cs typeface="Times New Roman"/>
                <a:sym typeface="Times New Roman"/>
              </a:rPr>
              <a:t>This smart contract addresses settling rebates between distributors and manufacturers after the distributor delivers the order successfully. The distributor is eligible to claim rebates from the manufacturer due to the difference between the product purchased at the distributor price and the negotiated contract price.</a:t>
            </a:r>
          </a:p>
          <a:p>
            <a:pPr marL="101600" indent="0">
              <a:buSzPts val="2000"/>
              <a:buNone/>
            </a:pPr>
            <a:r>
              <a:rPr lang="en-US" sz="2200" b="1" i="1">
                <a:latin typeface="Times New Roman"/>
                <a:ea typeface="Times New Roman"/>
                <a:cs typeface="Times New Roman"/>
                <a:sym typeface="Times New Roman"/>
              </a:rPr>
              <a:t>Loyalty Rebates contract: </a:t>
            </a:r>
            <a:r>
              <a:rPr lang="en-US" sz="2200">
                <a:latin typeface="Times New Roman"/>
                <a:ea typeface="Times New Roman"/>
                <a:cs typeface="Times New Roman"/>
                <a:sym typeface="Times New Roman"/>
              </a:rPr>
              <a:t>Upon the successful completion of the contract, the GPO usually rewards its registered providers with a percentage of the contract administration fees (CAF) as loyalty rebates to be used for future purchases.</a:t>
            </a:r>
          </a:p>
          <a:p>
            <a:pPr marL="101600" indent="0">
              <a:buSzPts val="2000"/>
              <a:buNone/>
            </a:pPr>
            <a:endParaRPr sz="2200">
              <a:latin typeface="Times New Roman"/>
              <a:ea typeface="Times New Roman"/>
              <a:cs typeface="Times New Roman"/>
              <a:sym typeface="Times New Roman"/>
            </a:endParaRPr>
          </a:p>
        </p:txBody>
      </p:sp>
      <p:sp>
        <p:nvSpPr>
          <p:cNvPr id="167" name="Google Shape;167;g22c3b335300_0_8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076017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2c3b335300_0_103"/>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a:solidFill>
                  <a:srgbClr val="2F5496"/>
                </a:solidFill>
                <a:latin typeface="Times New Roman"/>
                <a:ea typeface="Times New Roman"/>
                <a:cs typeface="Times New Roman"/>
                <a:sym typeface="Times New Roman"/>
              </a:rPr>
              <a:t>SYSTEM DESIGN</a:t>
            </a:r>
            <a:br>
              <a:rPr lang="en-US" sz="3200" u="sng">
                <a:solidFill>
                  <a:srgbClr val="3F3F3F"/>
                </a:solidFill>
                <a:latin typeface="Times New Roman"/>
                <a:ea typeface="Times New Roman"/>
                <a:cs typeface="Times New Roman"/>
                <a:sym typeface="Times New Roman"/>
              </a:rPr>
            </a:br>
            <a:endParaRPr sz="3200" u="sng">
              <a:solidFill>
                <a:srgbClr val="3F3F3F"/>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197" name="Google Shape;197;g22c3b335300_0_103"/>
          <p:cNvSpPr txBox="1">
            <a:spLocks noGrp="1"/>
          </p:cNvSpPr>
          <p:nvPr>
            <p:ph type="body" idx="1"/>
          </p:nvPr>
        </p:nvSpPr>
        <p:spPr>
          <a:xfrm>
            <a:off x="838200" y="1190625"/>
            <a:ext cx="10515600" cy="50340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
        <p:nvSpPr>
          <p:cNvPr id="198" name="Google Shape;198;g22c3b335300_0_10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pic>
        <p:nvPicPr>
          <p:cNvPr id="199" name="Google Shape;199;g22c3b335300_0_103"/>
          <p:cNvPicPr preferRelativeResize="0"/>
          <p:nvPr/>
        </p:nvPicPr>
        <p:blipFill rotWithShape="1">
          <a:blip r:embed="rId3"/>
          <a:srcRect l="16134" t="16915" r="22486" b="22493"/>
          <a:stretch/>
        </p:blipFill>
        <p:spPr>
          <a:xfrm>
            <a:off x="81699" y="1110164"/>
            <a:ext cx="11500701" cy="5109327"/>
          </a:xfrm>
          <a:prstGeom prst="rect">
            <a:avLst/>
          </a:prstGeom>
          <a:noFill/>
          <a:ln>
            <a:noFill/>
          </a:ln>
        </p:spPr>
      </p:pic>
      <p:sp>
        <p:nvSpPr>
          <p:cNvPr id="2" name="TextBox 1">
            <a:extLst>
              <a:ext uri="{FF2B5EF4-FFF2-40B4-BE49-F238E27FC236}">
                <a16:creationId xmlns:a16="http://schemas.microsoft.com/office/drawing/2014/main" id="{AEE51DC3-50C5-6A21-E78C-B2FFADBE6FC9}"/>
              </a:ext>
            </a:extLst>
          </p:cNvPr>
          <p:cNvSpPr txBox="1"/>
          <p:nvPr/>
        </p:nvSpPr>
        <p:spPr>
          <a:xfrm>
            <a:off x="1244337" y="6276064"/>
            <a:ext cx="9891860" cy="307777"/>
          </a:xfrm>
          <a:prstGeom prst="rect">
            <a:avLst/>
          </a:prstGeom>
          <a:noFill/>
        </p:spPr>
        <p:txBody>
          <a:bodyPr wrap="square" rtlCol="0">
            <a:spAutoFit/>
          </a:bodyPr>
          <a:lstStyle/>
          <a:p>
            <a:r>
              <a:rPr lang="en-US"/>
              <a:t>FIGURE: Sequence diagram showing the function calls and events between stakeholders when initiating GPO contract</a:t>
            </a: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2c3b335300_0_103"/>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a:solidFill>
                  <a:srgbClr val="2F5496"/>
                </a:solidFill>
                <a:latin typeface="Times New Roman"/>
                <a:ea typeface="Times New Roman"/>
                <a:cs typeface="Times New Roman"/>
                <a:sym typeface="Times New Roman"/>
              </a:rPr>
              <a:t>SYSTEM DESIGN</a:t>
            </a:r>
            <a:br>
              <a:rPr lang="en-US" sz="3200" u="sng">
                <a:solidFill>
                  <a:srgbClr val="3F3F3F"/>
                </a:solidFill>
                <a:latin typeface="Times New Roman"/>
                <a:ea typeface="Times New Roman"/>
                <a:cs typeface="Times New Roman"/>
                <a:sym typeface="Times New Roman"/>
              </a:rPr>
            </a:br>
            <a:endParaRPr sz="3200" u="sng">
              <a:solidFill>
                <a:srgbClr val="3F3F3F"/>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197" name="Google Shape;197;g22c3b335300_0_103"/>
          <p:cNvSpPr txBox="1">
            <a:spLocks noGrp="1"/>
          </p:cNvSpPr>
          <p:nvPr>
            <p:ph type="body" idx="1"/>
          </p:nvPr>
        </p:nvSpPr>
        <p:spPr>
          <a:xfrm>
            <a:off x="838200" y="1190625"/>
            <a:ext cx="10515600" cy="50340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
        <p:nvSpPr>
          <p:cNvPr id="198" name="Google Shape;198;g22c3b335300_0_10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pic>
        <p:nvPicPr>
          <p:cNvPr id="199" name="Google Shape;199;g22c3b335300_0_103"/>
          <p:cNvPicPr preferRelativeResize="0"/>
          <p:nvPr/>
        </p:nvPicPr>
        <p:blipFill rotWithShape="1">
          <a:blip r:embed="rId3"/>
          <a:srcRect l="26257" t="35990" r="32021" b="37646"/>
          <a:stretch/>
        </p:blipFill>
        <p:spPr>
          <a:xfrm>
            <a:off x="659876" y="794838"/>
            <a:ext cx="10840825" cy="5034000"/>
          </a:xfrm>
          <a:prstGeom prst="rect">
            <a:avLst/>
          </a:prstGeom>
          <a:noFill/>
          <a:ln>
            <a:noFill/>
          </a:ln>
        </p:spPr>
      </p:pic>
      <p:sp>
        <p:nvSpPr>
          <p:cNvPr id="2" name="TextBox 1">
            <a:extLst>
              <a:ext uri="{FF2B5EF4-FFF2-40B4-BE49-F238E27FC236}">
                <a16:creationId xmlns:a16="http://schemas.microsoft.com/office/drawing/2014/main" id="{E8941078-6507-9048-6EB9-6242535D4AAD}"/>
              </a:ext>
            </a:extLst>
          </p:cNvPr>
          <p:cNvSpPr txBox="1"/>
          <p:nvPr/>
        </p:nvSpPr>
        <p:spPr>
          <a:xfrm>
            <a:off x="1451728" y="5982710"/>
            <a:ext cx="9100568" cy="307777"/>
          </a:xfrm>
          <a:prstGeom prst="rect">
            <a:avLst/>
          </a:prstGeom>
          <a:noFill/>
        </p:spPr>
        <p:txBody>
          <a:bodyPr wrap="none" rtlCol="0">
            <a:spAutoFit/>
          </a:bodyPr>
          <a:lstStyle/>
          <a:p>
            <a:r>
              <a:rPr lang="en-US"/>
              <a:t>FIGURE: Sequence diagram showing the function calls and events between stakeholders when claiming rebates</a:t>
            </a:r>
            <a:endParaRPr lang="en-IN"/>
          </a:p>
        </p:txBody>
      </p:sp>
    </p:spTree>
    <p:extLst>
      <p:ext uri="{BB962C8B-B14F-4D97-AF65-F5344CB8AC3E}">
        <p14:creationId xmlns:p14="http://schemas.microsoft.com/office/powerpoint/2010/main" val="2079154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22c3b335300_0_112"/>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a:solidFill>
                  <a:srgbClr val="2F5496"/>
                </a:solidFill>
                <a:latin typeface="Times New Roman"/>
                <a:ea typeface="Times New Roman"/>
                <a:cs typeface="Times New Roman"/>
                <a:sym typeface="Times New Roman"/>
              </a:rPr>
              <a:t>SYSTEM DESIGN</a:t>
            </a:r>
            <a:br>
              <a:rPr lang="en-US" sz="3200" u="sng">
                <a:solidFill>
                  <a:srgbClr val="3F3F3F"/>
                </a:solidFill>
                <a:latin typeface="Times New Roman"/>
                <a:ea typeface="Times New Roman"/>
                <a:cs typeface="Times New Roman"/>
                <a:sym typeface="Times New Roman"/>
              </a:rPr>
            </a:br>
            <a:endParaRPr lang="en-US" sz="3200" u="sng">
              <a:solidFill>
                <a:srgbClr val="3F3F3F"/>
              </a:solidFill>
              <a:latin typeface="Times New Roman"/>
              <a:ea typeface="Times New Roman"/>
              <a:cs typeface="Times New Roman"/>
              <a:sym typeface="Times New Roman"/>
            </a:endParaRPr>
          </a:p>
        </p:txBody>
      </p:sp>
      <p:sp>
        <p:nvSpPr>
          <p:cNvPr id="174" name="Google Shape;174;g22c3b335300_0_112"/>
          <p:cNvSpPr txBox="1">
            <a:spLocks noGrp="1"/>
          </p:cNvSpPr>
          <p:nvPr>
            <p:ph type="body" idx="1"/>
          </p:nvPr>
        </p:nvSpPr>
        <p:spPr>
          <a:xfrm>
            <a:off x="3365369" y="2394408"/>
            <a:ext cx="5878656" cy="2612417"/>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
        <p:nvSpPr>
          <p:cNvPr id="175" name="Google Shape;175;g22c3b335300_0_1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pic>
        <p:nvPicPr>
          <p:cNvPr id="176" name="Google Shape;176;g22c3b335300_0_112"/>
          <p:cNvPicPr preferRelativeResize="0"/>
          <p:nvPr/>
        </p:nvPicPr>
        <p:blipFill rotWithShape="1">
          <a:blip r:embed="rId3"/>
          <a:srcRect l="13382" t="16493" r="52053" b="31392"/>
          <a:stretch/>
        </p:blipFill>
        <p:spPr>
          <a:xfrm>
            <a:off x="1593130" y="1058725"/>
            <a:ext cx="9030877" cy="55211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22c3b335300_0_112"/>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a:solidFill>
                  <a:srgbClr val="2F5496"/>
                </a:solidFill>
                <a:latin typeface="Times New Roman"/>
                <a:ea typeface="Times New Roman"/>
                <a:cs typeface="Times New Roman"/>
                <a:sym typeface="Times New Roman"/>
              </a:rPr>
              <a:t>SYSTEM DESIGN</a:t>
            </a:r>
            <a:br>
              <a:rPr lang="en-US" sz="3200" u="sng">
                <a:solidFill>
                  <a:srgbClr val="3F3F3F"/>
                </a:solidFill>
                <a:latin typeface="Times New Roman"/>
                <a:ea typeface="Times New Roman"/>
                <a:cs typeface="Times New Roman"/>
                <a:sym typeface="Times New Roman"/>
              </a:rPr>
            </a:br>
            <a:endParaRPr lang="en-US" sz="3200" u="sng">
              <a:solidFill>
                <a:srgbClr val="3F3F3F"/>
              </a:solidFill>
              <a:latin typeface="Times New Roman"/>
              <a:ea typeface="Times New Roman"/>
              <a:cs typeface="Times New Roman"/>
              <a:sym typeface="Times New Roman"/>
            </a:endParaRPr>
          </a:p>
        </p:txBody>
      </p:sp>
      <p:sp>
        <p:nvSpPr>
          <p:cNvPr id="174" name="Google Shape;174;g22c3b335300_0_112"/>
          <p:cNvSpPr txBox="1">
            <a:spLocks noGrp="1"/>
          </p:cNvSpPr>
          <p:nvPr>
            <p:ph type="body" idx="1"/>
          </p:nvPr>
        </p:nvSpPr>
        <p:spPr>
          <a:xfrm>
            <a:off x="3365369" y="2394408"/>
            <a:ext cx="5878656" cy="2612417"/>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
        <p:nvSpPr>
          <p:cNvPr id="175" name="Google Shape;175;g22c3b335300_0_1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pic>
        <p:nvPicPr>
          <p:cNvPr id="176" name="Google Shape;176;g22c3b335300_0_112"/>
          <p:cNvPicPr preferRelativeResize="0"/>
          <p:nvPr/>
        </p:nvPicPr>
        <p:blipFill rotWithShape="1">
          <a:blip r:embed="rId3"/>
          <a:srcRect l="47691" t="10353" r="32014" b="51274"/>
          <a:stretch/>
        </p:blipFill>
        <p:spPr>
          <a:xfrm>
            <a:off x="970960" y="1058725"/>
            <a:ext cx="5125040" cy="5181819"/>
          </a:xfrm>
          <a:prstGeom prst="rect">
            <a:avLst/>
          </a:prstGeom>
          <a:noFill/>
          <a:ln>
            <a:noFill/>
          </a:ln>
        </p:spPr>
      </p:pic>
      <p:pic>
        <p:nvPicPr>
          <p:cNvPr id="2" name="Google Shape;176;g22c3b335300_0_112">
            <a:extLst>
              <a:ext uri="{FF2B5EF4-FFF2-40B4-BE49-F238E27FC236}">
                <a16:creationId xmlns:a16="http://schemas.microsoft.com/office/drawing/2014/main" id="{84844609-A46E-B1F0-7714-C36FAC636372}"/>
              </a:ext>
            </a:extLst>
          </p:cNvPr>
          <p:cNvPicPr preferRelativeResize="0"/>
          <p:nvPr/>
        </p:nvPicPr>
        <p:blipFill rotWithShape="1">
          <a:blip r:embed="rId3"/>
          <a:srcRect l="48039" t="48518" r="30727" b="12006"/>
          <a:stretch/>
        </p:blipFill>
        <p:spPr>
          <a:xfrm>
            <a:off x="6096000" y="1480008"/>
            <a:ext cx="4826523" cy="4760536"/>
          </a:xfrm>
          <a:prstGeom prst="rect">
            <a:avLst/>
          </a:prstGeom>
          <a:noFill/>
          <a:ln>
            <a:noFill/>
          </a:ln>
        </p:spPr>
      </p:pic>
    </p:spTree>
    <p:extLst>
      <p:ext uri="{BB962C8B-B14F-4D97-AF65-F5344CB8AC3E}">
        <p14:creationId xmlns:p14="http://schemas.microsoft.com/office/powerpoint/2010/main" val="1685287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22c3b335300_0_112"/>
          <p:cNvSpPr txBox="1">
            <a:spLocks noGrp="1"/>
          </p:cNvSpPr>
          <p:nvPr>
            <p:ph type="title"/>
          </p:nvPr>
        </p:nvSpPr>
        <p:spPr>
          <a:xfrm>
            <a:off x="838200" y="365125"/>
            <a:ext cx="10515600" cy="693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a:solidFill>
                  <a:srgbClr val="2F5496"/>
                </a:solidFill>
                <a:latin typeface="Times New Roman"/>
                <a:ea typeface="Times New Roman"/>
                <a:cs typeface="Times New Roman"/>
                <a:sym typeface="Times New Roman"/>
              </a:rPr>
              <a:t>SYSTEM DESIGN</a:t>
            </a:r>
            <a:br>
              <a:rPr lang="en-US" sz="3200" u="sng">
                <a:solidFill>
                  <a:srgbClr val="3F3F3F"/>
                </a:solidFill>
                <a:latin typeface="Times New Roman"/>
                <a:ea typeface="Times New Roman"/>
                <a:cs typeface="Times New Roman"/>
                <a:sym typeface="Times New Roman"/>
              </a:rPr>
            </a:br>
            <a:endParaRPr lang="en-US" sz="3200" u="sng">
              <a:solidFill>
                <a:srgbClr val="3F3F3F"/>
              </a:solidFill>
              <a:latin typeface="Times New Roman"/>
              <a:ea typeface="Times New Roman"/>
              <a:cs typeface="Times New Roman"/>
              <a:sym typeface="Times New Roman"/>
            </a:endParaRPr>
          </a:p>
        </p:txBody>
      </p:sp>
      <p:sp>
        <p:nvSpPr>
          <p:cNvPr id="174" name="Google Shape;174;g22c3b335300_0_112"/>
          <p:cNvSpPr txBox="1">
            <a:spLocks noGrp="1"/>
          </p:cNvSpPr>
          <p:nvPr>
            <p:ph type="body" idx="1"/>
          </p:nvPr>
        </p:nvSpPr>
        <p:spPr>
          <a:xfrm>
            <a:off x="3365369" y="2394408"/>
            <a:ext cx="5878656" cy="2612417"/>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
        <p:nvSpPr>
          <p:cNvPr id="175" name="Google Shape;175;g22c3b335300_0_1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pic>
        <p:nvPicPr>
          <p:cNvPr id="176" name="Google Shape;176;g22c3b335300_0_112"/>
          <p:cNvPicPr preferRelativeResize="0"/>
          <p:nvPr/>
        </p:nvPicPr>
        <p:blipFill rotWithShape="1">
          <a:blip r:embed="rId3"/>
          <a:srcRect l="27205" t="24956" r="52090" b="40872"/>
          <a:stretch/>
        </p:blipFill>
        <p:spPr>
          <a:xfrm>
            <a:off x="5674936" y="989857"/>
            <a:ext cx="4967926" cy="5731593"/>
          </a:xfrm>
          <a:prstGeom prst="rect">
            <a:avLst/>
          </a:prstGeom>
          <a:noFill/>
          <a:ln>
            <a:noFill/>
          </a:ln>
        </p:spPr>
      </p:pic>
      <p:pic>
        <p:nvPicPr>
          <p:cNvPr id="178" name="Google Shape;178;g22c3b335300_0_112"/>
          <p:cNvPicPr preferRelativeResize="0"/>
          <p:nvPr/>
        </p:nvPicPr>
        <p:blipFill rotWithShape="1">
          <a:blip r:embed="rId4"/>
          <a:srcRect l="21685" t="23366" r="53250" b="47452"/>
          <a:stretch/>
        </p:blipFill>
        <p:spPr>
          <a:xfrm>
            <a:off x="367645" y="878153"/>
            <a:ext cx="5307291" cy="5342805"/>
          </a:xfrm>
          <a:prstGeom prst="rect">
            <a:avLst/>
          </a:prstGeom>
          <a:noFill/>
          <a:ln>
            <a:noFill/>
          </a:ln>
        </p:spPr>
      </p:pic>
    </p:spTree>
    <p:extLst>
      <p:ext uri="{BB962C8B-B14F-4D97-AF65-F5344CB8AC3E}">
        <p14:creationId xmlns:p14="http://schemas.microsoft.com/office/powerpoint/2010/main" val="60410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9"/>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None/>
            </a:pPr>
            <a:r>
              <a:rPr lang="en-US" sz="3200">
                <a:latin typeface="Times New Roman"/>
                <a:ea typeface="Times New Roman"/>
                <a:cs typeface="Times New Roman"/>
                <a:sym typeface="Times New Roman"/>
              </a:rPr>
              <a:t>RESULTS AND DISCUSSION</a:t>
            </a:r>
            <a:br>
              <a:rPr lang="en-US">
                <a:latin typeface="Times New Roman"/>
                <a:ea typeface="Times New Roman"/>
                <a:cs typeface="Times New Roman"/>
                <a:sym typeface="Times New Roman"/>
              </a:rPr>
            </a:br>
            <a:endParaRPr/>
          </a:p>
        </p:txBody>
      </p:sp>
      <p:sp>
        <p:nvSpPr>
          <p:cNvPr id="205" name="Google Shape;205;p9"/>
          <p:cNvSpPr txBox="1">
            <a:spLocks noGrp="1"/>
          </p:cNvSpPr>
          <p:nvPr>
            <p:ph type="body" idx="1"/>
          </p:nvPr>
        </p:nvSpPr>
        <p:spPr>
          <a:xfrm>
            <a:off x="838200" y="1190625"/>
            <a:ext cx="10515600" cy="5033963"/>
          </a:xfrm>
          <a:prstGeom prst="rect">
            <a:avLst/>
          </a:prstGeom>
          <a:noFill/>
          <a:ln>
            <a:noFill/>
          </a:ln>
        </p:spPr>
        <p:txBody>
          <a:bodyPr spcFirstLastPara="1" wrap="square" lIns="91425" tIns="45700" rIns="91425" bIns="45700" anchor="t" anchorCtr="0">
            <a:noAutofit/>
          </a:bodyPr>
          <a:lstStyle/>
          <a:p>
            <a:pPr marL="457200" lvl="0" indent="-355600" algn="just" rtl="0">
              <a:lnSpc>
                <a:spcPct val="12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COST ANALYSIS: Triggering function calls in Ethereum smart contracts cost a certain amount of money measured in the unit of gas. The cost of each function is less than $0.73 for cheap or slow execution, less than $0.53 for average execution, and less than $1.2 for fast execution. </a:t>
            </a:r>
          </a:p>
          <a:p>
            <a:pPr marL="457200" lvl="0" indent="-355600" algn="just" rtl="0">
              <a:lnSpc>
                <a:spcPct val="12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GENERALIZATION: Our proposed solution is meant to be generic enough that it can be easily extended to accommodate multiple stakeholders. </a:t>
            </a:r>
          </a:p>
          <a:p>
            <a:pPr marL="457200" lvl="0" indent="-355600" algn="just" rtl="0">
              <a:lnSpc>
                <a:spcPct val="12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SECURITY ANALYSIS:</a:t>
            </a:r>
          </a:p>
          <a:p>
            <a:pPr lvl="1" indent="-355600" algn="just">
              <a:lnSpc>
                <a:spcPct val="120000"/>
              </a:lnSpc>
              <a:spcBef>
                <a:spcPts val="0"/>
              </a:spcBef>
              <a:buSzPts val="2000"/>
              <a:buFont typeface="Times New Roman"/>
              <a:buChar char="•"/>
            </a:pPr>
            <a:r>
              <a:rPr lang="en-US" sz="1600">
                <a:latin typeface="Times New Roman"/>
                <a:ea typeface="Times New Roman"/>
                <a:cs typeface="Times New Roman"/>
                <a:sym typeface="Times New Roman"/>
              </a:rPr>
              <a:t>The technology also ensures that the transactions and identities of participants are protected.</a:t>
            </a:r>
          </a:p>
          <a:p>
            <a:pPr lvl="1" indent="-355600" algn="just">
              <a:lnSpc>
                <a:spcPct val="120000"/>
              </a:lnSpc>
              <a:spcBef>
                <a:spcPts val="0"/>
              </a:spcBef>
              <a:buSzPts val="2000"/>
              <a:buFont typeface="Times New Roman"/>
              <a:buChar char="•"/>
            </a:pPr>
            <a:r>
              <a:rPr lang="en-US" sz="1600">
                <a:latin typeface="Times New Roman"/>
                <a:ea typeface="Times New Roman"/>
                <a:cs typeface="Times New Roman"/>
                <a:sym typeface="Times New Roman"/>
              </a:rPr>
              <a:t>Blockchain technology maintains data integrity and immutability as modification, addition, and deletion of data is not permissible in the distributed ledger. Any data modification required is re-entered in the ledger as a new transaction.</a:t>
            </a:r>
          </a:p>
          <a:p>
            <a:pPr lvl="1" indent="-355600" algn="just">
              <a:lnSpc>
                <a:spcPct val="120000"/>
              </a:lnSpc>
              <a:spcBef>
                <a:spcPts val="0"/>
              </a:spcBef>
              <a:buSzPts val="2000"/>
              <a:buFont typeface="Times New Roman"/>
              <a:buChar char="•"/>
            </a:pPr>
            <a:r>
              <a:rPr lang="en-US" sz="1600">
                <a:latin typeface="Times New Roman"/>
                <a:ea typeface="Times New Roman"/>
                <a:cs typeface="Times New Roman"/>
                <a:sym typeface="Times New Roman"/>
              </a:rPr>
              <a:t>Only registered HCSC members would be able to view the GPO contract.</a:t>
            </a:r>
          </a:p>
          <a:p>
            <a:pPr lvl="1" indent="-355600" algn="just">
              <a:lnSpc>
                <a:spcPct val="120000"/>
              </a:lnSpc>
              <a:spcBef>
                <a:spcPts val="0"/>
              </a:spcBef>
              <a:buSzPts val="2000"/>
              <a:buFont typeface="Times New Roman"/>
              <a:buChar char="•"/>
            </a:pPr>
            <a:r>
              <a:rPr lang="en-US" sz="1600">
                <a:latin typeface="Times New Roman"/>
                <a:ea typeface="Times New Roman"/>
                <a:cs typeface="Times New Roman"/>
                <a:sym typeface="Times New Roman"/>
              </a:rPr>
              <a:t>Stakeholders in the blockchain network cannot deny an action or transaction that was carried out them.</a:t>
            </a:r>
          </a:p>
          <a:p>
            <a:pPr lvl="1" indent="-355600" algn="just">
              <a:lnSpc>
                <a:spcPct val="120000"/>
              </a:lnSpc>
              <a:spcBef>
                <a:spcPts val="0"/>
              </a:spcBef>
              <a:buSzPts val="2000"/>
              <a:buFont typeface="Times New Roman"/>
              <a:buChar char="•"/>
            </a:pPr>
            <a:r>
              <a:rPr lang="en-US" sz="1600">
                <a:latin typeface="Times New Roman"/>
                <a:ea typeface="Times New Roman"/>
                <a:cs typeface="Times New Roman"/>
                <a:sym typeface="Times New Roman"/>
              </a:rPr>
              <a:t>Transactions in the Ethereum network are digitally encrypted and protected by hashing using cryptographic technology. Hence, any attempt made to tamper with any transactions would only be possible if the private key is known.</a:t>
            </a:r>
          </a:p>
          <a:p>
            <a:pPr lvl="1" indent="-355600" algn="just">
              <a:lnSpc>
                <a:spcPct val="120000"/>
              </a:lnSpc>
              <a:spcBef>
                <a:spcPts val="0"/>
              </a:spcBef>
              <a:buSzPts val="2000"/>
              <a:buFont typeface="Times New Roman"/>
              <a:buChar char="•"/>
            </a:pPr>
            <a:endParaRPr sz="1600">
              <a:latin typeface="Times New Roman"/>
              <a:ea typeface="Times New Roman"/>
              <a:cs typeface="Times New Roman"/>
              <a:sym typeface="Times New Roman"/>
            </a:endParaRPr>
          </a:p>
        </p:txBody>
      </p:sp>
      <p:sp>
        <p:nvSpPr>
          <p:cNvPr id="206" name="Google Shape;206;p9"/>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VIII Semester, Department of ISE, RNSIT</a:t>
            </a:r>
            <a:endParaRPr/>
          </a:p>
        </p:txBody>
      </p:sp>
      <p:sp>
        <p:nvSpPr>
          <p:cNvPr id="207" name="Google Shape;20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2022- 2023</a:t>
            </a:r>
            <a:endParaRPr/>
          </a:p>
        </p:txBody>
      </p:sp>
      <p:sp>
        <p:nvSpPr>
          <p:cNvPr id="208" name="Google Shape;20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0"/>
          <p:cNvSpPr txBox="1">
            <a:spLocks noGrp="1"/>
          </p:cNvSpPr>
          <p:nvPr>
            <p:ph type="title"/>
          </p:nvPr>
        </p:nvSpPr>
        <p:spPr>
          <a:xfrm>
            <a:off x="838200" y="365125"/>
            <a:ext cx="10515600" cy="69373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None/>
            </a:pPr>
            <a:r>
              <a:rPr lang="en-US" sz="3200">
                <a:latin typeface="Times New Roman"/>
                <a:ea typeface="Times New Roman"/>
                <a:cs typeface="Times New Roman"/>
                <a:sym typeface="Times New Roman"/>
              </a:rPr>
              <a:t>LIMITATIONS</a:t>
            </a:r>
            <a:br>
              <a:rPr lang="en-US">
                <a:latin typeface="Times New Roman"/>
                <a:ea typeface="Times New Roman"/>
                <a:cs typeface="Times New Roman"/>
                <a:sym typeface="Times New Roman"/>
              </a:rPr>
            </a:br>
            <a:endParaRPr/>
          </a:p>
        </p:txBody>
      </p:sp>
      <p:sp>
        <p:nvSpPr>
          <p:cNvPr id="214" name="Google Shape;214;p10"/>
          <p:cNvSpPr txBox="1">
            <a:spLocks noGrp="1"/>
          </p:cNvSpPr>
          <p:nvPr>
            <p:ph type="body" idx="1"/>
          </p:nvPr>
        </p:nvSpPr>
        <p:spPr>
          <a:xfrm>
            <a:off x="838200" y="1190625"/>
            <a:ext cx="10515600" cy="5033963"/>
          </a:xfrm>
          <a:prstGeom prst="rect">
            <a:avLst/>
          </a:prstGeom>
          <a:noFill/>
          <a:ln>
            <a:noFill/>
          </a:ln>
        </p:spPr>
        <p:txBody>
          <a:bodyPr spcFirstLastPara="1" wrap="square" lIns="91425" tIns="45700" rIns="91425" bIns="45700" anchor="t" anchorCtr="0">
            <a:noAutofit/>
          </a:bodyPr>
          <a:lstStyle/>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Adoption:</a:t>
            </a:r>
            <a:r>
              <a:rPr lang="en-US" sz="1800">
                <a:latin typeface="Times New Roman"/>
                <a:ea typeface="Times New Roman"/>
                <a:cs typeface="Times New Roman"/>
                <a:sym typeface="Times New Roman"/>
              </a:rPr>
              <a:t> The adoption of blockchain technology in supply chain management is still in its early stages, and it may take some time for businesses to fully embrace it.</a:t>
            </a:r>
            <a:endParaRPr sz="1800">
              <a:latin typeface="Times New Roman"/>
              <a:ea typeface="Times New Roman"/>
              <a:cs typeface="Times New Roman"/>
              <a:sym typeface="Times New Roman"/>
            </a:endParaRPr>
          </a:p>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Technical expertise:</a:t>
            </a:r>
            <a:r>
              <a:rPr lang="en-US" sz="1800">
                <a:latin typeface="Times New Roman"/>
                <a:ea typeface="Times New Roman"/>
                <a:cs typeface="Times New Roman"/>
                <a:sym typeface="Times New Roman"/>
              </a:rPr>
              <a:t> The implementation of smart contracts and blockchain technology requires technical expertise, which may not be available to all supply chain stakeholders.</a:t>
            </a:r>
            <a:endParaRPr sz="1800">
              <a:latin typeface="Times New Roman"/>
              <a:ea typeface="Times New Roman"/>
              <a:cs typeface="Times New Roman"/>
              <a:sym typeface="Times New Roman"/>
            </a:endParaRPr>
          </a:p>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Interoperability:</a:t>
            </a:r>
            <a:r>
              <a:rPr lang="en-US" sz="1800">
                <a:latin typeface="Times New Roman"/>
                <a:ea typeface="Times New Roman"/>
                <a:cs typeface="Times New Roman"/>
                <a:sym typeface="Times New Roman"/>
              </a:rPr>
              <a:t> Different supply chain networks may use different blockchain protocols, which could create interoperability issues when attempting to share inventory data.</a:t>
            </a:r>
            <a:endParaRPr sz="1800">
              <a:latin typeface="Times New Roman"/>
              <a:ea typeface="Times New Roman"/>
              <a:cs typeface="Times New Roman"/>
              <a:sym typeface="Times New Roman"/>
            </a:endParaRPr>
          </a:p>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Security:</a:t>
            </a:r>
            <a:r>
              <a:rPr lang="en-US" sz="1800">
                <a:latin typeface="Times New Roman"/>
                <a:ea typeface="Times New Roman"/>
                <a:cs typeface="Times New Roman"/>
                <a:sym typeface="Times New Roman"/>
              </a:rPr>
              <a:t> While blockchain technology is designed to be secure, the security of a blockchain network is only as strong as its weakest link. If a vulnerability is found, it could potentially compromise the entire network.</a:t>
            </a:r>
            <a:endParaRPr sz="1800">
              <a:latin typeface="Times New Roman"/>
              <a:ea typeface="Times New Roman"/>
              <a:cs typeface="Times New Roman"/>
              <a:sym typeface="Times New Roman"/>
            </a:endParaRPr>
          </a:p>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Scalability:</a:t>
            </a:r>
            <a:r>
              <a:rPr lang="en-US" sz="1800">
                <a:latin typeface="Times New Roman"/>
                <a:ea typeface="Times New Roman"/>
                <a:cs typeface="Times New Roman"/>
                <a:sym typeface="Times New Roman"/>
              </a:rPr>
              <a:t> As more businesses join a supply chain network, the demand on the blockchain network will increase, potentially leading to scalability issues that could affect the performance of the network.</a:t>
            </a:r>
          </a:p>
          <a:p>
            <a:pPr marL="457200" lvl="0" indent="-355600" algn="l" rtl="0">
              <a:lnSpc>
                <a:spcPct val="120000"/>
              </a:lnSpc>
              <a:spcBef>
                <a:spcPts val="0"/>
              </a:spcBef>
              <a:spcAft>
                <a:spcPts val="0"/>
              </a:spcAft>
              <a:buSzPts val="2000"/>
              <a:buFont typeface="Times New Roman"/>
              <a:buChar char="•"/>
            </a:pPr>
            <a:r>
              <a:rPr lang="en-US" sz="1800" b="1">
                <a:latin typeface="Times New Roman"/>
                <a:ea typeface="Times New Roman"/>
                <a:cs typeface="Times New Roman"/>
                <a:sym typeface="Times New Roman"/>
              </a:rPr>
              <a:t>Regulatory Challenges</a:t>
            </a:r>
            <a:r>
              <a:rPr lang="en-US" sz="1800">
                <a:latin typeface="Times New Roman"/>
                <a:ea typeface="Times New Roman"/>
                <a:cs typeface="Times New Roman"/>
                <a:sym typeface="Times New Roman"/>
              </a:rPr>
              <a:t>: The healthcare industry is highly regulated, which may pose challenges for the implementation of blockchain-based solutions. Healthcare providers and suppliers must ensure that their procurement contracts comply with relevant regulations, which may vary by jurisdiction.</a:t>
            </a:r>
            <a:endParaRPr sz="1800">
              <a:latin typeface="Times New Roman"/>
              <a:ea typeface="Times New Roman"/>
              <a:cs typeface="Times New Roman"/>
              <a:sym typeface="Times New Roman"/>
            </a:endParaRPr>
          </a:p>
        </p:txBody>
      </p:sp>
      <p:sp>
        <p:nvSpPr>
          <p:cNvPr id="215" name="Google Shape;215;p10"/>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VIII Semester, Department of ISE, RNSIT</a:t>
            </a:r>
            <a:endParaRPr/>
          </a:p>
        </p:txBody>
      </p:sp>
      <p:sp>
        <p:nvSpPr>
          <p:cNvPr id="216" name="Google Shape;21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2022 - 2023</a:t>
            </a:r>
            <a:endParaRPr/>
          </a:p>
        </p:txBody>
      </p:sp>
      <p:sp>
        <p:nvSpPr>
          <p:cNvPr id="217" name="Google Shape;21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2063750" y="192088"/>
            <a:ext cx="7467600" cy="71437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200">
                <a:solidFill>
                  <a:srgbClr val="2F5496"/>
                </a:solidFill>
                <a:latin typeface="Times New Roman"/>
                <a:ea typeface="Times New Roman"/>
                <a:cs typeface="Times New Roman"/>
                <a:sym typeface="Times New Roman"/>
              </a:rPr>
              <a:t>CONCLUSIONS</a:t>
            </a:r>
            <a:endParaRPr sz="3200">
              <a:solidFill>
                <a:srgbClr val="2F5496"/>
              </a:solidFill>
              <a:latin typeface="Times New Roman"/>
              <a:ea typeface="Times New Roman"/>
              <a:cs typeface="Times New Roman"/>
              <a:sym typeface="Times New Roman"/>
            </a:endParaRPr>
          </a:p>
        </p:txBody>
      </p:sp>
      <p:sp>
        <p:nvSpPr>
          <p:cNvPr id="224" name="Google Shape;224;p11"/>
          <p:cNvSpPr txBox="1">
            <a:spLocks noGrp="1"/>
          </p:cNvSpPr>
          <p:nvPr>
            <p:ph type="body" idx="1"/>
          </p:nvPr>
        </p:nvSpPr>
        <p:spPr>
          <a:xfrm>
            <a:off x="612613" y="985038"/>
            <a:ext cx="11088600" cy="5292600"/>
          </a:xfrm>
          <a:prstGeom prst="rect">
            <a:avLst/>
          </a:prstGeom>
          <a:noFill/>
          <a:ln>
            <a:noFill/>
          </a:ln>
        </p:spPr>
        <p:txBody>
          <a:bodyPr spcFirstLastPara="1" wrap="square" lIns="91425" tIns="45700" rIns="91425" bIns="45700" anchor="t" anchorCtr="0">
            <a:noAutofit/>
          </a:bodyPr>
          <a:lstStyle/>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Automating procurement contracts in the healthcare supply chain using blockchain smart contracts has the potential to improve efficiency, transparency, and security of the procurement process.</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Blockchain technology provides a decentralized and secure system for managing procurement contracts, reducing the need for intermediaries and improving trust among participants.</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Smart contracts provide an automated and self-executing mechanism for managing procurement contracts, reducing administrative burden and increasing efficiency.</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The use of blockchain smart contracts in the healthcare supply chain could improve the availability of medical supplies and equipment, reducing the risk of shortages and improving patient outcomes.</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Though there are certain limitations, they can be overcome by some future enhancement.</a:t>
            </a:r>
            <a:r>
              <a:rPr lang="en-US" sz="2200" b="0" i="0">
                <a:solidFill>
                  <a:srgbClr val="D1D5DB"/>
                </a:solidFill>
                <a:effectLst/>
                <a:latin typeface="Times New Roman" panose="02020603050405020304" pitchFamily="18" charset="0"/>
                <a:cs typeface="Times New Roman" panose="02020603050405020304" pitchFamily="18" charset="0"/>
              </a:rPr>
              <a:t> </a:t>
            </a:r>
            <a:r>
              <a:rPr lang="en-US" sz="2200" b="0" i="0">
                <a:solidFill>
                  <a:schemeClr val="tx1"/>
                </a:solidFill>
                <a:effectLst/>
                <a:latin typeface="Times New Roman" panose="02020603050405020304" pitchFamily="18" charset="0"/>
                <a:cs typeface="Times New Roman" panose="02020603050405020304" pitchFamily="18" charset="0"/>
              </a:rPr>
              <a:t>Overall, automating procurement contracts in the healthcare supply chain using blockchain smart contracts is a promising approach to improving supply chain management and ultimately improving the quality of care delivered to patients.</a:t>
            </a:r>
          </a:p>
        </p:txBody>
      </p:sp>
      <p:sp>
        <p:nvSpPr>
          <p:cNvPr id="225" name="Google Shape;225;p11"/>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226" name="Google Shape;22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227" name="Google Shape;22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21</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2135188" y="136525"/>
            <a:ext cx="7467600" cy="71437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200">
                <a:solidFill>
                  <a:srgbClr val="2F5496"/>
                </a:solidFill>
                <a:latin typeface="Times New Roman"/>
                <a:ea typeface="Times New Roman"/>
                <a:cs typeface="Times New Roman"/>
                <a:sym typeface="Times New Roman"/>
              </a:rPr>
              <a:t>FUTURE ENHANCEMENTS</a:t>
            </a:r>
            <a:endParaRPr sz="3200">
              <a:solidFill>
                <a:srgbClr val="2F5496"/>
              </a:solidFill>
              <a:latin typeface="Times New Roman"/>
              <a:ea typeface="Times New Roman"/>
              <a:cs typeface="Times New Roman"/>
              <a:sym typeface="Times New Roman"/>
            </a:endParaRPr>
          </a:p>
        </p:txBody>
      </p:sp>
      <p:sp>
        <p:nvSpPr>
          <p:cNvPr id="234" name="Google Shape;234;p12"/>
          <p:cNvSpPr txBox="1">
            <a:spLocks noGrp="1"/>
          </p:cNvSpPr>
          <p:nvPr>
            <p:ph type="body" idx="1"/>
          </p:nvPr>
        </p:nvSpPr>
        <p:spPr>
          <a:xfrm>
            <a:off x="395288" y="944563"/>
            <a:ext cx="11317287" cy="5292725"/>
          </a:xfrm>
          <a:prstGeom prst="rect">
            <a:avLst/>
          </a:prstGeom>
          <a:noFill/>
          <a:ln>
            <a:noFill/>
          </a:ln>
        </p:spPr>
        <p:txBody>
          <a:bodyPr spcFirstLastPara="1" wrap="square" lIns="91425" tIns="45700" rIns="91425" bIns="45700" anchor="t" anchorCtr="0">
            <a:noAutofit/>
          </a:bodyPr>
          <a:lstStyle/>
          <a:p>
            <a:pPr marL="457200" lvl="0" indent="-355600" algn="l" rtl="0">
              <a:lnSpc>
                <a:spcPct val="100000"/>
              </a:lnSpc>
              <a:spcBef>
                <a:spcPts val="0"/>
              </a:spcBef>
              <a:spcAft>
                <a:spcPts val="0"/>
              </a:spcAft>
              <a:buSzPts val="2000"/>
              <a:buFont typeface="Times New Roman"/>
              <a:buChar char="•"/>
            </a:pPr>
            <a:r>
              <a:rPr lang="en-US" sz="2100" b="1">
                <a:latin typeface="Times New Roman"/>
                <a:ea typeface="Times New Roman"/>
                <a:cs typeface="Times New Roman"/>
                <a:sym typeface="Times New Roman"/>
              </a:rPr>
              <a:t>Integration with IoT Devices: </a:t>
            </a:r>
            <a:r>
              <a:rPr lang="en-US" sz="2100">
                <a:latin typeface="Times New Roman"/>
                <a:ea typeface="Times New Roman"/>
                <a:cs typeface="Times New Roman"/>
                <a:sym typeface="Times New Roman"/>
              </a:rPr>
              <a:t>The integration of smart contracts with IoT devices could enable the automatic ordering of medical supplies and equipment when stock levels fall below a certain threshold, improving supply chain efficiency. </a:t>
            </a:r>
          </a:p>
          <a:p>
            <a:pPr marL="457200" lvl="0" indent="-355600" algn="l" rtl="0">
              <a:lnSpc>
                <a:spcPct val="100000"/>
              </a:lnSpc>
              <a:spcBef>
                <a:spcPts val="0"/>
              </a:spcBef>
              <a:spcAft>
                <a:spcPts val="0"/>
              </a:spcAft>
              <a:buSzPts val="2000"/>
              <a:buFont typeface="Times New Roman"/>
              <a:buChar char="•"/>
            </a:pPr>
            <a:r>
              <a:rPr lang="en-US" sz="2100" b="1">
                <a:latin typeface="Times New Roman"/>
                <a:ea typeface="Times New Roman"/>
                <a:cs typeface="Times New Roman"/>
                <a:sym typeface="Times New Roman"/>
              </a:rPr>
              <a:t>Integration with Predictive Analytics: </a:t>
            </a:r>
            <a:r>
              <a:rPr lang="en-US" sz="2100">
                <a:latin typeface="Times New Roman"/>
                <a:ea typeface="Times New Roman"/>
                <a:cs typeface="Times New Roman"/>
                <a:sym typeface="Times New Roman"/>
              </a:rPr>
              <a:t>The integration of smart contracts with predictive analytics solutions could enable the system to anticipate supply chain disruptions and automatically adjust procurement contracts to ensure the continuous supply of medical supplies and equipment.</a:t>
            </a:r>
          </a:p>
          <a:p>
            <a:pPr marL="457200" lvl="0" indent="-355600" algn="l" rtl="0">
              <a:lnSpc>
                <a:spcPct val="100000"/>
              </a:lnSpc>
              <a:spcBef>
                <a:spcPts val="0"/>
              </a:spcBef>
              <a:spcAft>
                <a:spcPts val="0"/>
              </a:spcAft>
              <a:buSzPts val="2000"/>
              <a:buFont typeface="Times New Roman"/>
              <a:buChar char="•"/>
            </a:pPr>
            <a:r>
              <a:rPr lang="en-US" sz="2100" b="1">
                <a:latin typeface="Times New Roman"/>
                <a:ea typeface="Times New Roman"/>
                <a:cs typeface="Times New Roman"/>
                <a:sym typeface="Times New Roman"/>
              </a:rPr>
              <a:t>Development of Blockchain Interoperability Standards: </a:t>
            </a:r>
            <a:r>
              <a:rPr lang="en-US" sz="2100">
                <a:latin typeface="Times New Roman"/>
                <a:ea typeface="Times New Roman"/>
                <a:cs typeface="Times New Roman"/>
                <a:sym typeface="Times New Roman"/>
              </a:rPr>
              <a:t>The development of interoperability standards for blockchain-based systems could enable greater interoperability between different systems in the healthcare supply chain, facilitating the exchange of data and transactions.</a:t>
            </a:r>
          </a:p>
          <a:p>
            <a:pPr marL="457200" lvl="0" indent="-355600" algn="l" rtl="0">
              <a:lnSpc>
                <a:spcPct val="100000"/>
              </a:lnSpc>
              <a:spcBef>
                <a:spcPts val="0"/>
              </a:spcBef>
              <a:spcAft>
                <a:spcPts val="0"/>
              </a:spcAft>
              <a:buSzPts val="2000"/>
              <a:buFont typeface="Times New Roman"/>
              <a:buChar char="•"/>
            </a:pPr>
            <a:r>
              <a:rPr lang="en-US" sz="2100" b="1">
                <a:latin typeface="Times New Roman"/>
                <a:ea typeface="Times New Roman"/>
                <a:cs typeface="Times New Roman"/>
                <a:sym typeface="Times New Roman"/>
              </a:rPr>
              <a:t>Real-world implementation and adoption:</a:t>
            </a:r>
            <a:r>
              <a:rPr lang="en-US" sz="2100">
                <a:latin typeface="Times New Roman"/>
                <a:ea typeface="Times New Roman"/>
                <a:cs typeface="Times New Roman"/>
                <a:sym typeface="Times New Roman"/>
              </a:rPr>
              <a:t> The paper could analyze real-world implementation and adoption challenges, such as legal and regulatory issues, stakeholder resistance, and the cost and complexity of deploying the solution in a large supply chain network.</a:t>
            </a:r>
          </a:p>
          <a:p>
            <a:pPr marL="457200" lvl="0" indent="-355600" algn="l" rtl="0">
              <a:lnSpc>
                <a:spcPct val="100000"/>
              </a:lnSpc>
              <a:spcBef>
                <a:spcPts val="0"/>
              </a:spcBef>
              <a:spcAft>
                <a:spcPts val="0"/>
              </a:spcAft>
              <a:buSzPts val="2000"/>
              <a:buFont typeface="Times New Roman"/>
              <a:buChar char="•"/>
            </a:pPr>
            <a:r>
              <a:rPr lang="en-US" sz="2100" b="1">
                <a:latin typeface="Times New Roman"/>
                <a:ea typeface="Times New Roman"/>
                <a:cs typeface="Times New Roman"/>
                <a:sym typeface="Times New Roman"/>
              </a:rPr>
              <a:t>Integration with Payment Systems</a:t>
            </a:r>
            <a:r>
              <a:rPr lang="en-US" sz="2100">
                <a:latin typeface="Times New Roman"/>
                <a:ea typeface="Times New Roman"/>
                <a:cs typeface="Times New Roman"/>
                <a:sym typeface="Times New Roman"/>
              </a:rPr>
              <a:t>: The integration of smart contracts with payment systems could enable automatic payment processing for procurement contracts, reducing the administrative burden on healthcare providers and suppliers.</a:t>
            </a:r>
            <a:endParaRPr sz="2100">
              <a:latin typeface="Times New Roman"/>
              <a:ea typeface="Times New Roman"/>
              <a:cs typeface="Times New Roman"/>
              <a:sym typeface="Times New Roman"/>
            </a:endParaRPr>
          </a:p>
        </p:txBody>
      </p:sp>
      <p:sp>
        <p:nvSpPr>
          <p:cNvPr id="235" name="Google Shape;235;p12"/>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236" name="Google Shape;23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237" name="Google Shape;23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22</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body" idx="1"/>
          </p:nvPr>
        </p:nvSpPr>
        <p:spPr>
          <a:xfrm>
            <a:off x="982663" y="506200"/>
            <a:ext cx="10371137" cy="6219825"/>
          </a:xfrm>
          <a:prstGeom prst="rect">
            <a:avLst/>
          </a:prstGeom>
          <a:noFill/>
          <a:ln>
            <a:noFill/>
          </a:ln>
        </p:spPr>
        <p:txBody>
          <a:bodyPr spcFirstLastPara="1" wrap="square" lIns="91425" tIns="45700" rIns="91425" bIns="45700" anchor="t" anchorCtr="0">
            <a:normAutofit lnSpcReduction="10000"/>
          </a:bodyPr>
          <a:lstStyle/>
          <a:p>
            <a:pPr marL="228600" lvl="0" indent="-228600" algn="ctr" rtl="0">
              <a:lnSpc>
                <a:spcPct val="90000"/>
              </a:lnSpc>
              <a:spcBef>
                <a:spcPts val="0"/>
              </a:spcBef>
              <a:spcAft>
                <a:spcPts val="0"/>
              </a:spcAft>
              <a:buClr>
                <a:srgbClr val="2F5496"/>
              </a:buClr>
              <a:buSzPts val="3200"/>
              <a:buFont typeface="Arial"/>
              <a:buNone/>
            </a:pPr>
            <a:r>
              <a:rPr lang="en-US" sz="4000" b="1">
                <a:solidFill>
                  <a:srgbClr val="2F5496"/>
                </a:solidFill>
                <a:latin typeface="Times New Roman" panose="02020603050405020304" pitchFamily="18" charset="0"/>
                <a:ea typeface="Times New Roman"/>
                <a:cs typeface="Times New Roman" panose="02020603050405020304" pitchFamily="18" charset="0"/>
                <a:sym typeface="Times New Roman"/>
              </a:rPr>
              <a:t>REFERENCES</a:t>
            </a:r>
            <a:endParaRPr sz="4000" b="1">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rgbClr val="3F3F3F"/>
              </a:buClr>
              <a:buSzPts val="1800"/>
              <a:buFont typeface="Arial"/>
              <a:buNone/>
            </a:pPr>
            <a:r>
              <a:rPr lang="en-US" sz="1800">
                <a:latin typeface="Times New Roman" panose="02020603050405020304" pitchFamily="18" charset="0"/>
                <a:cs typeface="Times New Roman" panose="02020603050405020304" pitchFamily="18" charset="0"/>
              </a:rPr>
              <a:t>[1</a:t>
            </a:r>
            <a:r>
              <a:rPr lang="en-US" sz="1800">
                <a:solidFill>
                  <a:schemeClr val="tx1"/>
                </a:solidFill>
                <a:latin typeface="Times New Roman" panose="02020603050405020304" pitchFamily="18" charset="0"/>
                <a:cs typeface="Times New Roman" panose="02020603050405020304" pitchFamily="18" charset="0"/>
              </a:rPr>
              <a:t>] </a:t>
            </a:r>
            <a:r>
              <a:rPr lang="en-US" sz="1800" i="0">
                <a:solidFill>
                  <a:schemeClr val="tx1"/>
                </a:solidFill>
                <a:effectLst/>
                <a:latin typeface="Times New Roman" panose="02020603050405020304" pitchFamily="18" charset="0"/>
                <a:cs typeface="Times New Roman" panose="02020603050405020304" pitchFamily="18" charset="0"/>
              </a:rPr>
              <a:t>Huang, H., Malik, S., Xie, X., Wang, X., &amp; Sun, X. (2019). A Survey on Blockchain for Supply Chain Management. IEEE Access, 7, 82716-82736.</a:t>
            </a:r>
          </a:p>
          <a:p>
            <a:pPr marL="228600" lvl="0" indent="-228600" algn="l" rtl="0">
              <a:lnSpc>
                <a:spcPct val="90000"/>
              </a:lnSpc>
              <a:spcBef>
                <a:spcPts val="1000"/>
              </a:spcBef>
              <a:spcAft>
                <a:spcPts val="0"/>
              </a:spcAft>
              <a:buClr>
                <a:srgbClr val="3F3F3F"/>
              </a:buClr>
              <a:buSzPts val="1800"/>
              <a:buFont typeface="Arial"/>
              <a:buNone/>
            </a:pPr>
            <a:r>
              <a:rPr lang="en-US" sz="1800">
                <a:solidFill>
                  <a:schemeClr val="tx1"/>
                </a:solidFill>
                <a:latin typeface="Times New Roman" panose="02020603050405020304" pitchFamily="18" charset="0"/>
                <a:cs typeface="Times New Roman" panose="02020603050405020304" pitchFamily="18" charset="0"/>
              </a:rPr>
              <a:t>[2] Dorri, A., Kanhere, S. S., &amp; Jurdak, R. (2019). A survey on smart contract: architectures, applications, and future trends. IEEE Communications Surveys &amp; Tutorials, 21(4), 3,719-3,760. https://doi.org/10.1109/COMST.2019.2921125</a:t>
            </a:r>
            <a:endParaRPr lang="en-US" sz="1800" i="0">
              <a:solidFill>
                <a:schemeClr val="tx1"/>
              </a:solidFill>
              <a:effectLst/>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rgbClr val="3F3F3F"/>
              </a:buClr>
              <a:buSzPts val="2000"/>
              <a:buFont typeface="Arial"/>
              <a:buNone/>
            </a:pPr>
            <a:r>
              <a:rPr lang="en-US" sz="1800">
                <a:solidFill>
                  <a:srgbClr val="3F3F3F"/>
                </a:solidFill>
                <a:latin typeface="Times New Roman" panose="02020603050405020304" pitchFamily="18" charset="0"/>
                <a:ea typeface="Times New Roman"/>
                <a:cs typeface="Times New Roman" panose="02020603050405020304" pitchFamily="18" charset="0"/>
                <a:sym typeface="Times New Roman"/>
              </a:rPr>
              <a:t>[3]  Ahmed, I., Ahmed, M., &amp; Hossain, S. (2020). Blockchain technology in healthcare: A systematic review.          In Proceedings of the 10th International Conference on Ambient Systems, Networks and Technologies (pp. 440-449). ACM.</a:t>
            </a:r>
          </a:p>
          <a:p>
            <a:pPr marL="0" lvl="0" indent="0" algn="l" rtl="0">
              <a:lnSpc>
                <a:spcPct val="90000"/>
              </a:lnSpc>
              <a:spcBef>
                <a:spcPts val="1000"/>
              </a:spcBef>
              <a:spcAft>
                <a:spcPts val="0"/>
              </a:spcAft>
              <a:buClr>
                <a:srgbClr val="3F3F3F"/>
              </a:buClr>
              <a:buSzPts val="2000"/>
              <a:buFont typeface="Arial"/>
              <a:buNone/>
            </a:pPr>
            <a:r>
              <a:rPr lang="en-US" sz="1800">
                <a:solidFill>
                  <a:srgbClr val="3F3F3F"/>
                </a:solidFill>
                <a:latin typeface="Times New Roman" panose="02020603050405020304" pitchFamily="18" charset="0"/>
                <a:ea typeface="Times New Roman"/>
                <a:cs typeface="Times New Roman" panose="02020603050405020304" pitchFamily="18" charset="0"/>
                <a:sym typeface="Times New Roman"/>
              </a:rPr>
              <a:t>[4]  Alzahrani, A. I., Alharthi, M. A., Aljaedi, A. A., Almalki, H. S., Alzahrani, A. S., &amp; Alomar, R. S. (2021). Blockchain technology in healthcare: A systematic review. Journal of Healthcare Engineering, 2021, 1-21. </a:t>
            </a:r>
          </a:p>
          <a:p>
            <a:pPr marL="0" lvl="0" indent="0" algn="l" rtl="0">
              <a:lnSpc>
                <a:spcPct val="90000"/>
              </a:lnSpc>
              <a:spcBef>
                <a:spcPts val="1000"/>
              </a:spcBef>
              <a:spcAft>
                <a:spcPts val="0"/>
              </a:spcAft>
              <a:buClr>
                <a:srgbClr val="3F3F3F"/>
              </a:buClr>
              <a:buSzPts val="2000"/>
              <a:buFont typeface="Arial"/>
              <a:buNone/>
            </a:pPr>
            <a:r>
              <a:rPr lang="en-US" sz="1800">
                <a:latin typeface="Times New Roman" panose="02020603050405020304" pitchFamily="18" charset="0"/>
                <a:ea typeface="Times New Roman"/>
                <a:cs typeface="Times New Roman" panose="02020603050405020304" pitchFamily="18" charset="0"/>
                <a:sym typeface="Times New Roman"/>
              </a:rPr>
              <a:t>[5] Chen, Y., Zhang, W., &amp; Wang, B. (2020). Blockchain-based smart contracts for healthcare supply chain management: A systematic review. In Proceedings of the 6th International Conference on Industrial Engineering and Applications (pp. 27-33). ACM.</a:t>
            </a:r>
          </a:p>
          <a:p>
            <a:pPr marL="0" lvl="0" indent="0" algn="l" rtl="0">
              <a:lnSpc>
                <a:spcPct val="90000"/>
              </a:lnSpc>
              <a:spcBef>
                <a:spcPts val="1000"/>
              </a:spcBef>
              <a:spcAft>
                <a:spcPts val="0"/>
              </a:spcAft>
              <a:buClr>
                <a:srgbClr val="3F3F3F"/>
              </a:buClr>
              <a:buSzPts val="2000"/>
              <a:buFont typeface="Arial"/>
              <a:buNone/>
            </a:pPr>
            <a:r>
              <a:rPr lang="en-US" sz="1800">
                <a:latin typeface="Times New Roman" panose="02020603050405020304" pitchFamily="18" charset="0"/>
                <a:ea typeface="Times New Roman"/>
                <a:cs typeface="Times New Roman" panose="02020603050405020304" pitchFamily="18" charset="0"/>
                <a:sym typeface="Times New Roman"/>
              </a:rPr>
              <a:t>[6] Kumar, R., Tripathi, S., &amp; Sethi, A. (2020). A blockchain-based smart contract solution for healthcare procurement contracts. In Proceedings of the 2020 11th International Conference on Computing, Communication and Networking Technologies (ICCCNT) (pp. 1-6). IEEE.</a:t>
            </a:r>
          </a:p>
          <a:p>
            <a:pPr marL="0" lvl="0" indent="0" algn="l" rtl="0">
              <a:lnSpc>
                <a:spcPct val="90000"/>
              </a:lnSpc>
              <a:spcBef>
                <a:spcPts val="1000"/>
              </a:spcBef>
              <a:spcAft>
                <a:spcPts val="0"/>
              </a:spcAft>
              <a:buClr>
                <a:srgbClr val="3F3F3F"/>
              </a:buClr>
              <a:buSzPts val="2000"/>
              <a:buFont typeface="Arial"/>
              <a:buNone/>
            </a:pPr>
            <a:r>
              <a:rPr lang="en-US" sz="1800">
                <a:latin typeface="Times New Roman" panose="02020603050405020304" pitchFamily="18" charset="0"/>
                <a:ea typeface="Times New Roman"/>
                <a:cs typeface="Times New Roman" panose="02020603050405020304" pitchFamily="18" charset="0"/>
                <a:sym typeface="Times New Roman"/>
              </a:rPr>
              <a:t>[7] LHAAM A. OMAR, RAJA JAYARAMAN , MAZIN S. DEBE,KHALED SALAH, (Senior Member, IEEE),IBRAR YAQOOB, (Senior Member, IEEE),AND MOHAMMED OMAR(2021) Automating Procurement Contracts in the Healthcare Supply Chain Using Blockchain Smart Contracts .</a:t>
            </a:r>
          </a:p>
        </p:txBody>
      </p:sp>
      <p:sp>
        <p:nvSpPr>
          <p:cNvPr id="243" name="Google Shape;243;p13"/>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244" name="Google Shape;24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2022- 2023</a:t>
            </a:r>
            <a:endParaRPr sz="1200" b="1" i="0" u="none" strike="noStrike" cap="none">
              <a:solidFill>
                <a:srgbClr val="2B5FF3"/>
              </a:solidFill>
              <a:latin typeface="Calibri"/>
              <a:ea typeface="Calibri"/>
              <a:cs typeface="Calibri"/>
              <a:sym typeface="Calibri"/>
            </a:endParaRPr>
          </a:p>
        </p:txBody>
      </p:sp>
      <p:sp>
        <p:nvSpPr>
          <p:cNvPr id="245" name="Google Shape;24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23</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4"/>
          <p:cNvSpPr txBox="1">
            <a:spLocks noGrp="1"/>
          </p:cNvSpPr>
          <p:nvPr>
            <p:ph type="title"/>
          </p:nvPr>
        </p:nvSpPr>
        <p:spPr>
          <a:xfrm>
            <a:off x="2066117" y="2485557"/>
            <a:ext cx="7916416" cy="990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4800">
                <a:solidFill>
                  <a:srgbClr val="000066"/>
                </a:solidFill>
                <a:latin typeface="Times New Roman"/>
                <a:ea typeface="Times New Roman"/>
                <a:cs typeface="Times New Roman"/>
                <a:sym typeface="Times New Roman"/>
              </a:rPr>
              <a:t>QUESTION AND ANSWER</a:t>
            </a:r>
            <a:endParaRPr sz="4800">
              <a:solidFill>
                <a:srgbClr val="000066"/>
              </a:solidFill>
              <a:latin typeface="Times New Roman"/>
              <a:ea typeface="Times New Roman"/>
              <a:cs typeface="Times New Roman"/>
              <a:sym typeface="Times New Roman"/>
            </a:endParaRPr>
          </a:p>
        </p:txBody>
      </p:sp>
      <p:sp>
        <p:nvSpPr>
          <p:cNvPr id="251" name="Google Shape;251;p14"/>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252" name="Google Shape;2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2022- 2023</a:t>
            </a:r>
            <a:endParaRPr sz="1200" b="1" i="0" u="none" strike="noStrike" cap="none">
              <a:solidFill>
                <a:srgbClr val="2B5FF3"/>
              </a:solidFill>
              <a:latin typeface="Calibri"/>
              <a:ea typeface="Calibri"/>
              <a:cs typeface="Calibri"/>
              <a:sym typeface="Calibri"/>
            </a:endParaRPr>
          </a:p>
        </p:txBody>
      </p:sp>
      <p:sp>
        <p:nvSpPr>
          <p:cNvPr id="253" name="Google Shape;2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24</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5"/>
          <p:cNvSpPr txBox="1">
            <a:spLocks noGrp="1"/>
          </p:cNvSpPr>
          <p:nvPr>
            <p:ph type="title"/>
          </p:nvPr>
        </p:nvSpPr>
        <p:spPr>
          <a:xfrm>
            <a:off x="2639616" y="2602245"/>
            <a:ext cx="6553200" cy="75442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4800">
                <a:solidFill>
                  <a:srgbClr val="000066"/>
                </a:solidFill>
                <a:latin typeface="Times New Roman"/>
                <a:ea typeface="Times New Roman"/>
                <a:cs typeface="Times New Roman"/>
                <a:sym typeface="Times New Roman"/>
              </a:rPr>
              <a:t>THANK YOU</a:t>
            </a:r>
            <a:endParaRPr/>
          </a:p>
        </p:txBody>
      </p:sp>
      <p:sp>
        <p:nvSpPr>
          <p:cNvPr id="259" name="Google Shape;259;p15"/>
          <p:cNvSpPr txBox="1">
            <a:spLocks noGrp="1"/>
          </p:cNvSpPr>
          <p:nvPr>
            <p:ph type="dt" idx="10"/>
          </p:nvPr>
        </p:nvSpPr>
        <p:spPr>
          <a:xfrm>
            <a:off x="838200" y="6356350"/>
            <a:ext cx="32004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1" i="0" u="none" strike="noStrike" cap="none">
                <a:solidFill>
                  <a:srgbClr val="2B5FF3"/>
                </a:solidFill>
                <a:latin typeface="Calibri"/>
                <a:ea typeface="Calibri"/>
                <a:cs typeface="Calibri"/>
                <a:sym typeface="Calibri"/>
              </a:rPr>
              <a:t>VIII Semester, Department of ISE, RNSIT</a:t>
            </a:r>
            <a:endParaRPr/>
          </a:p>
        </p:txBody>
      </p:sp>
      <p:sp>
        <p:nvSpPr>
          <p:cNvPr id="260" name="Google Shape;26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2B5FF3"/>
                </a:solidFill>
                <a:latin typeface="Calibri"/>
                <a:ea typeface="Calibri"/>
                <a:cs typeface="Calibri"/>
                <a:sym typeface="Calibri"/>
              </a:rPr>
              <a:t>2022 - 2023</a:t>
            </a:r>
            <a:endParaRPr sz="1200" b="1" i="0" u="none" strike="noStrike" cap="none">
              <a:solidFill>
                <a:srgbClr val="2B5FF3"/>
              </a:solidFill>
              <a:latin typeface="Calibri"/>
              <a:ea typeface="Calibri"/>
              <a:cs typeface="Calibri"/>
              <a:sym typeface="Calibri"/>
            </a:endParaRPr>
          </a:p>
        </p:txBody>
      </p:sp>
      <p:sp>
        <p:nvSpPr>
          <p:cNvPr id="261" name="Google Shape;26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b="1" i="0" u="none" strike="noStrike" cap="none">
                <a:solidFill>
                  <a:srgbClr val="2B5FF3"/>
                </a:solidFill>
                <a:latin typeface="Calibri"/>
                <a:ea typeface="Calibri"/>
                <a:cs typeface="Calibri"/>
                <a:sym typeface="Calibri"/>
              </a:rPr>
              <a:t>25</a:t>
            </a:fld>
            <a:endParaRPr sz="1200" b="1" i="0" u="none" strike="noStrike" cap="none">
              <a:solidFill>
                <a:srgbClr val="2B5FF3"/>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TotalTime>
  <Words>3210</Words>
  <Application>Microsoft Office PowerPoint</Application>
  <PresentationFormat>Widescreen</PresentationFormat>
  <Paragraphs>197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Noto Sans Symbols</vt:lpstr>
      <vt:lpstr>Times New Roman</vt:lpstr>
      <vt:lpstr>Office Theme</vt:lpstr>
      <vt:lpstr>Automating Procurement Contracts in Healthcare Supply Chain Using Blockchain Smart Contracts </vt:lpstr>
      <vt:lpstr>AGENDA</vt:lpstr>
      <vt:lpstr>ABSTRACT </vt:lpstr>
      <vt:lpstr>INTRODUCTION </vt:lpstr>
      <vt:lpstr>PowerPoint Presentation</vt:lpstr>
      <vt:lpstr>PowerPoint Presentation</vt:lpstr>
      <vt:lpstr>PowerPoint Presentation</vt:lpstr>
      <vt:lpstr>PROPOSED SYSTEM  </vt:lpstr>
      <vt:lpstr>PROPOSED SYSTEM  </vt:lpstr>
      <vt:lpstr>PowerPoint Presentation</vt:lpstr>
      <vt:lpstr>PowerPoint Presentation</vt:lpstr>
      <vt:lpstr>PROPOSED SYSTEM  </vt:lpstr>
      <vt:lpstr>PROPOSED SYSTEM  </vt:lpstr>
      <vt:lpstr>SYSTEM DESIGN  </vt:lpstr>
      <vt:lpstr>SYSTEM DESIGN  </vt:lpstr>
      <vt:lpstr>SYSTEM DESIGN </vt:lpstr>
      <vt:lpstr>SYSTEM DESIGN </vt:lpstr>
      <vt:lpstr>SYSTEM DESIGN </vt:lpstr>
      <vt:lpstr>RESULTS AND DISCUSSION </vt:lpstr>
      <vt:lpstr>LIMITATIONS </vt:lpstr>
      <vt:lpstr>CONCLUSIONS</vt:lpstr>
      <vt:lpstr>FUTURE ENHANCEMENTS</vt:lpstr>
      <vt:lpstr>PowerPoint Presentation</vt:lpstr>
      <vt:lpstr>QUESTION AND ANSWER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Automating Procurement Contracts in Healthcare Supply Chain Using Blockchain Smart Contracts </dc:title>
  <dc:creator>DARSHAN SATHYA</dc:creator>
  <cp:lastModifiedBy>Amardeep Kumar</cp:lastModifiedBy>
  <cp:revision>14</cp:revision>
  <dcterms:created xsi:type="dcterms:W3CDTF">2015-10-29T14:36:38Z</dcterms:created>
  <dcterms:modified xsi:type="dcterms:W3CDTF">2023-04-11T04:34:48Z</dcterms:modified>
</cp:coreProperties>
</file>