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86" r:id="rId3"/>
    <p:sldId id="287" r:id="rId4"/>
    <p:sldId id="288" r:id="rId5"/>
    <p:sldId id="289" r:id="rId6"/>
    <p:sldId id="290" r:id="rId7"/>
    <p:sldId id="291" r:id="rId8"/>
    <p:sldId id="292" r:id="rId9"/>
    <p:sldId id="264" r:id="rId10"/>
    <p:sldId id="265" r:id="rId11"/>
    <p:sldId id="266" r:id="rId12"/>
    <p:sldId id="268" r:id="rId13"/>
    <p:sldId id="269" r:id="rId14"/>
    <p:sldId id="270" r:id="rId15"/>
    <p:sldId id="271" r:id="rId16"/>
    <p:sldId id="273" r:id="rId17"/>
    <p:sldId id="278" r:id="rId18"/>
    <p:sldId id="274" r:id="rId19"/>
    <p:sldId id="275" r:id="rId20"/>
    <p:sldId id="276" r:id="rId21"/>
    <p:sldId id="279" r:id="rId22"/>
    <p:sldId id="285" r:id="rId23"/>
    <p:sldId id="284" r:id="rId24"/>
    <p:sldId id="280" r:id="rId25"/>
    <p:sldId id="281" r:id="rId26"/>
    <p:sldId id="282" r:id="rId27"/>
    <p:sldId id="258" r:id="rId28"/>
  </p:sldIdLst>
  <p:sldSz cx="12192000" cy="6858000"/>
  <p:notesSz cx="6858000" cy="9144000"/>
  <p:embeddedFontLst>
    <p:embeddedFont>
      <p:font typeface="Aharoni" panose="02010803020104030203" pitchFamily="2" charset="-79"/>
      <p:bold r:id="rId30"/>
    </p:embeddedFont>
    <p:embeddedFont>
      <p:font typeface="Comfortaa" panose="020B0604020202020204" charset="0"/>
      <p:regular r:id="rId31"/>
      <p:bold r:id="rId32"/>
    </p:embeddedFont>
    <p:embeddedFont>
      <p:font typeface="Oi" panose="020B0604020202020204"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i0qLyksubQ8eXdM+8szwhcO2p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347"/>
    <a:srgbClr val="FFD58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94660"/>
  </p:normalViewPr>
  <p:slideViewPr>
    <p:cSldViewPr snapToGrid="0">
      <p:cViewPr varScale="1">
        <p:scale>
          <a:sx n="81" d="100"/>
          <a:sy n="81" d="100"/>
        </p:scale>
        <p:origin x="802" y="53"/>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1" name="Google Shape;51;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 name="Google Shape;52;p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1007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4377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3043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8150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9305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955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5005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8772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60618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20604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7708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2937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0381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124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86296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01573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0798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93613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73208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57461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85094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63526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48458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3310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51822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3" name="Google Shape;7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spTree>
      <p:nvGrpSpPr>
        <p:cNvPr id="1" name="Shape 17"/>
        <p:cNvGrpSpPr/>
        <p:nvPr/>
      </p:nvGrpSpPr>
      <p:grpSpPr>
        <a:xfrm>
          <a:off x="0" y="0"/>
          <a:ext cx="0" cy="0"/>
          <a:chOff x="0" y="0"/>
          <a:chExt cx="0" cy="0"/>
        </a:xfrm>
      </p:grpSpPr>
      <p:sp>
        <p:nvSpPr>
          <p:cNvPr id="18" name="Google Shape;18;p5"/>
          <p:cNvSpPr/>
          <p:nvPr/>
        </p:nvSpPr>
        <p:spPr>
          <a:xfrm>
            <a:off x="7972121" y="0"/>
            <a:ext cx="2857500" cy="6858000"/>
          </a:xfrm>
          <a:prstGeom prst="parallelogram">
            <a:avLst>
              <a:gd name="adj" fmla="val 0"/>
            </a:avLst>
          </a:prstGeom>
          <a:solidFill>
            <a:srgbClr val="F2F2F2">
              <a:alpha val="2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 name="Google Shape;19;p5"/>
          <p:cNvSpPr/>
          <p:nvPr/>
        </p:nvSpPr>
        <p:spPr>
          <a:xfrm>
            <a:off x="6394450" y="0"/>
            <a:ext cx="153926"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1" name="Google Shape;21;p5"/>
          <p:cNvSpPr txBox="1">
            <a:spLocks noGrp="1"/>
          </p:cNvSpPr>
          <p:nvPr>
            <p:ph type="sldNum" idx="12"/>
          </p:nvPr>
        </p:nvSpPr>
        <p:spPr>
          <a:xfrm>
            <a:off x="8763976" y="6248400"/>
            <a:ext cx="3190321"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
        <p:nvSpPr>
          <p:cNvPr id="22" name="Google Shape;22;p5"/>
          <p:cNvSpPr txBox="1">
            <a:spLocks noGrp="1"/>
          </p:cNvSpPr>
          <p:nvPr>
            <p:ph type="ctrTitle"/>
          </p:nvPr>
        </p:nvSpPr>
        <p:spPr>
          <a:xfrm>
            <a:off x="6629400" y="758952"/>
            <a:ext cx="4526280" cy="322751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6000" b="1">
                <a:solidFill>
                  <a:schemeClr val="accent1"/>
                </a:solidFill>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5"/>
          <p:cNvSpPr txBox="1">
            <a:spLocks noGrp="1"/>
          </p:cNvSpPr>
          <p:nvPr>
            <p:ph type="subTitle" idx="1"/>
          </p:nvPr>
        </p:nvSpPr>
        <p:spPr>
          <a:xfrm>
            <a:off x="6632171" y="4508500"/>
            <a:ext cx="4526280" cy="1279652"/>
          </a:xfrm>
          <a:prstGeom prst="rect">
            <a:avLst/>
          </a:prstGeom>
          <a:noFill/>
          <a:ln>
            <a:noFill/>
          </a:ln>
        </p:spPr>
        <p:txBody>
          <a:bodyPr spcFirstLastPara="1" wrap="square" lIns="91425" tIns="45700" rIns="91425" bIns="45700" anchor="t" anchorCtr="0">
            <a:normAutofit/>
          </a:bodyPr>
          <a:lstStyle>
            <a:lvl1pPr lvl="0" algn="l">
              <a:spcBef>
                <a:spcPts val="480"/>
              </a:spcBef>
              <a:spcAft>
                <a:spcPts val="0"/>
              </a:spcAft>
              <a:buSzPts val="2400"/>
              <a:buFont typeface="Times New Roman"/>
              <a:buNone/>
              <a:defRPr sz="2400" cap="none">
                <a:solidFill>
                  <a:srgbClr val="3F3F3F"/>
                </a:solidFill>
                <a:latin typeface="Times New Roman"/>
                <a:ea typeface="Times New Roman"/>
                <a:cs typeface="Times New Roman"/>
                <a:sym typeface="Times New Roman"/>
              </a:defRPr>
            </a:lvl1pPr>
            <a:lvl2pPr lvl="1" algn="ctr">
              <a:spcBef>
                <a:spcPts val="480"/>
              </a:spcBef>
              <a:spcAft>
                <a:spcPts val="0"/>
              </a:spcAft>
              <a:buSzPts val="2400"/>
              <a:buFont typeface="Times New Roman"/>
              <a:buNone/>
              <a:defRPr sz="2400"/>
            </a:lvl2pPr>
            <a:lvl3pPr lvl="2" algn="ctr">
              <a:spcBef>
                <a:spcPts val="480"/>
              </a:spcBef>
              <a:spcAft>
                <a:spcPts val="0"/>
              </a:spcAft>
              <a:buSzPts val="2400"/>
              <a:buFont typeface="Times New Roman"/>
              <a:buNone/>
              <a:defRPr sz="2400"/>
            </a:lvl3pPr>
            <a:lvl4pPr lvl="3" algn="ctr">
              <a:spcBef>
                <a:spcPts val="400"/>
              </a:spcBef>
              <a:spcAft>
                <a:spcPts val="0"/>
              </a:spcAft>
              <a:buSzPts val="2000"/>
              <a:buFont typeface="Times New Roman"/>
              <a:buNone/>
              <a:defRPr sz="2000"/>
            </a:lvl4pPr>
            <a:lvl5pPr lvl="4" algn="ctr">
              <a:spcBef>
                <a:spcPts val="400"/>
              </a:spcBef>
              <a:spcAft>
                <a:spcPts val="0"/>
              </a:spcAft>
              <a:buSzPts val="2000"/>
              <a:buFont typeface="Times New Roman"/>
              <a:buNone/>
              <a:defRPr sz="2000"/>
            </a:lvl5pPr>
            <a:lvl6pPr lvl="5" algn="ctr">
              <a:spcBef>
                <a:spcPts val="400"/>
              </a:spcBef>
              <a:spcAft>
                <a:spcPts val="0"/>
              </a:spcAft>
              <a:buSzPts val="2000"/>
              <a:buFont typeface="Times New Roman"/>
              <a:buNone/>
              <a:defRPr sz="2000"/>
            </a:lvl6pPr>
            <a:lvl7pPr lvl="6" algn="ctr">
              <a:spcBef>
                <a:spcPts val="400"/>
              </a:spcBef>
              <a:spcAft>
                <a:spcPts val="0"/>
              </a:spcAft>
              <a:buSzPts val="2000"/>
              <a:buFont typeface="Times New Roman"/>
              <a:buNone/>
              <a:defRPr sz="2000"/>
            </a:lvl7pPr>
            <a:lvl8pPr lvl="7" algn="ctr">
              <a:spcBef>
                <a:spcPts val="400"/>
              </a:spcBef>
              <a:spcAft>
                <a:spcPts val="0"/>
              </a:spcAft>
              <a:buSzPts val="2000"/>
              <a:buFont typeface="Times New Roman"/>
              <a:buNone/>
              <a:defRPr sz="2000"/>
            </a:lvl8pPr>
            <a:lvl9pPr lvl="8" algn="ctr">
              <a:spcBef>
                <a:spcPts val="400"/>
              </a:spcBef>
              <a:spcAft>
                <a:spcPts val="0"/>
              </a:spcAft>
              <a:buSzPts val="2000"/>
              <a:buFont typeface="Times New Roman"/>
              <a:buNone/>
              <a:defRPr sz="2000"/>
            </a:lvl9pPr>
          </a:lstStyle>
          <a:p>
            <a:endParaRPr/>
          </a:p>
        </p:txBody>
      </p:sp>
      <p:sp>
        <p:nvSpPr>
          <p:cNvPr id="24" name="Google Shape;24;p5"/>
          <p:cNvSpPr/>
          <p:nvPr/>
        </p:nvSpPr>
        <p:spPr>
          <a:xfrm>
            <a:off x="6311900" y="0"/>
            <a:ext cx="153926"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8051" y="185530"/>
            <a:ext cx="11626575" cy="95747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dirty="0"/>
          </a:p>
        </p:txBody>
      </p:sp>
      <p:sp>
        <p:nvSpPr>
          <p:cNvPr id="27" name="Google Shape;27;p6"/>
          <p:cNvSpPr txBox="1">
            <a:spLocks noGrp="1"/>
          </p:cNvSpPr>
          <p:nvPr>
            <p:ph type="body" idx="1"/>
          </p:nvPr>
        </p:nvSpPr>
        <p:spPr>
          <a:xfrm>
            <a:off x="318051" y="1262063"/>
            <a:ext cx="11626575" cy="4741172"/>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Font typeface="Times New Roman"/>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28" name="Google Shape;28;p6"/>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6"/>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cxnSp>
        <p:nvCxnSpPr>
          <p:cNvPr id="30" name="Google Shape;30;p6"/>
          <p:cNvCxnSpPr/>
          <p:nvPr/>
        </p:nvCxnSpPr>
        <p:spPr>
          <a:xfrm rot="10800000" flipH="1">
            <a:off x="318051" y="6096001"/>
            <a:ext cx="11626575" cy="39757"/>
          </a:xfrm>
          <a:prstGeom prst="straightConnector1">
            <a:avLst/>
          </a:prstGeom>
          <a:noFill/>
          <a:ln w="38100" cap="flat" cmpd="sng">
            <a:solidFill>
              <a:schemeClr val="accent4"/>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1"/>
        <p:cNvGrpSpPr/>
        <p:nvPr/>
      </p:nvGrpSpPr>
      <p:grpSpPr>
        <a:xfrm>
          <a:off x="0" y="0"/>
          <a:ext cx="0" cy="0"/>
          <a:chOff x="0" y="0"/>
          <a:chExt cx="0" cy="0"/>
        </a:xfrm>
      </p:grpSpPr>
      <p:sp>
        <p:nvSpPr>
          <p:cNvPr id="32" name="Google Shape;32;p7"/>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 name="Google Shape;33;p7"/>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spcBef>
                <a:spcPts val="480"/>
              </a:spcBef>
              <a:spcAft>
                <a:spcPts val="0"/>
              </a:spcAft>
              <a:buSzPts val="2400"/>
              <a:buFont typeface="Times New Roman"/>
              <a:buNone/>
              <a:defRPr/>
            </a:lvl1pPr>
            <a:lvl2pPr lvl="1" algn="ctr">
              <a:spcBef>
                <a:spcPts val="560"/>
              </a:spcBef>
              <a:spcAft>
                <a:spcPts val="0"/>
              </a:spcAft>
              <a:buSzPts val="2800"/>
              <a:buFont typeface="Times New Roman"/>
              <a:buNone/>
              <a:defRPr/>
            </a:lvl2pPr>
            <a:lvl3pPr lvl="2" algn="ctr">
              <a:spcBef>
                <a:spcPts val="480"/>
              </a:spcBef>
              <a:spcAft>
                <a:spcPts val="0"/>
              </a:spcAft>
              <a:buSzPts val="2400"/>
              <a:buFont typeface="Times New Roman"/>
              <a:buNone/>
              <a:defRPr/>
            </a:lvl3pPr>
            <a:lvl4pPr lvl="3" algn="ctr">
              <a:spcBef>
                <a:spcPts val="400"/>
              </a:spcBef>
              <a:spcAft>
                <a:spcPts val="0"/>
              </a:spcAft>
              <a:buSzPts val="2000"/>
              <a:buFont typeface="Times New Roman"/>
              <a:buNone/>
              <a:defRPr/>
            </a:lvl4pPr>
            <a:lvl5pPr lvl="4" algn="ctr">
              <a:spcBef>
                <a:spcPts val="400"/>
              </a:spcBef>
              <a:spcAft>
                <a:spcPts val="0"/>
              </a:spcAft>
              <a:buSzPts val="2000"/>
              <a:buFont typeface="Times New Roman"/>
              <a:buNone/>
              <a:defRPr/>
            </a:lvl5pPr>
            <a:lvl6pPr lvl="5" algn="ctr">
              <a:spcBef>
                <a:spcPts val="400"/>
              </a:spcBef>
              <a:spcAft>
                <a:spcPts val="0"/>
              </a:spcAft>
              <a:buSzPts val="2000"/>
              <a:buFont typeface="Times New Roman"/>
              <a:buNone/>
              <a:defRPr/>
            </a:lvl6pPr>
            <a:lvl7pPr lvl="6" algn="ctr">
              <a:spcBef>
                <a:spcPts val="400"/>
              </a:spcBef>
              <a:spcAft>
                <a:spcPts val="0"/>
              </a:spcAft>
              <a:buSzPts val="2000"/>
              <a:buFont typeface="Times New Roman"/>
              <a:buNone/>
              <a:defRPr/>
            </a:lvl7pPr>
            <a:lvl8pPr lvl="7" algn="ctr">
              <a:spcBef>
                <a:spcPts val="400"/>
              </a:spcBef>
              <a:spcAft>
                <a:spcPts val="0"/>
              </a:spcAft>
              <a:buSzPts val="2000"/>
              <a:buFont typeface="Times New Roman"/>
              <a:buNone/>
              <a:defRPr/>
            </a:lvl8pPr>
            <a:lvl9pPr lvl="8" algn="ctr">
              <a:spcBef>
                <a:spcPts val="400"/>
              </a:spcBef>
              <a:spcAft>
                <a:spcPts val="0"/>
              </a:spcAft>
              <a:buSzPts val="2000"/>
              <a:buFont typeface="Times New Roman"/>
              <a:buNone/>
              <a:defRPr/>
            </a:lvl9pPr>
          </a:lstStyle>
          <a:p>
            <a:endParaRPr/>
          </a:p>
        </p:txBody>
      </p:sp>
      <p:sp>
        <p:nvSpPr>
          <p:cNvPr id="34" name="Google Shape;34;p7"/>
          <p:cNvSpPr txBox="1">
            <a:spLocks noGrp="1"/>
          </p:cNvSpPr>
          <p:nvPr>
            <p:ph type="ftr" idx="11"/>
          </p:nvPr>
        </p:nvSpPr>
        <p:spPr>
          <a:xfrm>
            <a:off x="237702" y="6248400"/>
            <a:ext cx="9319536"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7"/>
          <p:cNvSpPr txBox="1">
            <a:spLocks noGrp="1"/>
          </p:cNvSpPr>
          <p:nvPr>
            <p:ph type="sldNum" idx="12"/>
          </p:nvPr>
        </p:nvSpPr>
        <p:spPr>
          <a:xfrm>
            <a:off x="10049608" y="6248400"/>
            <a:ext cx="1904689"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2000"/>
              <a:buFont typeface="Times New Roman"/>
              <a:buNone/>
              <a:defRPr sz="2000"/>
            </a:lvl1pPr>
            <a:lvl2pPr marL="914400" lvl="1" indent="-228600" algn="l">
              <a:spcBef>
                <a:spcPts val="360"/>
              </a:spcBef>
              <a:spcAft>
                <a:spcPts val="0"/>
              </a:spcAft>
              <a:buSzPts val="1800"/>
              <a:buFont typeface="Times New Roman"/>
              <a:buNone/>
              <a:defRPr sz="1800"/>
            </a:lvl2pPr>
            <a:lvl3pPr marL="1371600" lvl="2" indent="-228600" algn="l">
              <a:spcBef>
                <a:spcPts val="320"/>
              </a:spcBef>
              <a:spcAft>
                <a:spcPts val="0"/>
              </a:spcAft>
              <a:buSzPts val="1600"/>
              <a:buFont typeface="Times New Roman"/>
              <a:buNone/>
              <a:defRPr sz="1600"/>
            </a:lvl3pPr>
            <a:lvl4pPr marL="1828800" lvl="3" indent="-228600" algn="l">
              <a:spcBef>
                <a:spcPts val="280"/>
              </a:spcBef>
              <a:spcAft>
                <a:spcPts val="0"/>
              </a:spcAft>
              <a:buSzPts val="1400"/>
              <a:buFont typeface="Times New Roman"/>
              <a:buNone/>
              <a:defRPr sz="1400"/>
            </a:lvl4pPr>
            <a:lvl5pPr marL="2286000" lvl="4" indent="-228600" algn="l">
              <a:spcBef>
                <a:spcPts val="280"/>
              </a:spcBef>
              <a:spcAft>
                <a:spcPts val="0"/>
              </a:spcAft>
              <a:buSzPts val="1400"/>
              <a:buFont typeface="Times New Roman"/>
              <a:buNone/>
              <a:defRPr sz="1400"/>
            </a:lvl5pPr>
            <a:lvl6pPr marL="2743200" lvl="5" indent="-228600" algn="l">
              <a:spcBef>
                <a:spcPts val="280"/>
              </a:spcBef>
              <a:spcAft>
                <a:spcPts val="0"/>
              </a:spcAft>
              <a:buSzPts val="1400"/>
              <a:buFont typeface="Times New Roman"/>
              <a:buNone/>
              <a:defRPr sz="1400"/>
            </a:lvl6pPr>
            <a:lvl7pPr marL="3200400" lvl="6" indent="-228600" algn="l">
              <a:spcBef>
                <a:spcPts val="280"/>
              </a:spcBef>
              <a:spcAft>
                <a:spcPts val="0"/>
              </a:spcAft>
              <a:buSzPts val="1400"/>
              <a:buFont typeface="Times New Roman"/>
              <a:buNone/>
              <a:defRPr sz="1400"/>
            </a:lvl7pPr>
            <a:lvl8pPr marL="3657600" lvl="7" indent="-228600" algn="l">
              <a:spcBef>
                <a:spcPts val="280"/>
              </a:spcBef>
              <a:spcAft>
                <a:spcPts val="0"/>
              </a:spcAft>
              <a:buSzPts val="1400"/>
              <a:buFont typeface="Times New Roman"/>
              <a:buNone/>
              <a:defRPr sz="1400"/>
            </a:lvl8pPr>
            <a:lvl9pPr marL="4114800" lvl="8" indent="-228600" algn="l">
              <a:spcBef>
                <a:spcPts val="280"/>
              </a:spcBef>
              <a:spcAft>
                <a:spcPts val="0"/>
              </a:spcAft>
              <a:buSzPts val="1400"/>
              <a:buFont typeface="Times New Roman"/>
              <a:buNone/>
              <a:defRPr sz="1400"/>
            </a:lvl9pPr>
          </a:lstStyle>
          <a:p>
            <a:endParaRPr/>
          </a:p>
        </p:txBody>
      </p:sp>
      <p:sp>
        <p:nvSpPr>
          <p:cNvPr id="39" name="Google Shape;39;p8"/>
          <p:cNvSpPr txBox="1">
            <a:spLocks noGrp="1"/>
          </p:cNvSpPr>
          <p:nvPr>
            <p:ph type="ftr" idx="11"/>
          </p:nvPr>
        </p:nvSpPr>
        <p:spPr>
          <a:xfrm>
            <a:off x="237701" y="6248400"/>
            <a:ext cx="9222821"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8"/>
          <p:cNvSpPr txBox="1">
            <a:spLocks noGrp="1"/>
          </p:cNvSpPr>
          <p:nvPr>
            <p:ph type="sldNum" idx="12"/>
          </p:nvPr>
        </p:nvSpPr>
        <p:spPr>
          <a:xfrm>
            <a:off x="10691446" y="6248400"/>
            <a:ext cx="1262851"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9"/>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Font typeface="Times New Roman"/>
              <a:buNone/>
              <a:defRPr sz="2400" b="1"/>
            </a:lvl1pPr>
            <a:lvl2pPr marL="914400" lvl="1" indent="-228600" algn="l">
              <a:spcBef>
                <a:spcPts val="400"/>
              </a:spcBef>
              <a:spcAft>
                <a:spcPts val="0"/>
              </a:spcAft>
              <a:buSzPts val="2000"/>
              <a:buFont typeface="Times New Roman"/>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44" name="Google Shape;44;p9"/>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Font typeface="Times New Roman"/>
              <a:buChar char="•"/>
              <a:defRPr sz="2400"/>
            </a:lvl1pPr>
            <a:lvl2pPr marL="914400" lvl="1" indent="-355600" algn="l">
              <a:spcBef>
                <a:spcPts val="400"/>
              </a:spcBef>
              <a:spcAft>
                <a:spcPts val="0"/>
              </a:spcAft>
              <a:buSzPts val="2000"/>
              <a:buFont typeface="Times New Roman"/>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Font typeface="Times New Roman"/>
              <a:buChar char="–"/>
              <a:defRPr sz="1600"/>
            </a:lvl4pPr>
            <a:lvl5pPr marL="2286000" lvl="4" indent="-330200" algn="l">
              <a:spcBef>
                <a:spcPts val="320"/>
              </a:spcBef>
              <a:spcAft>
                <a:spcPts val="0"/>
              </a:spcAft>
              <a:buSzPts val="1600"/>
              <a:buFont typeface="Times New Roman"/>
              <a:buChar char="»"/>
              <a:defRPr sz="1600"/>
            </a:lvl5pPr>
            <a:lvl6pPr marL="2743200" lvl="5" indent="-330200" algn="l">
              <a:spcBef>
                <a:spcPts val="320"/>
              </a:spcBef>
              <a:spcAft>
                <a:spcPts val="0"/>
              </a:spcAft>
              <a:buSzPts val="1600"/>
              <a:buFont typeface="Times New Roman"/>
              <a:buChar char="»"/>
              <a:defRPr sz="1600"/>
            </a:lvl6pPr>
            <a:lvl7pPr marL="3200400" lvl="6" indent="-330200" algn="l">
              <a:spcBef>
                <a:spcPts val="320"/>
              </a:spcBef>
              <a:spcAft>
                <a:spcPts val="0"/>
              </a:spcAft>
              <a:buSzPts val="1600"/>
              <a:buFont typeface="Times New Roman"/>
              <a:buChar char="»"/>
              <a:defRPr sz="1600"/>
            </a:lvl7pPr>
            <a:lvl8pPr marL="3657600" lvl="7" indent="-330200" algn="l">
              <a:spcBef>
                <a:spcPts val="320"/>
              </a:spcBef>
              <a:spcAft>
                <a:spcPts val="0"/>
              </a:spcAft>
              <a:buSzPts val="1600"/>
              <a:buFont typeface="Times New Roman"/>
              <a:buChar char="»"/>
              <a:defRPr sz="1600"/>
            </a:lvl8pPr>
            <a:lvl9pPr marL="4114800" lvl="8" indent="-330200" algn="l">
              <a:spcBef>
                <a:spcPts val="320"/>
              </a:spcBef>
              <a:spcAft>
                <a:spcPts val="0"/>
              </a:spcAft>
              <a:buSzPts val="1600"/>
              <a:buFont typeface="Times New Roman"/>
              <a:buChar char="»"/>
              <a:defRPr sz="1600"/>
            </a:lvl9pPr>
          </a:lstStyle>
          <a:p>
            <a:endParaRPr/>
          </a:p>
        </p:txBody>
      </p:sp>
      <p:sp>
        <p:nvSpPr>
          <p:cNvPr id="45" name="Google Shape;45;p9"/>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Font typeface="Times New Roman"/>
              <a:buNone/>
              <a:defRPr sz="2400" b="1"/>
            </a:lvl1pPr>
            <a:lvl2pPr marL="914400" lvl="1" indent="-228600" algn="l">
              <a:spcBef>
                <a:spcPts val="400"/>
              </a:spcBef>
              <a:spcAft>
                <a:spcPts val="0"/>
              </a:spcAft>
              <a:buSzPts val="2000"/>
              <a:buFont typeface="Times New Roman"/>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46" name="Google Shape;46;p9"/>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Font typeface="Times New Roman"/>
              <a:buChar char="•"/>
              <a:defRPr sz="2400"/>
            </a:lvl1pPr>
            <a:lvl2pPr marL="914400" lvl="1" indent="-355600" algn="l">
              <a:spcBef>
                <a:spcPts val="400"/>
              </a:spcBef>
              <a:spcAft>
                <a:spcPts val="0"/>
              </a:spcAft>
              <a:buSzPts val="2000"/>
              <a:buFont typeface="Times New Roman"/>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Font typeface="Times New Roman"/>
              <a:buChar char="–"/>
              <a:defRPr sz="1600"/>
            </a:lvl4pPr>
            <a:lvl5pPr marL="2286000" lvl="4" indent="-330200" algn="l">
              <a:spcBef>
                <a:spcPts val="320"/>
              </a:spcBef>
              <a:spcAft>
                <a:spcPts val="0"/>
              </a:spcAft>
              <a:buSzPts val="1600"/>
              <a:buFont typeface="Times New Roman"/>
              <a:buChar char="»"/>
              <a:defRPr sz="1600"/>
            </a:lvl5pPr>
            <a:lvl6pPr marL="2743200" lvl="5" indent="-330200" algn="l">
              <a:spcBef>
                <a:spcPts val="320"/>
              </a:spcBef>
              <a:spcAft>
                <a:spcPts val="0"/>
              </a:spcAft>
              <a:buSzPts val="1600"/>
              <a:buFont typeface="Times New Roman"/>
              <a:buChar char="»"/>
              <a:defRPr sz="1600"/>
            </a:lvl6pPr>
            <a:lvl7pPr marL="3200400" lvl="6" indent="-330200" algn="l">
              <a:spcBef>
                <a:spcPts val="320"/>
              </a:spcBef>
              <a:spcAft>
                <a:spcPts val="0"/>
              </a:spcAft>
              <a:buSzPts val="1600"/>
              <a:buFont typeface="Times New Roman"/>
              <a:buChar char="»"/>
              <a:defRPr sz="1600"/>
            </a:lvl7pPr>
            <a:lvl8pPr marL="3657600" lvl="7" indent="-330200" algn="l">
              <a:spcBef>
                <a:spcPts val="320"/>
              </a:spcBef>
              <a:spcAft>
                <a:spcPts val="0"/>
              </a:spcAft>
              <a:buSzPts val="1600"/>
              <a:buFont typeface="Times New Roman"/>
              <a:buChar char="»"/>
              <a:defRPr sz="1600"/>
            </a:lvl8pPr>
            <a:lvl9pPr marL="4114800" lvl="8" indent="-330200" algn="l">
              <a:spcBef>
                <a:spcPts val="320"/>
              </a:spcBef>
              <a:spcAft>
                <a:spcPts val="0"/>
              </a:spcAft>
              <a:buSzPts val="1600"/>
              <a:buFont typeface="Times New Roman"/>
              <a:buChar char="»"/>
              <a:defRPr sz="1600"/>
            </a:lvl9pPr>
          </a:lstStyle>
          <a:p>
            <a:endParaRPr/>
          </a:p>
        </p:txBody>
      </p:sp>
      <p:sp>
        <p:nvSpPr>
          <p:cNvPr id="47" name="Google Shape;47;p9"/>
          <p:cNvSpPr txBox="1">
            <a:spLocks noGrp="1"/>
          </p:cNvSpPr>
          <p:nvPr>
            <p:ph type="ftr" idx="11"/>
          </p:nvPr>
        </p:nvSpPr>
        <p:spPr>
          <a:xfrm>
            <a:off x="237701" y="6248400"/>
            <a:ext cx="9345913"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
          <p:cNvSpPr txBox="1">
            <a:spLocks noGrp="1"/>
          </p:cNvSpPr>
          <p:nvPr>
            <p:ph type="sldNum" idx="12"/>
          </p:nvPr>
        </p:nvSpPr>
        <p:spPr>
          <a:xfrm>
            <a:off x="10884877" y="6248400"/>
            <a:ext cx="106942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1pPr>
            <a:lvl2pPr marL="0" lvl="1"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2pPr>
            <a:lvl3pPr marL="0" lvl="2"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3pPr>
            <a:lvl4pPr marL="0" lvl="3"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4pPr>
            <a:lvl5pPr marL="0" lvl="4"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5pPr>
            <a:lvl6pPr marL="0" lvl="5"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6pPr>
            <a:lvl7pPr marL="0" lvl="6"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7pPr>
            <a:lvl8pPr marL="0" lvl="7"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8pPr>
            <a:lvl9pPr marL="0" lvl="8"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956930" y="0"/>
            <a:ext cx="9675628"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rgbClr val="FF0000"/>
                </a:solidFill>
                <a:latin typeface="Times New Roman"/>
                <a:ea typeface="Times New Roman"/>
                <a:cs typeface="Times New Roman"/>
                <a:sym typeface="Times New Roman"/>
              </a:defRPr>
            </a:lvl1pPr>
            <a:lvl2pPr marR="0" lvl="1" algn="ctr" rtl="0">
              <a:spcBef>
                <a:spcPts val="0"/>
              </a:spcBef>
              <a:spcAft>
                <a:spcPts val="0"/>
              </a:spcAft>
              <a:buSzPts val="1400"/>
              <a:buNone/>
              <a:defRPr sz="4400" b="0" i="0" u="none" strike="noStrike" cap="none">
                <a:solidFill>
                  <a:srgbClr val="FF0000"/>
                </a:solidFill>
                <a:latin typeface="Times New Roman"/>
                <a:ea typeface="Times New Roman"/>
                <a:cs typeface="Times New Roman"/>
                <a:sym typeface="Times New Roman"/>
              </a:defRPr>
            </a:lvl2pPr>
            <a:lvl3pPr marR="0" lvl="2" algn="ctr" rtl="0">
              <a:spcBef>
                <a:spcPts val="0"/>
              </a:spcBef>
              <a:spcAft>
                <a:spcPts val="0"/>
              </a:spcAft>
              <a:buSzPts val="1400"/>
              <a:buNone/>
              <a:defRPr sz="4400" b="0" i="0" u="none" strike="noStrike" cap="none">
                <a:solidFill>
                  <a:srgbClr val="FF0000"/>
                </a:solidFill>
                <a:latin typeface="Times New Roman"/>
                <a:ea typeface="Times New Roman"/>
                <a:cs typeface="Times New Roman"/>
                <a:sym typeface="Times New Roman"/>
              </a:defRPr>
            </a:lvl3pPr>
            <a:lvl4pPr marR="0" lvl="3" algn="ctr" rtl="0">
              <a:spcBef>
                <a:spcPts val="0"/>
              </a:spcBef>
              <a:spcAft>
                <a:spcPts val="0"/>
              </a:spcAft>
              <a:buSzPts val="1400"/>
              <a:buNone/>
              <a:defRPr sz="4400" b="0" i="0" u="none" strike="noStrike" cap="none">
                <a:solidFill>
                  <a:srgbClr val="FF0000"/>
                </a:solidFill>
                <a:latin typeface="Times New Roman"/>
                <a:ea typeface="Times New Roman"/>
                <a:cs typeface="Times New Roman"/>
                <a:sym typeface="Times New Roman"/>
              </a:defRPr>
            </a:lvl4pPr>
            <a:lvl5pPr marR="0" lvl="4" algn="ctr" rtl="0">
              <a:spcBef>
                <a:spcPts val="0"/>
              </a:spcBef>
              <a:spcAft>
                <a:spcPts val="0"/>
              </a:spcAft>
              <a:buSzPts val="1400"/>
              <a:buNone/>
              <a:defRPr sz="4400" b="0" i="0" u="none" strike="noStrike" cap="none">
                <a:solidFill>
                  <a:srgbClr val="FF0000"/>
                </a:solidFill>
                <a:latin typeface="Times New Roman"/>
                <a:ea typeface="Times New Roman"/>
                <a:cs typeface="Times New Roman"/>
                <a:sym typeface="Times New Roman"/>
              </a:defRPr>
            </a:lvl5pPr>
            <a:lvl6pPr marR="0" lvl="5" algn="ctr" rtl="0">
              <a:spcBef>
                <a:spcPts val="0"/>
              </a:spcBef>
              <a:spcAft>
                <a:spcPts val="0"/>
              </a:spcAft>
              <a:buSzPts val="1400"/>
              <a:buNone/>
              <a:defRPr sz="4400" b="0" i="0" u="none" strike="noStrike" cap="none">
                <a:solidFill>
                  <a:srgbClr val="FF0000"/>
                </a:solidFill>
                <a:latin typeface="Times New Roman"/>
                <a:ea typeface="Times New Roman"/>
                <a:cs typeface="Times New Roman"/>
                <a:sym typeface="Times New Roman"/>
              </a:defRPr>
            </a:lvl6pPr>
            <a:lvl7pPr marR="0" lvl="6" algn="ctr" rtl="0">
              <a:spcBef>
                <a:spcPts val="0"/>
              </a:spcBef>
              <a:spcAft>
                <a:spcPts val="0"/>
              </a:spcAft>
              <a:buSzPts val="1400"/>
              <a:buNone/>
              <a:defRPr sz="4400" b="0" i="0" u="none" strike="noStrike" cap="none">
                <a:solidFill>
                  <a:srgbClr val="FF0000"/>
                </a:solidFill>
                <a:latin typeface="Times New Roman"/>
                <a:ea typeface="Times New Roman"/>
                <a:cs typeface="Times New Roman"/>
                <a:sym typeface="Times New Roman"/>
              </a:defRPr>
            </a:lvl7pPr>
            <a:lvl8pPr marR="0" lvl="7" algn="ctr" rtl="0">
              <a:spcBef>
                <a:spcPts val="0"/>
              </a:spcBef>
              <a:spcAft>
                <a:spcPts val="0"/>
              </a:spcAft>
              <a:buSzPts val="1400"/>
              <a:buNone/>
              <a:defRPr sz="4400" b="0" i="0" u="none" strike="noStrike" cap="none">
                <a:solidFill>
                  <a:srgbClr val="FF0000"/>
                </a:solidFill>
                <a:latin typeface="Times New Roman"/>
                <a:ea typeface="Times New Roman"/>
                <a:cs typeface="Times New Roman"/>
                <a:sym typeface="Times New Roman"/>
              </a:defRPr>
            </a:lvl8pPr>
            <a:lvl9pPr marR="0" lvl="8" algn="ctr" rtl="0">
              <a:spcBef>
                <a:spcPts val="0"/>
              </a:spcBef>
              <a:spcAft>
                <a:spcPts val="0"/>
              </a:spcAft>
              <a:buSzPts val="1400"/>
              <a:buNone/>
              <a:defRPr sz="4400" b="0" i="0" u="none" strike="noStrike" cap="none">
                <a:solidFill>
                  <a:srgbClr val="FF0000"/>
                </a:solidFill>
                <a:latin typeface="Times New Roman"/>
                <a:ea typeface="Times New Roman"/>
                <a:cs typeface="Times New Roman"/>
                <a:sym typeface="Times New Roman"/>
              </a:defRPr>
            </a:lvl9pPr>
          </a:lstStyle>
          <a:p>
            <a:endParaRPr dirty="0"/>
          </a:p>
        </p:txBody>
      </p:sp>
      <p:sp>
        <p:nvSpPr>
          <p:cNvPr id="11" name="Google Shape;11;p4"/>
          <p:cNvSpPr txBox="1">
            <a:spLocks noGrp="1"/>
          </p:cNvSpPr>
          <p:nvPr>
            <p:ph type="body" idx="1"/>
          </p:nvPr>
        </p:nvSpPr>
        <p:spPr>
          <a:xfrm>
            <a:off x="175436" y="1262063"/>
            <a:ext cx="11769189" cy="4820685"/>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accent2"/>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accent2"/>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accent2"/>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accent2"/>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accent2"/>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accent2"/>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accent2"/>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accent2"/>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chemeClr val="accent2"/>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2" name="Google Shape;12;p4"/>
          <p:cNvSpPr txBox="1">
            <a:spLocks noGrp="1"/>
          </p:cNvSpPr>
          <p:nvPr>
            <p:ph type="ftr" idx="11"/>
          </p:nvPr>
        </p:nvSpPr>
        <p:spPr>
          <a:xfrm>
            <a:off x="237702" y="6248400"/>
            <a:ext cx="8334798"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sldNum" idx="12"/>
          </p:nvPr>
        </p:nvSpPr>
        <p:spPr>
          <a:xfrm>
            <a:off x="8763976" y="6248400"/>
            <a:ext cx="3190321" cy="4572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1pPr>
            <a:lvl2pPr marL="0" marR="0" lvl="1"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2pPr>
            <a:lvl3pPr marL="0" marR="0" lvl="2"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3pPr>
            <a:lvl4pPr marL="0" marR="0" lvl="3"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4pPr>
            <a:lvl5pPr marL="0" marR="0" lvl="4"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5pPr>
            <a:lvl6pPr marL="0" marR="0" lvl="5"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6pPr>
            <a:lvl7pPr marL="0" marR="0" lvl="6"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7pPr>
            <a:lvl8pPr marL="0" marR="0" lvl="7"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8pPr>
            <a:lvl9pPr marL="0" marR="0" lvl="8"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cxnSp>
        <p:nvCxnSpPr>
          <p:cNvPr id="14" name="Google Shape;14;p4"/>
          <p:cNvCxnSpPr/>
          <p:nvPr/>
        </p:nvCxnSpPr>
        <p:spPr>
          <a:xfrm rot="10800000" flipH="1">
            <a:off x="318051" y="6096001"/>
            <a:ext cx="11626575" cy="39757"/>
          </a:xfrm>
          <a:prstGeom prst="straightConnector1">
            <a:avLst/>
          </a:prstGeom>
          <a:noFill/>
          <a:ln w="38100" cap="flat" cmpd="sng">
            <a:solidFill>
              <a:schemeClr val="accent4"/>
            </a:solidFill>
            <a:prstDash val="solid"/>
            <a:round/>
            <a:headEnd type="none" w="sm" len="sm"/>
            <a:tailEnd type="none" w="sm" len="sm"/>
          </a:ln>
          <a:effectLst>
            <a:outerShdw blurRad="40000" dist="23000" dir="5400000" rotWithShape="0">
              <a:srgbClr val="000000">
                <a:alpha val="34901"/>
              </a:srgbClr>
            </a:outerShdw>
          </a:effectLst>
        </p:spPr>
      </p:cxnSp>
      <p:pic>
        <p:nvPicPr>
          <p:cNvPr id="16" name="Google Shape;16;p4" descr="Logo&#10;&#10;Description automatically generated"/>
          <p:cNvPicPr preferRelativeResize="0"/>
          <p:nvPr/>
        </p:nvPicPr>
        <p:blipFill rotWithShape="1">
          <a:blip r:embed="rId7">
            <a:alphaModFix/>
          </a:blip>
          <a:srcRect/>
          <a:stretch/>
        </p:blipFill>
        <p:spPr>
          <a:xfrm>
            <a:off x="51013" y="152400"/>
            <a:ext cx="766405" cy="76640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 name="Picture 3" descr="Text&#10;&#10;Description automatically generated">
            <a:extLst>
              <a:ext uri="{FF2B5EF4-FFF2-40B4-BE49-F238E27FC236}">
                <a16:creationId xmlns:a16="http://schemas.microsoft.com/office/drawing/2014/main" id="{7A15CC09-4753-05EA-F4A2-95ECE70DFD03}"/>
              </a:ext>
            </a:extLst>
          </p:cNvPr>
          <p:cNvPicPr>
            <a:picLocks noChangeAspect="1"/>
          </p:cNvPicPr>
          <p:nvPr userDrawn="1"/>
        </p:nvPicPr>
        <p:blipFill>
          <a:blip r:embed="rId8"/>
          <a:stretch>
            <a:fillRect/>
          </a:stretch>
        </p:blipFill>
        <p:spPr>
          <a:xfrm>
            <a:off x="10720125" y="318052"/>
            <a:ext cx="1234172" cy="50847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ieeexplore.ieee.org/author/37077329900"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ieeexplore.ieee.org/author/37077371500" TargetMode="External"/><Relationship Id="rId4" Type="http://schemas.openxmlformats.org/officeDocument/2006/relationships/hyperlink" Target="https://ieeexplore.ieee.org/author/37077598300"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ieeexplore.ieee.org/author/37087590463"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ieeexplore.ieee.org/author/37085872096" TargetMode="External"/><Relationship Id="rId5" Type="http://schemas.openxmlformats.org/officeDocument/2006/relationships/hyperlink" Target="https://ieeexplore.ieee.org/author/37064767800" TargetMode="External"/><Relationship Id="rId4" Type="http://schemas.openxmlformats.org/officeDocument/2006/relationships/hyperlink" Target="https://ieeexplore.ieee.org/author/37086304164"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ieeexplore.ieee.org/author/37085424285" TargetMode="External"/><Relationship Id="rId3" Type="http://schemas.openxmlformats.org/officeDocument/2006/relationships/hyperlink" Target="https://ieeexplore.ieee.org/author/37086294717" TargetMode="External"/><Relationship Id="rId7" Type="http://schemas.openxmlformats.org/officeDocument/2006/relationships/hyperlink" Target="https://ieeexplore.ieee.org/author/37088594737"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ieeexplore.ieee.org/author/37088594482" TargetMode="External"/><Relationship Id="rId5" Type="http://schemas.openxmlformats.org/officeDocument/2006/relationships/hyperlink" Target="https://ieeexplore.ieee.org/author/37086291288" TargetMode="External"/><Relationship Id="rId4" Type="http://schemas.openxmlformats.org/officeDocument/2006/relationships/hyperlink" Target="https://ieeexplore.ieee.org/author/37086288384"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ieeexplore.ieee.org/author/37706525100"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ieeexplore.ieee.org/author/37088326815" TargetMode="External"/><Relationship Id="rId4" Type="http://schemas.openxmlformats.org/officeDocument/2006/relationships/hyperlink" Target="https://ieeexplore.ieee.org/author/37088317847"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ieeexplore.ieee.org/author/37086470855" TargetMode="External"/><Relationship Id="rId3" Type="http://schemas.openxmlformats.org/officeDocument/2006/relationships/hyperlink" Target="https://ieeexplore.ieee.org/author/37086445055" TargetMode="External"/><Relationship Id="rId7" Type="http://schemas.openxmlformats.org/officeDocument/2006/relationships/hyperlink" Target="https://ieeexplore.ieee.org/author/37086470452"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ieeexplore.ieee.org/author/37085507639" TargetMode="External"/><Relationship Id="rId5" Type="http://schemas.openxmlformats.org/officeDocument/2006/relationships/hyperlink" Target="https://ieeexplore.ieee.org/author/37086445752" TargetMode="External"/><Relationship Id="rId4" Type="http://schemas.openxmlformats.org/officeDocument/2006/relationships/hyperlink" Target="https://ieeexplore.ieee.org/author/37086445145"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6637265" y="1725105"/>
            <a:ext cx="5368636" cy="619888"/>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None/>
            </a:pPr>
            <a:r>
              <a:rPr lang="en-US" sz="3200" i="1">
                <a:solidFill>
                  <a:srgbClr val="FF0000"/>
                </a:solidFill>
              </a:rPr>
              <a:t>Li-Fi Based Automatic Traffic Signal Control For Ambulance</a:t>
            </a:r>
            <a:endParaRPr sz="3000">
              <a:solidFill>
                <a:srgbClr val="191966"/>
              </a:solidFill>
            </a:endParaRPr>
          </a:p>
        </p:txBody>
      </p:sp>
      <p:sp>
        <p:nvSpPr>
          <p:cNvPr id="55" name="Google Shape;55;p1"/>
          <p:cNvSpPr txBox="1">
            <a:spLocks noGrp="1"/>
          </p:cNvSpPr>
          <p:nvPr>
            <p:ph type="subTitle" idx="1"/>
          </p:nvPr>
        </p:nvSpPr>
        <p:spPr>
          <a:xfrm>
            <a:off x="6632170" y="5147034"/>
            <a:ext cx="5365865" cy="952107"/>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2400"/>
              <a:buFont typeface="Aharoni"/>
              <a:buNone/>
            </a:pPr>
            <a:r>
              <a:rPr lang="en-US" cap="none">
                <a:latin typeface="Aharoni"/>
                <a:ea typeface="Aharoni"/>
                <a:cs typeface="Aharoni"/>
                <a:sym typeface="Aharoni"/>
              </a:rPr>
              <a:t>Under the Guidance of </a:t>
            </a:r>
          </a:p>
          <a:p>
            <a:pPr marL="0" lvl="0" indent="0" algn="ctr" rtl="0">
              <a:spcBef>
                <a:spcPts val="0"/>
              </a:spcBef>
              <a:spcAft>
                <a:spcPts val="0"/>
              </a:spcAft>
              <a:buSzPts val="2400"/>
              <a:buFont typeface="Aharoni"/>
              <a:buNone/>
            </a:pPr>
            <a:r>
              <a:rPr lang="en-US">
                <a:latin typeface="Aharoni"/>
                <a:cs typeface="Aharoni"/>
                <a:sym typeface="Aharoni"/>
              </a:rPr>
              <a:t>Ms. Vanishri S</a:t>
            </a:r>
            <a:endParaRPr/>
          </a:p>
          <a:p>
            <a:pPr marL="0" lvl="0" indent="0" algn="l" rtl="0">
              <a:spcBef>
                <a:spcPts val="480"/>
              </a:spcBef>
              <a:spcAft>
                <a:spcPts val="0"/>
              </a:spcAft>
              <a:buSzPts val="2400"/>
              <a:buFont typeface="Times New Roman"/>
              <a:buNone/>
            </a:pPr>
            <a:endParaRPr cap="none">
              <a:latin typeface="Aharoni"/>
              <a:ea typeface="Aharoni"/>
              <a:cs typeface="Aharoni"/>
              <a:sym typeface="Aharoni"/>
            </a:endParaRPr>
          </a:p>
        </p:txBody>
      </p:sp>
      <p:pic>
        <p:nvPicPr>
          <p:cNvPr id="56" name="Google Shape;56;p1" descr="RNS Institute of Technology, Bangalore: Courses, Fees, Placements, Ranking,  Admission 2021"/>
          <p:cNvPicPr preferRelativeResize="0"/>
          <p:nvPr/>
        </p:nvPicPr>
        <p:blipFill rotWithShape="1">
          <a:blip r:embed="rId3">
            <a:alphaModFix/>
          </a:blip>
          <a:srcRect l="11894" r="16254"/>
          <a:stretch/>
        </p:blipFill>
        <p:spPr>
          <a:xfrm>
            <a:off x="0" y="0"/>
            <a:ext cx="6500553" cy="6858000"/>
          </a:xfrm>
          <a:prstGeom prst="rect">
            <a:avLst/>
          </a:prstGeom>
          <a:noFill/>
          <a:ln>
            <a:noFill/>
          </a:ln>
        </p:spPr>
      </p:pic>
      <p:sp>
        <p:nvSpPr>
          <p:cNvPr id="57" name="Google Shape;57;p1"/>
          <p:cNvSpPr txBox="1"/>
          <p:nvPr/>
        </p:nvSpPr>
        <p:spPr>
          <a:xfrm>
            <a:off x="6700996" y="2743199"/>
            <a:ext cx="5365865" cy="1894789"/>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ctr" rtl="0">
              <a:spcBef>
                <a:spcPts val="0"/>
              </a:spcBef>
              <a:spcAft>
                <a:spcPts val="0"/>
              </a:spcAft>
              <a:buClr>
                <a:schemeClr val="accent2"/>
              </a:buClr>
              <a:buSzPts val="2400"/>
              <a:buFont typeface="Aharoni"/>
              <a:buNone/>
            </a:pPr>
            <a:r>
              <a:rPr lang="en-US" sz="2400" b="0" i="0" u="none" strike="noStrike" cap="none">
                <a:solidFill>
                  <a:srgbClr val="3F3F3F"/>
                </a:solidFill>
                <a:latin typeface="Aharoni"/>
                <a:ea typeface="Aharoni"/>
                <a:cs typeface="Aharoni"/>
                <a:sym typeface="Aharoni"/>
              </a:rPr>
              <a:t>By</a:t>
            </a:r>
            <a:endParaRPr/>
          </a:p>
          <a:p>
            <a:pPr marL="0" marR="0" lvl="0" indent="0" algn="ctr" rtl="0">
              <a:spcBef>
                <a:spcPts val="480"/>
              </a:spcBef>
              <a:spcAft>
                <a:spcPts val="0"/>
              </a:spcAft>
              <a:buClr>
                <a:schemeClr val="accent2"/>
              </a:buClr>
              <a:buSzPts val="2400"/>
              <a:buFont typeface="Aharoni"/>
              <a:buNone/>
            </a:pPr>
            <a:r>
              <a:rPr lang="en-US" sz="2400" b="0" i="0" u="none" strike="noStrike" cap="none">
                <a:solidFill>
                  <a:srgbClr val="3F3F3F"/>
                </a:solidFill>
                <a:latin typeface="Aharoni"/>
                <a:ea typeface="Aharoni"/>
                <a:cs typeface="Aharoni"/>
                <a:sym typeface="Aharoni"/>
              </a:rPr>
              <a:t>Amardeep Kumar	            1RN19IS020</a:t>
            </a:r>
          </a:p>
          <a:p>
            <a:pPr marL="0" marR="0" lvl="0" indent="0" algn="ctr" rtl="0">
              <a:spcBef>
                <a:spcPts val="480"/>
              </a:spcBef>
              <a:spcAft>
                <a:spcPts val="0"/>
              </a:spcAft>
              <a:buClr>
                <a:schemeClr val="accent2"/>
              </a:buClr>
              <a:buSzPts val="2400"/>
              <a:buFont typeface="Aharoni"/>
              <a:buNone/>
            </a:pPr>
            <a:r>
              <a:rPr lang="en-US" sz="2400" b="0" i="0" u="none" strike="noStrike" cap="none">
                <a:solidFill>
                  <a:srgbClr val="3F3F3F"/>
                </a:solidFill>
                <a:latin typeface="Aharoni"/>
                <a:ea typeface="Aharoni"/>
                <a:cs typeface="Aharoni"/>
                <a:sym typeface="Aharoni"/>
              </a:rPr>
              <a:t>Amartya 	                        1RN19IS021</a:t>
            </a:r>
          </a:p>
          <a:p>
            <a:pPr marL="0" marR="0" lvl="0" indent="0" algn="ctr" rtl="0">
              <a:spcBef>
                <a:spcPts val="480"/>
              </a:spcBef>
              <a:spcAft>
                <a:spcPts val="0"/>
              </a:spcAft>
              <a:buClr>
                <a:schemeClr val="accent2"/>
              </a:buClr>
              <a:buSzPts val="2400"/>
              <a:buFont typeface="Aharoni"/>
              <a:buNone/>
            </a:pPr>
            <a:r>
              <a:rPr lang="en-US" sz="2400" b="0" i="0" u="none" strike="noStrike" cap="none">
                <a:solidFill>
                  <a:srgbClr val="3F3F3F"/>
                </a:solidFill>
                <a:latin typeface="Aharoni"/>
                <a:ea typeface="Aharoni"/>
                <a:cs typeface="Aharoni"/>
                <a:sym typeface="Aharoni"/>
              </a:rPr>
              <a:t>Anushka Jaiswal 	             1RN19IS035</a:t>
            </a:r>
          </a:p>
          <a:p>
            <a:pPr marL="0" marR="0" lvl="0" indent="0" algn="ctr" rtl="0">
              <a:spcBef>
                <a:spcPts val="480"/>
              </a:spcBef>
              <a:spcAft>
                <a:spcPts val="0"/>
              </a:spcAft>
              <a:buClr>
                <a:schemeClr val="accent2"/>
              </a:buClr>
              <a:buSzPts val="2400"/>
              <a:buFont typeface="Aharoni"/>
              <a:buNone/>
            </a:pPr>
            <a:r>
              <a:rPr lang="en-US" sz="2400" b="0" i="0" u="none" strike="noStrike" cap="none">
                <a:solidFill>
                  <a:srgbClr val="3F3F3F"/>
                </a:solidFill>
                <a:latin typeface="Aharoni"/>
                <a:ea typeface="Aharoni"/>
                <a:cs typeface="Aharoni"/>
                <a:sym typeface="Aharoni"/>
              </a:rPr>
              <a:t>Devendra Upadhyay	 1RN19IS056</a:t>
            </a:r>
            <a:endParaRPr sz="2400"/>
          </a:p>
          <a:p>
            <a:pPr marL="0" marR="0" lvl="0" indent="0" algn="l" rtl="0">
              <a:spcBef>
                <a:spcPts val="480"/>
              </a:spcBef>
              <a:spcAft>
                <a:spcPts val="0"/>
              </a:spcAft>
              <a:buClr>
                <a:schemeClr val="accent2"/>
              </a:buClr>
              <a:buSzPts val="2400"/>
              <a:buFont typeface="Times New Roman"/>
              <a:buNone/>
            </a:pPr>
            <a:endParaRPr sz="2400" b="0" i="0" u="none" strike="noStrike" cap="none">
              <a:solidFill>
                <a:srgbClr val="3F3F3F"/>
              </a:solidFill>
              <a:latin typeface="Aharoni"/>
              <a:ea typeface="Aharoni"/>
              <a:cs typeface="Aharoni"/>
              <a:sym typeface="Aharoni"/>
            </a:endParaRPr>
          </a:p>
        </p:txBody>
      </p:sp>
      <p:sp>
        <p:nvSpPr>
          <p:cNvPr id="58" name="Google Shape;58;p1"/>
          <p:cNvSpPr/>
          <p:nvPr/>
        </p:nvSpPr>
        <p:spPr>
          <a:xfrm>
            <a:off x="0" y="137655"/>
            <a:ext cx="6500553"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dirty="0">
                <a:solidFill>
                  <a:srgbClr val="191966"/>
                </a:solidFill>
                <a:effectLst>
                  <a:outerShdw blurRad="38100" dist="38100" dir="2700000" algn="tl">
                    <a:srgbClr val="000000">
                      <a:alpha val="43137"/>
                    </a:srgbClr>
                  </a:outerShdw>
                </a:effectLst>
                <a:sym typeface="Arial"/>
              </a:rPr>
              <a:t>National Conference </a:t>
            </a:r>
            <a:endParaRPr b="1" dirty="0">
              <a:effectLst>
                <a:outerShdw blurRad="38100" dist="38100" dir="2700000" algn="tl">
                  <a:srgbClr val="000000">
                    <a:alpha val="43137"/>
                  </a:srgbClr>
                </a:outerShdw>
              </a:effectLst>
            </a:endParaRPr>
          </a:p>
          <a:p>
            <a:pPr marL="0" marR="0" lvl="0" indent="0" algn="ctr" rtl="0">
              <a:spcBef>
                <a:spcPts val="0"/>
              </a:spcBef>
              <a:spcAft>
                <a:spcPts val="0"/>
              </a:spcAft>
              <a:buNone/>
            </a:pPr>
            <a:r>
              <a:rPr lang="en-US" sz="2400" b="1" i="0" u="none" strike="noStrike" cap="none" dirty="0">
                <a:solidFill>
                  <a:srgbClr val="191966"/>
                </a:solidFill>
                <a:latin typeface="Arial"/>
                <a:ea typeface="Arial"/>
                <a:cs typeface="Arial"/>
                <a:sym typeface="Arial"/>
              </a:rPr>
              <a:t>on</a:t>
            </a:r>
            <a:endParaRPr dirty="0"/>
          </a:p>
          <a:p>
            <a:pPr marL="0" marR="0" lvl="0" indent="0" algn="ctr" rtl="0">
              <a:spcBef>
                <a:spcPts val="0"/>
              </a:spcBef>
              <a:spcAft>
                <a:spcPts val="0"/>
              </a:spcAft>
              <a:buNone/>
            </a:pPr>
            <a:r>
              <a:rPr lang="en-US" sz="2400" b="1" i="0" u="none" strike="noStrike" cap="none" dirty="0">
                <a:solidFill>
                  <a:srgbClr val="191966"/>
                </a:solidFill>
                <a:effectLst>
                  <a:outerShdw blurRad="38100" dist="38100" dir="2700000" algn="tl">
                    <a:srgbClr val="000000">
                      <a:alpha val="43137"/>
                    </a:srgbClr>
                  </a:outerShdw>
                </a:effectLst>
                <a:latin typeface="Arial"/>
                <a:ea typeface="Arial"/>
                <a:cs typeface="Arial"/>
                <a:sym typeface="Arial"/>
              </a:rPr>
              <a:t>Computing Technology - 2023 (NCCT'2</a:t>
            </a:r>
            <a:r>
              <a:rPr lang="en-US" sz="2400" b="1" dirty="0">
                <a:solidFill>
                  <a:srgbClr val="191966"/>
                </a:solidFill>
                <a:effectLst>
                  <a:outerShdw blurRad="38100" dist="38100" dir="2700000" algn="tl">
                    <a:srgbClr val="000000">
                      <a:alpha val="43137"/>
                    </a:srgbClr>
                  </a:outerShdw>
                </a:effectLst>
              </a:rPr>
              <a:t>3</a:t>
            </a:r>
            <a:r>
              <a:rPr lang="en-US" sz="2400" b="1" i="0" u="none" strike="noStrike" cap="none" dirty="0">
                <a:solidFill>
                  <a:srgbClr val="191966"/>
                </a:solidFill>
                <a:effectLst>
                  <a:outerShdw blurRad="38100" dist="38100" dir="2700000" algn="tl">
                    <a:srgbClr val="000000">
                      <a:alpha val="43137"/>
                    </a:srgbClr>
                  </a:outerShdw>
                </a:effectLst>
                <a:sym typeface="Arial"/>
              </a:rPr>
              <a:t>)</a:t>
            </a:r>
            <a:endParaRPr dirty="0">
              <a:effectLst>
                <a:outerShdw blurRad="38100" dist="38100" dir="2700000" algn="tl">
                  <a:srgbClr val="000000">
                    <a:alpha val="43137"/>
                  </a:srgbClr>
                </a:outerShdw>
              </a:effectLst>
            </a:endParaRPr>
          </a:p>
        </p:txBody>
      </p:sp>
      <p:sp>
        <p:nvSpPr>
          <p:cNvPr id="59" name="Google Shape;59;p1"/>
          <p:cNvSpPr txBox="1"/>
          <p:nvPr/>
        </p:nvSpPr>
        <p:spPr>
          <a:xfrm>
            <a:off x="6594764" y="632771"/>
            <a:ext cx="5368636" cy="521110"/>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FF0000"/>
              </a:buClr>
              <a:buSzPts val="3000"/>
              <a:buFont typeface="Times New Roman"/>
              <a:buNone/>
            </a:pPr>
            <a:r>
              <a:rPr lang="en-US" sz="3000" b="1" i="0" u="none" strike="noStrike" cap="none">
                <a:solidFill>
                  <a:srgbClr val="FF0000"/>
                </a:solidFill>
                <a:latin typeface="Times New Roman"/>
                <a:ea typeface="Times New Roman"/>
                <a:cs typeface="Times New Roman"/>
                <a:sym typeface="Times New Roman"/>
              </a:rPr>
              <a:t>PI239</a:t>
            </a:r>
            <a:endParaRPr sz="3000" b="1" i="0" u="none" strike="noStrike" cap="none">
              <a:solidFill>
                <a:srgbClr val="191966"/>
              </a:solidFill>
              <a:latin typeface="Times New Roman"/>
              <a:ea typeface="Times New Roman"/>
              <a:cs typeface="Times New Roman"/>
              <a:sym typeface="Times New Roman"/>
            </a:endParaRPr>
          </a:p>
        </p:txBody>
      </p:sp>
      <p:sp>
        <p:nvSpPr>
          <p:cNvPr id="60" name="Google Shape;60;p1"/>
          <p:cNvSpPr txBox="1">
            <a:spLocks noGrp="1"/>
          </p:cNvSpPr>
          <p:nvPr>
            <p:ph type="sldNum" idx="12"/>
          </p:nvPr>
        </p:nvSpPr>
        <p:spPr>
          <a:xfrm>
            <a:off x="8763976" y="6248400"/>
            <a:ext cx="3190321"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Contents</a:t>
            </a:r>
            <a:endParaRPr dirty="0"/>
          </a:p>
        </p:txBody>
      </p:sp>
      <p:sp>
        <p:nvSpPr>
          <p:cNvPr id="68" name="Google Shape;68;p2"/>
          <p:cNvSpPr txBox="1">
            <a:spLocks noGrp="1"/>
          </p:cNvSpPr>
          <p:nvPr>
            <p:ph type="body" idx="1"/>
          </p:nvPr>
        </p:nvSpPr>
        <p:spPr>
          <a:xfrm>
            <a:off x="947057" y="999241"/>
            <a:ext cx="10997569" cy="4958500"/>
          </a:xfrm>
          <a:prstGeom prst="rect">
            <a:avLst/>
          </a:prstGeom>
          <a:noFill/>
          <a:ln>
            <a:noFill/>
          </a:ln>
        </p:spPr>
        <p:txBody>
          <a:bodyPr spcFirstLastPara="1" wrap="square" lIns="91425" tIns="45700" rIns="91425" bIns="45700" anchor="t" anchorCtr="0">
            <a:noAutofit/>
          </a:bodyPr>
          <a:lstStyle/>
          <a:p>
            <a:pPr marL="355600" indent="-355600">
              <a:buFont typeface="Wingdings" pitchFamily="2" charset="2"/>
              <a:buChar char="q"/>
            </a:pPr>
            <a:r>
              <a:rPr lang="en-IN" sz="2200">
                <a:latin typeface="Times New Roman" pitchFamily="18" charset="0"/>
                <a:cs typeface="Times New Roman" pitchFamily="18" charset="0"/>
              </a:rPr>
              <a:t>Abstract</a:t>
            </a:r>
          </a:p>
          <a:p>
            <a:pPr marL="355600" indent="-355600">
              <a:buFont typeface="Wingdings" pitchFamily="2" charset="2"/>
              <a:buChar char="q"/>
            </a:pPr>
            <a:r>
              <a:rPr lang="en-IN" sz="2200">
                <a:latin typeface="Times New Roman" pitchFamily="18" charset="0"/>
                <a:cs typeface="Times New Roman" pitchFamily="18" charset="0"/>
              </a:rPr>
              <a:t>Introduction</a:t>
            </a:r>
          </a:p>
          <a:p>
            <a:pPr marL="355600" indent="-355600">
              <a:buFont typeface="Wingdings" pitchFamily="2" charset="2"/>
              <a:buChar char="q"/>
            </a:pPr>
            <a:r>
              <a:rPr lang="en-IN" sz="2200">
                <a:latin typeface="Times New Roman" pitchFamily="18" charset="0"/>
                <a:cs typeface="Times New Roman" pitchFamily="18" charset="0"/>
              </a:rPr>
              <a:t>Literature Survey</a:t>
            </a:r>
          </a:p>
          <a:p>
            <a:pPr marL="355600" indent="-355600">
              <a:buFont typeface="Wingdings" pitchFamily="2" charset="2"/>
              <a:buChar char="q"/>
            </a:pPr>
            <a:r>
              <a:rPr lang="en-IN" sz="2200">
                <a:latin typeface="Times New Roman" pitchFamily="18" charset="0"/>
                <a:cs typeface="Times New Roman" pitchFamily="18" charset="0"/>
              </a:rPr>
              <a:t>Problem Identification</a:t>
            </a:r>
          </a:p>
          <a:p>
            <a:pPr marL="355600" indent="-355600">
              <a:buFont typeface="Wingdings" pitchFamily="2" charset="2"/>
              <a:buChar char="q"/>
            </a:pPr>
            <a:r>
              <a:rPr lang="en-IN" sz="2200">
                <a:latin typeface="Times New Roman" pitchFamily="18" charset="0"/>
                <a:cs typeface="Times New Roman" pitchFamily="18" charset="0"/>
              </a:rPr>
              <a:t>Objective</a:t>
            </a:r>
          </a:p>
          <a:p>
            <a:pPr marL="355600" indent="-355600">
              <a:buFont typeface="Wingdings" pitchFamily="2" charset="2"/>
              <a:buChar char="q"/>
            </a:pPr>
            <a:r>
              <a:rPr lang="en-IN" sz="2200">
                <a:latin typeface="Times New Roman" pitchFamily="18" charset="0"/>
                <a:cs typeface="Times New Roman" pitchFamily="18" charset="0"/>
              </a:rPr>
              <a:t>Methodology</a:t>
            </a:r>
          </a:p>
          <a:p>
            <a:pPr marL="355600" indent="-355600">
              <a:buFont typeface="Wingdings" pitchFamily="2" charset="2"/>
              <a:buChar char="q"/>
            </a:pPr>
            <a:r>
              <a:rPr lang="en-IN" sz="2200">
                <a:latin typeface="Times New Roman" pitchFamily="18" charset="0"/>
                <a:cs typeface="Times New Roman" pitchFamily="18" charset="0"/>
              </a:rPr>
              <a:t>System Design</a:t>
            </a:r>
          </a:p>
          <a:p>
            <a:pPr marL="355600" indent="-355600">
              <a:buFont typeface="Wingdings" pitchFamily="2" charset="2"/>
              <a:buChar char="q"/>
            </a:pPr>
            <a:r>
              <a:rPr lang="en-IN" sz="2200">
                <a:latin typeface="Times New Roman" pitchFamily="18" charset="0"/>
                <a:cs typeface="Times New Roman" pitchFamily="18" charset="0"/>
              </a:rPr>
              <a:t>Implementation</a:t>
            </a:r>
          </a:p>
          <a:p>
            <a:pPr marL="355600" indent="-355600">
              <a:buFont typeface="Wingdings" pitchFamily="2" charset="2"/>
              <a:buChar char="q"/>
            </a:pPr>
            <a:r>
              <a:rPr lang="en-IN" sz="2200">
                <a:latin typeface="Times New Roman" pitchFamily="18" charset="0"/>
                <a:cs typeface="Times New Roman" pitchFamily="18" charset="0"/>
              </a:rPr>
              <a:t>Conclusion </a:t>
            </a:r>
          </a:p>
          <a:p>
            <a:pPr marL="355600" indent="-355600">
              <a:buFont typeface="Wingdings" pitchFamily="2" charset="2"/>
              <a:buChar char="q"/>
            </a:pPr>
            <a:r>
              <a:rPr lang="en-IN" sz="2200">
                <a:latin typeface="Times New Roman" pitchFamily="18" charset="0"/>
                <a:cs typeface="Times New Roman" pitchFamily="18" charset="0"/>
              </a:rPr>
              <a:t>Future Enhancements</a:t>
            </a:r>
          </a:p>
          <a:p>
            <a:pPr marL="355600" indent="-355600">
              <a:buFont typeface="Wingdings" pitchFamily="2" charset="2"/>
              <a:buChar char="q"/>
            </a:pPr>
            <a:r>
              <a:rPr lang="en-IN" sz="2200">
                <a:latin typeface="Times New Roman" pitchFamily="18" charset="0"/>
                <a:cs typeface="Times New Roman" pitchFamily="18" charset="0"/>
              </a:rPr>
              <a:t>References</a:t>
            </a:r>
          </a:p>
          <a:p>
            <a:pPr marL="355600" indent="-355600">
              <a:buFont typeface="Wingdings" pitchFamily="2" charset="2"/>
              <a:buChar char="q"/>
            </a:pPr>
            <a:r>
              <a:rPr lang="en-IN" sz="2200">
                <a:latin typeface="Times New Roman" pitchFamily="18" charset="0"/>
                <a:cs typeface="Times New Roman" pitchFamily="18" charset="0"/>
              </a:rPr>
              <a:t>Q &amp; A</a:t>
            </a:r>
            <a:endParaRPr lang="en-IN" sz="2200"/>
          </a:p>
          <a:p>
            <a:pPr algn="just">
              <a:lnSpc>
                <a:spcPct val="150000"/>
              </a:lnSpc>
              <a:buFont typeface="Wingdings" panose="05000000000000000000" pitchFamily="2" charset="2"/>
              <a:buChar char="Ø"/>
            </a:pPr>
            <a:endParaRPr lang="en-US" sz="2200" b="0" i="0">
              <a:effectLst/>
              <a:latin typeface="Times New Roman" panose="02020603050405020304" pitchFamily="18" charset="0"/>
              <a:cs typeface="Times New Roman" panose="02020603050405020304" pitchFamily="18" charset="0"/>
            </a:endParaRP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1923694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Abstract</a:t>
            </a:r>
            <a:endParaRPr dirty="0"/>
          </a:p>
        </p:txBody>
      </p:sp>
      <p:sp>
        <p:nvSpPr>
          <p:cNvPr id="68" name="Google Shape;68;p2"/>
          <p:cNvSpPr txBox="1">
            <a:spLocks noGrp="1"/>
          </p:cNvSpPr>
          <p:nvPr>
            <p:ph type="body" idx="1"/>
          </p:nvPr>
        </p:nvSpPr>
        <p:spPr>
          <a:xfrm>
            <a:off x="452488" y="1143000"/>
            <a:ext cx="11236750" cy="4814741"/>
          </a:xfrm>
          <a:prstGeom prst="rect">
            <a:avLst/>
          </a:prstGeom>
          <a:noFill/>
          <a:ln>
            <a:noFill/>
          </a:ln>
        </p:spPr>
        <p:txBody>
          <a:bodyPr spcFirstLastPara="1" wrap="square" lIns="91425" tIns="45700" rIns="91425" bIns="45700" anchor="t" anchorCtr="0">
            <a:noAutofit/>
          </a:bodyPr>
          <a:lstStyle/>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India is a fast-developing country, but its traffic management is ineffective, leading to road congestion in metropolitan cities like Bengaluru.</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Ambulance services are severely affected by traffic jams, resulting in loss of lives as they fail to reach their destination on time.</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Li-Fi, a form of bi-directional Visible Light Communication, can be used to implement an efficient and feasible traffic management system.</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Li-Fi-based communication systems can provide faster communication for emergency vehicles such as ambulances, firefighting trucks, and police vehicles, especially in traffic-dense areas.</a:t>
            </a:r>
            <a:endParaRPr lang="en-US" sz="2200">
              <a:latin typeface="Times New Roman" panose="02020603050405020304" pitchFamily="18" charset="0"/>
              <a:cs typeface="Times New Roman" panose="02020603050405020304" pitchFamily="18" charset="0"/>
            </a:endParaRP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58319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Introduction</a:t>
            </a:r>
            <a:endParaRPr dirty="0"/>
          </a:p>
        </p:txBody>
      </p:sp>
      <p:sp>
        <p:nvSpPr>
          <p:cNvPr id="68" name="Google Shape;68;p2"/>
          <p:cNvSpPr txBox="1">
            <a:spLocks noGrp="1"/>
          </p:cNvSpPr>
          <p:nvPr>
            <p:ph type="body" idx="1"/>
          </p:nvPr>
        </p:nvSpPr>
        <p:spPr>
          <a:xfrm>
            <a:off x="452488" y="1143000"/>
            <a:ext cx="11236750" cy="4814741"/>
          </a:xfrm>
          <a:prstGeom prst="rect">
            <a:avLst/>
          </a:prstGeom>
          <a:noFill/>
          <a:ln>
            <a:noFill/>
          </a:ln>
        </p:spPr>
        <p:txBody>
          <a:bodyPr spcFirstLastPara="1" wrap="square" lIns="91425" tIns="45700" rIns="91425" bIns="45700" anchor="t" anchorCtr="0">
            <a:noAutofit/>
          </a:bodyPr>
          <a:lstStyle/>
          <a:p>
            <a:pPr algn="just">
              <a:lnSpc>
                <a:spcPct val="120000"/>
              </a:lnSpc>
              <a:buNone/>
            </a:pPr>
            <a:r>
              <a:rPr lang="en-US" sz="2200" b="1">
                <a:latin typeface="Times New Roman" pitchFamily="18" charset="0"/>
                <a:cs typeface="Times New Roman" pitchFamily="18" charset="0"/>
              </a:rPr>
              <a:t>BACKGROUND</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Visible light communication (VLC) is an emerging platform that uses visible light frequencies between 400 and 800 THz.</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Li-Fi is a VLC protocol that uses LED bulbs as the principle source of light, which can be modulated at very high speeds to transmit data.</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Wireless communication relies solely on radio waves, but the spectrum is congested and expensive and an alternative is needed.</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Gamma rays, X-rays, infra-red, and ultraviolet rays cannot be used for V2V communication due to their harmful effects on human body.</a:t>
            </a:r>
            <a:endParaRPr lang="en-US" sz="2200" b="1" dirty="0">
              <a:latin typeface="Times New Roman" pitchFamily="18" charset="0"/>
              <a:cs typeface="Times New Roman" pitchFamily="18" charset="0"/>
            </a:endParaRP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695683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Introduction</a:t>
            </a:r>
            <a:endParaRPr dirty="0"/>
          </a:p>
        </p:txBody>
      </p:sp>
      <p:sp>
        <p:nvSpPr>
          <p:cNvPr id="68" name="Google Shape;68;p2"/>
          <p:cNvSpPr txBox="1">
            <a:spLocks noGrp="1"/>
          </p:cNvSpPr>
          <p:nvPr>
            <p:ph type="body" idx="1"/>
          </p:nvPr>
        </p:nvSpPr>
        <p:spPr>
          <a:xfrm>
            <a:off x="452488" y="961534"/>
            <a:ext cx="11236750" cy="4996208"/>
          </a:xfrm>
          <a:prstGeom prst="rect">
            <a:avLst/>
          </a:prstGeom>
          <a:noFill/>
          <a:ln>
            <a:noFill/>
          </a:ln>
        </p:spPr>
        <p:txBody>
          <a:bodyPr spcFirstLastPara="1" wrap="square" lIns="91425" tIns="45700" rIns="91425" bIns="45700" anchor="t" anchorCtr="0">
            <a:noAutofit/>
          </a:bodyPr>
          <a:lstStyle/>
          <a:p>
            <a:pPr algn="just">
              <a:lnSpc>
                <a:spcPct val="120000"/>
              </a:lnSpc>
              <a:buNone/>
            </a:pPr>
            <a:r>
              <a:rPr lang="en-US" sz="2200" b="1">
                <a:latin typeface="Times New Roman" pitchFamily="18" charset="0"/>
                <a:cs typeface="Times New Roman" pitchFamily="18" charset="0"/>
              </a:rPr>
              <a:t>EXISTING SYSTEM</a:t>
            </a:r>
          </a:p>
          <a:p>
            <a:pPr algn="just">
              <a:lnSpc>
                <a:spcPct val="150000"/>
              </a:lnSpc>
              <a:spcAft>
                <a:spcPts val="1800"/>
              </a:spcAft>
            </a:pPr>
            <a:r>
              <a:rPr lang="en-US" sz="2200" b="1" i="0">
                <a:effectLst/>
                <a:latin typeface="Times New Roman" panose="02020603050405020304" pitchFamily="18" charset="0"/>
                <a:cs typeface="Times New Roman" panose="02020603050405020304" pitchFamily="18" charset="0"/>
              </a:rPr>
              <a:t>Manual control</a:t>
            </a:r>
            <a:r>
              <a:rPr lang="en-US" sz="2200" b="0" i="0">
                <a:effectLst/>
                <a:latin typeface="Times New Roman" panose="02020603050405020304" pitchFamily="18" charset="0"/>
                <a:cs typeface="Times New Roman" panose="02020603050405020304" pitchFamily="18" charset="0"/>
              </a:rPr>
              <a:t>: involves human operator who changes signal timing based on judgment of traffic flow, but is susceptible to human error leading to inefficiencies and delays.</a:t>
            </a:r>
          </a:p>
          <a:p>
            <a:pPr algn="just">
              <a:lnSpc>
                <a:spcPct val="150000"/>
              </a:lnSpc>
              <a:spcAft>
                <a:spcPts val="1800"/>
              </a:spcAft>
            </a:pPr>
            <a:r>
              <a:rPr lang="en-US" sz="2200" b="1" i="0">
                <a:effectLst/>
                <a:latin typeface="Times New Roman" panose="02020603050405020304" pitchFamily="18" charset="0"/>
                <a:cs typeface="Times New Roman" panose="02020603050405020304" pitchFamily="18" charset="0"/>
              </a:rPr>
              <a:t>Fixed-time control</a:t>
            </a:r>
            <a:r>
              <a:rPr lang="en-US" sz="2200" b="0" i="0">
                <a:effectLst/>
                <a:latin typeface="Times New Roman" panose="02020603050405020304" pitchFamily="18" charset="0"/>
                <a:cs typeface="Times New Roman" panose="02020603050405020304" pitchFamily="18" charset="0"/>
              </a:rPr>
              <a:t>: pre-determined and fixed signal timing regardless of traffic volume, easy to implement but can cause delays and congestion during peak traffic periods.</a:t>
            </a:r>
          </a:p>
          <a:p>
            <a:pPr algn="just">
              <a:lnSpc>
                <a:spcPct val="150000"/>
              </a:lnSpc>
            </a:pPr>
            <a:r>
              <a:rPr lang="en-US" sz="2200" b="1" i="0">
                <a:effectLst/>
                <a:latin typeface="Times New Roman" panose="02020603050405020304" pitchFamily="18" charset="0"/>
                <a:cs typeface="Times New Roman" panose="02020603050405020304" pitchFamily="18" charset="0"/>
              </a:rPr>
              <a:t>Actuated control</a:t>
            </a:r>
            <a:r>
              <a:rPr lang="en-US" sz="2200" b="0" i="0">
                <a:effectLst/>
                <a:latin typeface="Times New Roman" panose="02020603050405020304" pitchFamily="18" charset="0"/>
                <a:cs typeface="Times New Roman" panose="02020603050405020304" pitchFamily="18" charset="0"/>
              </a:rPr>
              <a:t>: Actuated control is a method that utilizes sensors to detect the presence of vehicles or pedestrians at the intersection and adjust the signal timing based on real-time traffic flow. However, this method is not specifically focused on emergency vehicles and their need for priority in traffic signal control.</a:t>
            </a:r>
            <a:endParaRPr lang="en-US" sz="2200" b="1" dirty="0">
              <a:latin typeface="Times New Roman" pitchFamily="18" charset="0"/>
              <a:cs typeface="Times New Roman" pitchFamily="18" charset="0"/>
            </a:endParaRP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552817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Introduction</a:t>
            </a:r>
            <a:endParaRPr dirty="0"/>
          </a:p>
        </p:txBody>
      </p:sp>
      <p:sp>
        <p:nvSpPr>
          <p:cNvPr id="68" name="Google Shape;68;p2"/>
          <p:cNvSpPr txBox="1">
            <a:spLocks noGrp="1"/>
          </p:cNvSpPr>
          <p:nvPr>
            <p:ph type="body" idx="1"/>
          </p:nvPr>
        </p:nvSpPr>
        <p:spPr>
          <a:xfrm>
            <a:off x="452488" y="961534"/>
            <a:ext cx="11236750" cy="4996208"/>
          </a:xfrm>
          <a:prstGeom prst="rect">
            <a:avLst/>
          </a:prstGeom>
          <a:noFill/>
          <a:ln>
            <a:noFill/>
          </a:ln>
        </p:spPr>
        <p:txBody>
          <a:bodyPr spcFirstLastPara="1" wrap="square" lIns="91425" tIns="45700" rIns="91425" bIns="45700" anchor="t" anchorCtr="0">
            <a:noAutofit/>
          </a:bodyPr>
          <a:lstStyle/>
          <a:p>
            <a:pPr marL="76200" indent="0" algn="just">
              <a:lnSpc>
                <a:spcPct val="150000"/>
              </a:lnSpc>
              <a:spcAft>
                <a:spcPts val="1800"/>
              </a:spcAft>
              <a:buNone/>
            </a:pPr>
            <a:r>
              <a:rPr lang="en-IN" sz="2200" b="1">
                <a:latin typeface="Times New Roman" panose="02020603050405020304" pitchFamily="18" charset="0"/>
                <a:cs typeface="Times New Roman" pitchFamily="18" charset="0"/>
              </a:rPr>
              <a:t>PROPOSED SYSTEM</a:t>
            </a:r>
          </a:p>
          <a:p>
            <a:pPr marL="285750" indent="-285750"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LED-based LiFi transmitters will be installed in emergency vehicles, which will communicate with LiFi receivers installed in the traffic signal poles.</a:t>
            </a:r>
          </a:p>
          <a:p>
            <a:pPr marL="285750" indent="-285750"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The system will use LiFi communication technology to transmit information about the emergency vehicle's location and direction to the traffic signal controller.</a:t>
            </a:r>
          </a:p>
          <a:p>
            <a:pPr marL="285750" indent="-285750"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The traffic signal controller will analyze the received data and automatically adjust the signal timing to give priority to the emergency vehicle.</a:t>
            </a:r>
          </a:p>
          <a:p>
            <a:pPr marL="285750" indent="-285750"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The proposed system is cost-effective, reliable, and efficient compared to traditional traffic signal control systems.</a:t>
            </a: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413236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6"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Literature Survey</a:t>
            </a:r>
            <a:endParaRPr dirty="0"/>
          </a:p>
        </p:txBody>
      </p:sp>
      <p:sp>
        <p:nvSpPr>
          <p:cNvPr id="69" name="Google Shape;69;p2"/>
          <p:cNvSpPr txBox="1">
            <a:spLocks noGrp="1"/>
          </p:cNvSpPr>
          <p:nvPr>
            <p:ph type="ftr" idx="11"/>
          </p:nvPr>
        </p:nvSpPr>
        <p:spPr>
          <a:xfrm>
            <a:off x="221932"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4"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graphicFrame>
        <p:nvGraphicFramePr>
          <p:cNvPr id="3" name="Table 2">
            <a:extLst>
              <a:ext uri="{FF2B5EF4-FFF2-40B4-BE49-F238E27FC236}">
                <a16:creationId xmlns:a16="http://schemas.microsoft.com/office/drawing/2014/main" id="{B7AA43F7-1FE8-3E0B-BE14-02FD1D3244AF}"/>
              </a:ext>
            </a:extLst>
          </p:cNvPr>
          <p:cNvGraphicFramePr>
            <a:graphicFrameLocks noGrp="1"/>
          </p:cNvGraphicFramePr>
          <p:nvPr>
            <p:extLst>
              <p:ext uri="{D42A27DB-BD31-4B8C-83A1-F6EECF244321}">
                <p14:modId xmlns:p14="http://schemas.microsoft.com/office/powerpoint/2010/main" val="1500673996"/>
              </p:ext>
            </p:extLst>
          </p:nvPr>
        </p:nvGraphicFramePr>
        <p:xfrm>
          <a:off x="838201" y="1196752"/>
          <a:ext cx="10515599" cy="4657654"/>
        </p:xfrm>
        <a:graphic>
          <a:graphicData uri="http://schemas.openxmlformats.org/drawingml/2006/table">
            <a:tbl>
              <a:tblPr firstRow="1" bandRow="1">
                <a:tableStyleId>{5C22544A-7EE6-4342-B048-85BDC9FD1C3A}</a:tableStyleId>
              </a:tblPr>
              <a:tblGrid>
                <a:gridCol w="671207">
                  <a:extLst>
                    <a:ext uri="{9D8B030D-6E8A-4147-A177-3AD203B41FA5}">
                      <a16:colId xmlns:a16="http://schemas.microsoft.com/office/drawing/2014/main" val="20000"/>
                    </a:ext>
                  </a:extLst>
                </a:gridCol>
                <a:gridCol w="170627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3816424">
                  <a:extLst>
                    <a:ext uri="{9D8B030D-6E8A-4147-A177-3AD203B41FA5}">
                      <a16:colId xmlns:a16="http://schemas.microsoft.com/office/drawing/2014/main" val="20003"/>
                    </a:ext>
                  </a:extLst>
                </a:gridCol>
                <a:gridCol w="1873424">
                  <a:extLst>
                    <a:ext uri="{9D8B030D-6E8A-4147-A177-3AD203B41FA5}">
                      <a16:colId xmlns:a16="http://schemas.microsoft.com/office/drawing/2014/main" val="4055658013"/>
                    </a:ext>
                  </a:extLst>
                </a:gridCol>
              </a:tblGrid>
              <a:tr h="103332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a:solidFill>
                            <a:schemeClr val="tx1"/>
                          </a:solidFill>
                          <a:latin typeface="Times New Roman" panose="02020603050405020304" pitchFamily="18" charset="0"/>
                          <a:cs typeface="Times New Roman" panose="02020603050405020304" pitchFamily="18" charset="0"/>
                        </a:rPr>
                        <a:t>Sl </a:t>
                      </a:r>
                      <a:r>
                        <a:rPr lang="en-IN" sz="1400" dirty="0">
                          <a:solidFill>
                            <a:schemeClr val="tx1"/>
                          </a:solidFill>
                          <a:latin typeface="Times New Roman" panose="02020603050405020304" pitchFamily="18" charset="0"/>
                          <a:cs typeface="Times New Roman" panose="02020603050405020304" pitchFamily="18" charset="0"/>
                        </a:rPr>
                        <a:t>No</a:t>
                      </a:r>
                    </a:p>
                    <a:p>
                      <a:pPr algn="ct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solidFill>
                            <a:schemeClr val="tx1"/>
                          </a:solidFill>
                          <a:latin typeface="Times New Roman" panose="02020603050405020304" pitchFamily="18" charset="0"/>
                          <a:cs typeface="Times New Roman" panose="02020603050405020304" pitchFamily="18" charset="0"/>
                        </a:rPr>
                        <a:t>Title of the paper</a:t>
                      </a:r>
                    </a:p>
                    <a:p>
                      <a:pPr algn="ct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Authors</a:t>
                      </a:r>
                    </a:p>
                    <a:p>
                      <a:pPr algn="ctr"/>
                      <a:r>
                        <a:rPr lang="en-US" sz="1400">
                          <a:solidFill>
                            <a:schemeClr val="tx1"/>
                          </a:solidFill>
                          <a:latin typeface="Times New Roman" panose="02020603050405020304" pitchFamily="18" charset="0"/>
                          <a:cs typeface="Times New Roman" panose="02020603050405020304" pitchFamily="18" charset="0"/>
                        </a:rPr>
                        <a:t>and year of publication</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Summary</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Future Enhancement</a:t>
                      </a:r>
                      <a:endParaRPr lang="en-US"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612651">
                <a:tc>
                  <a:txBody>
                    <a:bodyPr/>
                    <a:lstStyle/>
                    <a:p>
                      <a:pPr algn="ctr"/>
                      <a:r>
                        <a:rPr lang="en-US" sz="1400" dirty="0">
                          <a:solidFill>
                            <a:schemeClr val="tx1"/>
                          </a:solidFill>
                          <a:latin typeface="Times New Roman" panose="02020603050405020304" pitchFamily="18" charset="0"/>
                          <a:cs typeface="Times New Roman" panose="02020603050405020304"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tx1"/>
                          </a:solidFill>
                          <a:effectLst/>
                          <a:latin typeface="+mn-lt"/>
                          <a:ea typeface="+mn-ea"/>
                          <a:cs typeface="+mn-cs"/>
                        </a:rPr>
                        <a:t>A GPS based traffic light pre-emption control system for emergency vehicles</a:t>
                      </a:r>
                    </a:p>
                    <a:p>
                      <a:pPr algn="l"/>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800"/>
                        </a:spcAft>
                      </a:pPr>
                      <a:r>
                        <a:rPr lang="en-IN" sz="1400" b="0" i="0" u="none" strike="noStrike" kern="120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Abubakr S. Eltayeb</a:t>
                      </a:r>
                      <a:r>
                        <a:rPr lang="en-IN" sz="1400" b="0" i="0" kern="1200">
                          <a:solidFill>
                            <a:schemeClr val="tx1"/>
                          </a:solidFill>
                          <a:effectLst/>
                          <a:latin typeface="+mn-lt"/>
                          <a:ea typeface="+mn-ea"/>
                          <a:cs typeface="+mn-cs"/>
                        </a:rPr>
                        <a:t>; </a:t>
                      </a:r>
                      <a:r>
                        <a:rPr lang="en-IN" sz="1400" b="0" i="0" u="none" strike="noStrike" kern="1200">
                          <a:solidFill>
                            <a:schemeClr val="tx1"/>
                          </a:solidFill>
                          <a:effectLst/>
                          <a:latin typeface="+mn-lt"/>
                          <a:ea typeface="+mn-ea"/>
                          <a:cs typeface="+mn-cs"/>
                          <a:hlinkClick r:id="rId4">
                            <a:extLst>
                              <a:ext uri="{A12FA001-AC4F-418D-AE19-62706E023703}">
                                <ahyp:hlinkClr xmlns:ahyp="http://schemas.microsoft.com/office/drawing/2018/hyperlinkcolor" val="tx"/>
                              </a:ext>
                            </a:extLst>
                          </a:hlinkClick>
                        </a:rPr>
                        <a:t>Halla O. Almubarak</a:t>
                      </a:r>
                      <a:r>
                        <a:rPr lang="en-IN" sz="1400" b="0" i="0" kern="1200">
                          <a:solidFill>
                            <a:schemeClr val="tx1"/>
                          </a:solidFill>
                          <a:effectLst/>
                          <a:latin typeface="+mn-lt"/>
                          <a:ea typeface="+mn-ea"/>
                          <a:cs typeface="+mn-cs"/>
                        </a:rPr>
                        <a:t>; </a:t>
                      </a:r>
                      <a:r>
                        <a:rPr lang="en-IN" sz="1400" b="0" i="0" u="sng" kern="1200">
                          <a:solidFill>
                            <a:schemeClr val="tx1"/>
                          </a:solidFill>
                          <a:effectLst/>
                          <a:latin typeface="+mn-lt"/>
                          <a:ea typeface="+mn-ea"/>
                          <a:cs typeface="+mn-cs"/>
                          <a:hlinkClick r:id="rId5">
                            <a:extLst>
                              <a:ext uri="{A12FA001-AC4F-418D-AE19-62706E023703}">
                                <ahyp:hlinkClr xmlns:ahyp="http://schemas.microsoft.com/office/drawing/2018/hyperlinkcolor" val="tx"/>
                              </a:ext>
                            </a:extLst>
                          </a:hlinkClick>
                        </a:rPr>
                        <a:t>Tahani Abdalla Attia</a:t>
                      </a:r>
                      <a:endParaRPr lang="en-IN" sz="1400" b="0" i="0" u="sng" kern="1200">
                        <a:solidFill>
                          <a:schemeClr val="tx1"/>
                        </a:solidFill>
                        <a:effectLst/>
                        <a:latin typeface="+mn-lt"/>
                        <a:ea typeface="+mn-ea"/>
                        <a:cs typeface="+mn-cs"/>
                      </a:endParaRPr>
                    </a:p>
                    <a:p>
                      <a:pPr algn="l">
                        <a:lnSpc>
                          <a:spcPct val="100000"/>
                        </a:lnSpc>
                        <a:spcAft>
                          <a:spcPts val="800"/>
                        </a:spcAft>
                      </a:pPr>
                      <a:r>
                        <a:rPr lang="en-IN" sz="1400" b="0" i="0" u="sng" kern="1200">
                          <a:solidFill>
                            <a:schemeClr val="tx1"/>
                          </a:solidFill>
                          <a:effectLst/>
                          <a:latin typeface="+mn-lt"/>
                          <a:ea typeface="+mn-ea"/>
                          <a:cs typeface="+mn-cs"/>
                        </a:rPr>
                        <a:t>2013</a:t>
                      </a: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tx1"/>
                          </a:solidFill>
                          <a:latin typeface="+mn-lt"/>
                          <a:ea typeface="+mn-ea"/>
                          <a:cs typeface="+mn-cs"/>
                        </a:rPr>
                        <a:t>The design and implementation of an automatic preemption traffic control system, based on the global positioning system satellites.</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kern="1200">
                          <a:solidFill>
                            <a:schemeClr val="tx1"/>
                          </a:solidFill>
                          <a:effectLst/>
                          <a:latin typeface="+mn-lt"/>
                          <a:ea typeface="Calibri" panose="020F0502020204030204" pitchFamily="34" charset="0"/>
                          <a:cs typeface="Times New Roman" panose="02020603050405020304" pitchFamily="18" charset="0"/>
                        </a:rPr>
                        <a:t>Gps requires a lot of energy</a:t>
                      </a:r>
                      <a:r>
                        <a:rPr lang="en-US" sz="1400" b="0" kern="12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0001"/>
                  </a:ext>
                </a:extLst>
              </a:tr>
              <a:tr h="1281575">
                <a:tc>
                  <a:txBody>
                    <a:bodyPr/>
                    <a:lstStyle/>
                    <a:p>
                      <a:pPr algn="ctr"/>
                      <a:r>
                        <a:rPr lang="en-US" sz="1400" dirty="0">
                          <a:solidFill>
                            <a:schemeClr val="tx1"/>
                          </a:solidFill>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tx1"/>
                          </a:solidFill>
                          <a:latin typeface="+mn-lt"/>
                          <a:ea typeface="+mn-ea"/>
                          <a:cs typeface="Times New Roman" panose="02020603050405020304" pitchFamily="18" charset="0"/>
                        </a:rPr>
                        <a:t>Implementing Intelligent Traffic Control System for Congestion Control, Ambulance Clearance and Stolen Vehicle Detection</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7000"/>
                        </a:lnSpc>
                        <a:spcAft>
                          <a:spcPts val="800"/>
                        </a:spcAft>
                      </a:pPr>
                      <a:r>
                        <a:rPr lang="en-IN" sz="1400" b="0" kern="1200">
                          <a:solidFill>
                            <a:schemeClr val="tx1"/>
                          </a:solidFill>
                          <a:latin typeface="+mn-lt"/>
                          <a:ea typeface="+mn-ea"/>
                          <a:cs typeface="Times New Roman" panose="02020603050405020304" pitchFamily="18" charset="0"/>
                        </a:rPr>
                        <a:t>Rajeshwari S., Santhoshs Hebbar, Varaprasad Golla</a:t>
                      </a:r>
                    </a:p>
                    <a:p>
                      <a:pPr algn="l">
                        <a:lnSpc>
                          <a:spcPct val="107000"/>
                        </a:lnSpc>
                        <a:spcAft>
                          <a:spcPts val="800"/>
                        </a:spcAft>
                      </a:pPr>
                      <a:r>
                        <a:rPr lang="en-IN" sz="1400" b="0" kern="1200">
                          <a:solidFill>
                            <a:schemeClr val="tx1"/>
                          </a:solidFill>
                          <a:effectLst/>
                          <a:latin typeface="+mn-lt"/>
                          <a:ea typeface="+mn-ea"/>
                          <a:cs typeface="Times New Roman" panose="02020603050405020304" pitchFamily="18" charset="0"/>
                        </a:rPr>
                        <a:t>2015</a:t>
                      </a: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tx1"/>
                          </a:solidFill>
                          <a:effectLst/>
                          <a:latin typeface="+mn-lt"/>
                          <a:ea typeface="+mn-ea"/>
                          <a:cs typeface="Times New Roman" panose="02020603050405020304" pitchFamily="18" charset="0"/>
                        </a:rPr>
                        <a:t>Each individual vehicle is equipped with special radio frequency identification (RFID) tag (placed at a strategic location).They used RFID reader, NSK EDK-125-TTL, and PIC16F877A system-on-chip to read the RFID tags attached to the vehicle. </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tx1"/>
                          </a:solidFill>
                          <a:latin typeface="+mn-lt"/>
                          <a:ea typeface="+mn-ea"/>
                          <a:cs typeface="Times New Roman" panose="02020603050405020304" pitchFamily="18" charset="0"/>
                        </a:rPr>
                        <a:t>Low security offered where RFID messages are prone to unauthorized access.</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endParaRPr lang="en-US"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7589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6"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Literature Survey</a:t>
            </a:r>
            <a:endParaRPr dirty="0"/>
          </a:p>
        </p:txBody>
      </p:sp>
      <p:sp>
        <p:nvSpPr>
          <p:cNvPr id="69" name="Google Shape;69;p2"/>
          <p:cNvSpPr txBox="1">
            <a:spLocks noGrp="1"/>
          </p:cNvSpPr>
          <p:nvPr>
            <p:ph type="ftr" idx="11"/>
          </p:nvPr>
        </p:nvSpPr>
        <p:spPr>
          <a:xfrm>
            <a:off x="221932"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4"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graphicFrame>
        <p:nvGraphicFramePr>
          <p:cNvPr id="3" name="Table 2">
            <a:extLst>
              <a:ext uri="{FF2B5EF4-FFF2-40B4-BE49-F238E27FC236}">
                <a16:creationId xmlns:a16="http://schemas.microsoft.com/office/drawing/2014/main" id="{E8FE31D3-2595-82B4-77DF-5FBC6B1DFEA8}"/>
              </a:ext>
            </a:extLst>
          </p:cNvPr>
          <p:cNvGraphicFramePr>
            <a:graphicFrameLocks noGrp="1"/>
          </p:cNvGraphicFramePr>
          <p:nvPr>
            <p:extLst>
              <p:ext uri="{D42A27DB-BD31-4B8C-83A1-F6EECF244321}">
                <p14:modId xmlns:p14="http://schemas.microsoft.com/office/powerpoint/2010/main" val="2296221353"/>
              </p:ext>
            </p:extLst>
          </p:nvPr>
        </p:nvGraphicFramePr>
        <p:xfrm>
          <a:off x="838201" y="1196752"/>
          <a:ext cx="10515599" cy="4794376"/>
        </p:xfrm>
        <a:graphic>
          <a:graphicData uri="http://schemas.openxmlformats.org/drawingml/2006/table">
            <a:tbl>
              <a:tblPr firstRow="1" bandRow="1">
                <a:tableStyleId>{5C22544A-7EE6-4342-B048-85BDC9FD1C3A}</a:tableStyleId>
              </a:tblPr>
              <a:tblGrid>
                <a:gridCol w="671207">
                  <a:extLst>
                    <a:ext uri="{9D8B030D-6E8A-4147-A177-3AD203B41FA5}">
                      <a16:colId xmlns:a16="http://schemas.microsoft.com/office/drawing/2014/main" val="20000"/>
                    </a:ext>
                  </a:extLst>
                </a:gridCol>
                <a:gridCol w="170627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3816424">
                  <a:extLst>
                    <a:ext uri="{9D8B030D-6E8A-4147-A177-3AD203B41FA5}">
                      <a16:colId xmlns:a16="http://schemas.microsoft.com/office/drawing/2014/main" val="20003"/>
                    </a:ext>
                  </a:extLst>
                </a:gridCol>
                <a:gridCol w="1873424">
                  <a:extLst>
                    <a:ext uri="{9D8B030D-6E8A-4147-A177-3AD203B41FA5}">
                      <a16:colId xmlns:a16="http://schemas.microsoft.com/office/drawing/2014/main" val="4055658013"/>
                    </a:ext>
                  </a:extLst>
                </a:gridCol>
              </a:tblGrid>
              <a:tr h="100041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a:solidFill>
                            <a:schemeClr val="tx1"/>
                          </a:solidFill>
                          <a:latin typeface="Times New Roman" panose="02020603050405020304" pitchFamily="18" charset="0"/>
                          <a:cs typeface="Times New Roman" panose="02020603050405020304" pitchFamily="18" charset="0"/>
                        </a:rPr>
                        <a:t>Sl </a:t>
                      </a:r>
                      <a:r>
                        <a:rPr lang="en-IN" sz="1400" dirty="0">
                          <a:solidFill>
                            <a:schemeClr val="tx1"/>
                          </a:solidFill>
                          <a:latin typeface="Times New Roman" panose="02020603050405020304" pitchFamily="18" charset="0"/>
                          <a:cs typeface="Times New Roman" panose="02020603050405020304" pitchFamily="18" charset="0"/>
                        </a:rPr>
                        <a:t>No</a:t>
                      </a:r>
                    </a:p>
                    <a:p>
                      <a:pPr algn="ct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solidFill>
                            <a:schemeClr val="tx1"/>
                          </a:solidFill>
                          <a:latin typeface="Times New Roman" panose="02020603050405020304" pitchFamily="18" charset="0"/>
                          <a:cs typeface="Times New Roman" panose="02020603050405020304" pitchFamily="18" charset="0"/>
                        </a:rPr>
                        <a:t>Title of the paper</a:t>
                      </a:r>
                    </a:p>
                    <a:p>
                      <a:pPr algn="ct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Authors</a:t>
                      </a:r>
                    </a:p>
                    <a:p>
                      <a:pPr algn="ctr"/>
                      <a:r>
                        <a:rPr lang="en-US" sz="1400">
                          <a:solidFill>
                            <a:schemeClr val="tx1"/>
                          </a:solidFill>
                          <a:latin typeface="Times New Roman" panose="02020603050405020304" pitchFamily="18" charset="0"/>
                          <a:cs typeface="Times New Roman" panose="02020603050405020304" pitchFamily="18" charset="0"/>
                        </a:rPr>
                        <a:t>and year of publication</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Summary</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Future Enhancement</a:t>
                      </a:r>
                      <a:endParaRPr lang="en-US"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561298">
                <a:tc>
                  <a:txBody>
                    <a:bodyPr/>
                    <a:lstStyle/>
                    <a:p>
                      <a:pPr algn="ctr"/>
                      <a:r>
                        <a:rPr lang="en-US" sz="1400">
                          <a:solidFill>
                            <a:schemeClr val="tx1"/>
                          </a:solidFill>
                          <a:latin typeface="Times New Roman" panose="02020603050405020304" pitchFamily="18" charset="0"/>
                          <a:cs typeface="Times New Roman" panose="02020603050405020304" pitchFamily="18" charset="0"/>
                        </a:rPr>
                        <a:t>3.</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tx1"/>
                          </a:solidFill>
                          <a:latin typeface="+mn-lt"/>
                          <a:ea typeface="+mn-ea"/>
                          <a:cs typeface="Times New Roman" panose="02020603050405020304" pitchFamily="18" charset="0"/>
                        </a:rPr>
                        <a:t>GPS and ZigBee Based Traffic Signal Preemption </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IN" sz="1400" b="0" kern="1200">
                          <a:solidFill>
                            <a:schemeClr val="tx1"/>
                          </a:solidFill>
                          <a:latin typeface="+mn-lt"/>
                          <a:ea typeface="+mn-ea"/>
                          <a:cs typeface="Times New Roman" panose="02020603050405020304" pitchFamily="18" charset="0"/>
                        </a:rPr>
                        <a:t>Vineeth Kodire, Sreebha Bhaskaran, Vishwas H.N. </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lnSpc>
                          <a:spcPct val="100000"/>
                        </a:lnSpc>
                        <a:spcAft>
                          <a:spcPts val="800"/>
                        </a:spcAft>
                      </a:pPr>
                      <a:r>
                        <a:rPr lang="en-IN" sz="1400" b="0" i="0" u="sng" kern="1200">
                          <a:solidFill>
                            <a:schemeClr val="tx1"/>
                          </a:solidFill>
                          <a:effectLst/>
                          <a:latin typeface="+mn-lt"/>
                          <a:ea typeface="+mn-ea"/>
                          <a:cs typeface="+mn-cs"/>
                        </a:rPr>
                        <a:t>2016</a:t>
                      </a: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7000"/>
                        </a:lnSpc>
                        <a:spcAft>
                          <a:spcPts val="800"/>
                        </a:spcAft>
                      </a:pPr>
                      <a:r>
                        <a:rPr lang="en-US" sz="1400" b="0" i="0" kern="1200">
                          <a:solidFill>
                            <a:schemeClr val="tx1"/>
                          </a:solidFill>
                          <a:effectLst/>
                          <a:latin typeface="+mn-lt"/>
                          <a:ea typeface="+mn-ea"/>
                          <a:cs typeface="Times New Roman" panose="02020603050405020304" pitchFamily="18" charset="0"/>
                        </a:rPr>
                        <a:t>The proposed system uses GPS method to get the location data and employs ZigBee for communicating efficiently with the intersection module. </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US" sz="1400" b="0" i="0" kern="1200">
                          <a:solidFill>
                            <a:schemeClr val="tx1"/>
                          </a:solidFill>
                          <a:effectLst/>
                          <a:latin typeface="+mn-lt"/>
                          <a:ea typeface="+mn-ea"/>
                          <a:cs typeface="Times New Roman" panose="02020603050405020304" pitchFamily="18" charset="0"/>
                        </a:rPr>
                        <a:t>Since the technology used in Zigbee is of low bit rate, the transmission rate of this technology is also low.</a:t>
                      </a: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0001"/>
                  </a:ext>
                </a:extLst>
              </a:tr>
              <a:tr h="2161564">
                <a:tc>
                  <a:txBody>
                    <a:bodyPr/>
                    <a:lstStyle/>
                    <a:p>
                      <a:pPr algn="ctr"/>
                      <a:r>
                        <a:rPr lang="en-US" sz="1400" dirty="0">
                          <a:solidFill>
                            <a:schemeClr val="tx1"/>
                          </a:solidFill>
                          <a:latin typeface="Times New Roman" panose="02020603050405020304" pitchFamily="18" charset="0"/>
                          <a:cs typeface="Times New Roman" panose="02020603050405020304" pitchFamily="18" charset="0"/>
                        </a:rPr>
                        <a:t>4</a:t>
                      </a:r>
                      <a:r>
                        <a:rPr lang="en-US" sz="1400">
                          <a:solidFill>
                            <a:schemeClr val="tx1"/>
                          </a:solidFill>
                          <a:latin typeface="Times New Roman" panose="02020603050405020304" pitchFamily="18" charset="0"/>
                          <a:cs typeface="Times New Roman" panose="02020603050405020304" pitchFamily="18" charset="0"/>
                        </a:rPr>
                        <a:t>.</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US" sz="1400" b="0" kern="1200">
                          <a:solidFill>
                            <a:schemeClr val="tx1"/>
                          </a:solidFill>
                          <a:latin typeface="+mn-lt"/>
                          <a:ea typeface="+mn-ea"/>
                          <a:cs typeface="Times New Roman" panose="02020603050405020304" pitchFamily="18" charset="0"/>
                        </a:rPr>
                        <a:t>Advanced Automation Control in an Ambulance under Emergency Condition</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7000"/>
                        </a:lnSpc>
                        <a:spcAft>
                          <a:spcPts val="800"/>
                        </a:spcAft>
                      </a:pPr>
                      <a:r>
                        <a:rPr lang="fi-FI" sz="1400" b="0" i="0" u="none" strike="noStrike" kern="1200">
                          <a:solidFill>
                            <a:schemeClr val="tx1"/>
                          </a:solidFill>
                          <a:effectLst/>
                          <a:latin typeface="+mn-lt"/>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Leila Sai Krishna</a:t>
                      </a:r>
                      <a:r>
                        <a:rPr lang="fi-FI" sz="1400" b="0" i="0" kern="1200">
                          <a:solidFill>
                            <a:schemeClr val="tx1"/>
                          </a:solidFill>
                          <a:effectLst/>
                          <a:latin typeface="+mn-lt"/>
                          <a:ea typeface="+mn-ea"/>
                          <a:cs typeface="Times New Roman" panose="02020603050405020304" pitchFamily="18" charset="0"/>
                        </a:rPr>
                        <a:t>; </a:t>
                      </a:r>
                      <a:r>
                        <a:rPr lang="fi-FI" sz="1400" b="0" i="0" u="none" strike="noStrike" kern="1200">
                          <a:solidFill>
                            <a:schemeClr val="tx1"/>
                          </a:solidFill>
                          <a:effectLst/>
                          <a:latin typeface="+mn-lt"/>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Samineni Vijay Chowdary</a:t>
                      </a:r>
                      <a:r>
                        <a:rPr lang="fi-FI" sz="1400" b="0" i="0" kern="1200">
                          <a:solidFill>
                            <a:schemeClr val="tx1"/>
                          </a:solidFill>
                          <a:effectLst/>
                          <a:latin typeface="+mn-lt"/>
                          <a:ea typeface="+mn-ea"/>
                          <a:cs typeface="Times New Roman" panose="02020603050405020304" pitchFamily="18" charset="0"/>
                        </a:rPr>
                        <a:t>; </a:t>
                      </a:r>
                      <a:r>
                        <a:rPr lang="fi-FI" sz="1400" b="0" i="0" u="none" strike="noStrike" kern="1200">
                          <a:solidFill>
                            <a:schemeClr val="tx1"/>
                          </a:solidFill>
                          <a:effectLst/>
                          <a:latin typeface="+mn-lt"/>
                          <a:ea typeface="+mn-ea"/>
                          <a:cs typeface="Times New Roman" panose="02020603050405020304" pitchFamily="18" charset="0"/>
                          <a:hlinkClick r:id="rId5">
                            <a:extLst>
                              <a:ext uri="{A12FA001-AC4F-418D-AE19-62706E023703}">
                                <ahyp:hlinkClr xmlns:ahyp="http://schemas.microsoft.com/office/drawing/2018/hyperlinkcolor" val="tx"/>
                              </a:ext>
                            </a:extLst>
                          </a:hlinkClick>
                        </a:rPr>
                        <a:t>M. Pushpavalli</a:t>
                      </a:r>
                      <a:r>
                        <a:rPr lang="fi-FI" sz="1400" b="0" i="0" kern="1200">
                          <a:solidFill>
                            <a:schemeClr val="tx1"/>
                          </a:solidFill>
                          <a:effectLst/>
                          <a:latin typeface="+mn-lt"/>
                          <a:ea typeface="+mn-ea"/>
                          <a:cs typeface="Times New Roman" panose="02020603050405020304" pitchFamily="18" charset="0"/>
                        </a:rPr>
                        <a:t>; </a:t>
                      </a:r>
                      <a:r>
                        <a:rPr lang="fi-FI" sz="1400" b="0" i="0" u="none" strike="noStrike" kern="1200">
                          <a:solidFill>
                            <a:schemeClr val="tx1"/>
                          </a:solidFill>
                          <a:effectLst/>
                          <a:latin typeface="+mn-lt"/>
                          <a:ea typeface="+mn-ea"/>
                          <a:cs typeface="Times New Roman" panose="02020603050405020304" pitchFamily="18" charset="0"/>
                          <a:hlinkClick r:id="rId6">
                            <a:extLst>
                              <a:ext uri="{A12FA001-AC4F-418D-AE19-62706E023703}">
                                <ahyp:hlinkClr xmlns:ahyp="http://schemas.microsoft.com/office/drawing/2018/hyperlinkcolor" val="tx"/>
                              </a:ext>
                            </a:extLst>
                          </a:hlinkClick>
                        </a:rPr>
                        <a:t>P. Sivagami</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lnSpc>
                          <a:spcPct val="107000"/>
                        </a:lnSpc>
                        <a:spcAft>
                          <a:spcPts val="800"/>
                        </a:spcAft>
                      </a:pPr>
                      <a:r>
                        <a:rPr lang="en-IN" sz="1400" b="0" i="0" u="sng" kern="1200">
                          <a:solidFill>
                            <a:schemeClr val="tx1"/>
                          </a:solidFill>
                          <a:effectLst/>
                          <a:latin typeface="+mn-lt"/>
                          <a:ea typeface="+mn-ea"/>
                          <a:cs typeface="Times New Roman" panose="02020603050405020304" pitchFamily="18" charset="0"/>
                        </a:rPr>
                        <a:t>2017</a:t>
                      </a: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7000"/>
                        </a:lnSpc>
                        <a:spcAft>
                          <a:spcPts val="800"/>
                        </a:spcAft>
                      </a:pPr>
                      <a:r>
                        <a:rPr lang="en-IN" sz="1400" b="0" kern="1200">
                          <a:solidFill>
                            <a:schemeClr val="tx1"/>
                          </a:solidFill>
                          <a:effectLst/>
                          <a:latin typeface="+mn-lt"/>
                          <a:ea typeface="+mn-ea"/>
                          <a:cs typeface="Times New Roman" panose="02020603050405020304" pitchFamily="18" charset="0"/>
                        </a:rPr>
                        <a:t> </a:t>
                      </a:r>
                      <a:r>
                        <a:rPr lang="en-US" sz="1400" b="0" kern="1200">
                          <a:solidFill>
                            <a:schemeClr val="tx1"/>
                          </a:solidFill>
                          <a:latin typeface="+mn-lt"/>
                          <a:ea typeface="+mn-ea"/>
                          <a:cs typeface="Times New Roman" panose="02020603050405020304" pitchFamily="18" charset="0"/>
                        </a:rPr>
                        <a:t>The ambulance is implemented with embedded system units, which finds the accident spot and delivers the spot to the close by ambulance through GSM.The ambulance guides the traffic lights in the roadway to the hospital and it also checks the next consecutive signal to shorten the time loss.</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IN" sz="1400" b="0" kern="1200">
                          <a:solidFill>
                            <a:schemeClr val="tx1"/>
                          </a:solidFill>
                          <a:latin typeface="+mn-lt"/>
                          <a:ea typeface="+mn-ea"/>
                          <a:cs typeface="Times New Roman" panose="02020603050405020304" pitchFamily="18" charset="0"/>
                        </a:rPr>
                        <a:t>Gsm is congested and requires high bandwidth.</a:t>
                      </a: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17250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6"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Literature Survey</a:t>
            </a:r>
            <a:endParaRPr dirty="0"/>
          </a:p>
        </p:txBody>
      </p:sp>
      <p:sp>
        <p:nvSpPr>
          <p:cNvPr id="69" name="Google Shape;69;p2"/>
          <p:cNvSpPr txBox="1">
            <a:spLocks noGrp="1"/>
          </p:cNvSpPr>
          <p:nvPr>
            <p:ph type="ftr" idx="11"/>
          </p:nvPr>
        </p:nvSpPr>
        <p:spPr>
          <a:xfrm>
            <a:off x="221932"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4"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graphicFrame>
        <p:nvGraphicFramePr>
          <p:cNvPr id="2" name="Table 1">
            <a:extLst>
              <a:ext uri="{FF2B5EF4-FFF2-40B4-BE49-F238E27FC236}">
                <a16:creationId xmlns:a16="http://schemas.microsoft.com/office/drawing/2014/main" id="{6E9D4249-B31A-FE9C-B1B0-AE6CACB62F95}"/>
              </a:ext>
            </a:extLst>
          </p:cNvPr>
          <p:cNvGraphicFramePr>
            <a:graphicFrameLocks noGrp="1"/>
          </p:cNvGraphicFramePr>
          <p:nvPr>
            <p:extLst>
              <p:ext uri="{D42A27DB-BD31-4B8C-83A1-F6EECF244321}">
                <p14:modId xmlns:p14="http://schemas.microsoft.com/office/powerpoint/2010/main" val="1147401595"/>
              </p:ext>
            </p:extLst>
          </p:nvPr>
        </p:nvGraphicFramePr>
        <p:xfrm>
          <a:off x="490193" y="1143000"/>
          <a:ext cx="11151909" cy="4805314"/>
        </p:xfrm>
        <a:graphic>
          <a:graphicData uri="http://schemas.openxmlformats.org/drawingml/2006/table">
            <a:tbl>
              <a:tblPr firstRow="1" bandRow="1">
                <a:tableStyleId>{5C22544A-7EE6-4342-B048-85BDC9FD1C3A}</a:tableStyleId>
              </a:tblPr>
              <a:tblGrid>
                <a:gridCol w="711822">
                  <a:extLst>
                    <a:ext uri="{9D8B030D-6E8A-4147-A177-3AD203B41FA5}">
                      <a16:colId xmlns:a16="http://schemas.microsoft.com/office/drawing/2014/main" val="20000"/>
                    </a:ext>
                  </a:extLst>
                </a:gridCol>
                <a:gridCol w="1809520">
                  <a:extLst>
                    <a:ext uri="{9D8B030D-6E8A-4147-A177-3AD203B41FA5}">
                      <a16:colId xmlns:a16="http://schemas.microsoft.com/office/drawing/2014/main" val="20001"/>
                    </a:ext>
                  </a:extLst>
                </a:gridCol>
                <a:gridCol w="2596420">
                  <a:extLst>
                    <a:ext uri="{9D8B030D-6E8A-4147-A177-3AD203B41FA5}">
                      <a16:colId xmlns:a16="http://schemas.microsoft.com/office/drawing/2014/main" val="20002"/>
                    </a:ext>
                  </a:extLst>
                </a:gridCol>
                <a:gridCol w="4047360">
                  <a:extLst>
                    <a:ext uri="{9D8B030D-6E8A-4147-A177-3AD203B41FA5}">
                      <a16:colId xmlns:a16="http://schemas.microsoft.com/office/drawing/2014/main" val="20003"/>
                    </a:ext>
                  </a:extLst>
                </a:gridCol>
                <a:gridCol w="1986787">
                  <a:extLst>
                    <a:ext uri="{9D8B030D-6E8A-4147-A177-3AD203B41FA5}">
                      <a16:colId xmlns:a16="http://schemas.microsoft.com/office/drawing/2014/main" val="4055658013"/>
                    </a:ext>
                  </a:extLst>
                </a:gridCol>
              </a:tblGrid>
              <a:tr h="93105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a:solidFill>
                            <a:schemeClr val="tx1"/>
                          </a:solidFill>
                          <a:latin typeface="Times New Roman" panose="02020603050405020304" pitchFamily="18" charset="0"/>
                          <a:cs typeface="Times New Roman" panose="02020603050405020304" pitchFamily="18" charset="0"/>
                        </a:rPr>
                        <a:t>Sl </a:t>
                      </a:r>
                      <a:r>
                        <a:rPr lang="en-IN" sz="1400" dirty="0">
                          <a:solidFill>
                            <a:schemeClr val="tx1"/>
                          </a:solidFill>
                          <a:latin typeface="Times New Roman" panose="02020603050405020304" pitchFamily="18" charset="0"/>
                          <a:cs typeface="Times New Roman" panose="02020603050405020304" pitchFamily="18" charset="0"/>
                        </a:rPr>
                        <a:t>No</a:t>
                      </a:r>
                    </a:p>
                    <a:p>
                      <a:pPr algn="ct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solidFill>
                            <a:schemeClr val="tx1"/>
                          </a:solidFill>
                          <a:latin typeface="Times New Roman" panose="02020603050405020304" pitchFamily="18" charset="0"/>
                          <a:cs typeface="Times New Roman" panose="02020603050405020304" pitchFamily="18" charset="0"/>
                        </a:rPr>
                        <a:t>Title of the paper</a:t>
                      </a:r>
                    </a:p>
                    <a:p>
                      <a:pPr algn="ct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Authors</a:t>
                      </a:r>
                    </a:p>
                    <a:p>
                      <a:pPr algn="ctr"/>
                      <a:r>
                        <a:rPr lang="en-US" sz="1400">
                          <a:solidFill>
                            <a:schemeClr val="tx1"/>
                          </a:solidFill>
                          <a:latin typeface="Times New Roman" panose="02020603050405020304" pitchFamily="18" charset="0"/>
                          <a:cs typeface="Times New Roman" panose="02020603050405020304" pitchFamily="18" charset="0"/>
                        </a:rPr>
                        <a:t>and year of publication</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Summary</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Future Enhancement</a:t>
                      </a:r>
                      <a:endParaRPr lang="en-US"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339953">
                <a:tc>
                  <a:txBody>
                    <a:bodyPr/>
                    <a:lstStyle/>
                    <a:p>
                      <a:pPr algn="ctr"/>
                      <a:r>
                        <a:rPr lang="en-US" sz="1400" dirty="0">
                          <a:solidFill>
                            <a:schemeClr val="tx1"/>
                          </a:solidFill>
                          <a:latin typeface="Times New Roman" panose="02020603050405020304" pitchFamily="18" charset="0"/>
                          <a:cs typeface="Times New Roman" panose="02020603050405020304" pitchFamily="18" charset="0"/>
                        </a:rPr>
                        <a:t>5</a:t>
                      </a:r>
                      <a:r>
                        <a:rPr lang="en-US" sz="1400">
                          <a:solidFill>
                            <a:schemeClr val="tx1"/>
                          </a:solidFill>
                          <a:latin typeface="Times New Roman" panose="02020603050405020304" pitchFamily="18" charset="0"/>
                          <a:cs typeface="Times New Roman" panose="02020603050405020304" pitchFamily="18" charset="0"/>
                        </a:rPr>
                        <a:t>.</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685800" rtl="0" eaLnBrk="1" fontAlgn="auto" latinLnBrk="0" hangingPunct="1">
                        <a:lnSpc>
                          <a:spcPct val="107000"/>
                        </a:lnSpc>
                        <a:spcBef>
                          <a:spcPts val="0"/>
                        </a:spcBef>
                        <a:spcAft>
                          <a:spcPts val="800"/>
                        </a:spcAft>
                        <a:buClrTx/>
                        <a:buSzTx/>
                        <a:buFontTx/>
                        <a:buNone/>
                        <a:tabLst/>
                        <a:defRPr/>
                      </a:pPr>
                      <a:r>
                        <a:rPr lang="en-US" sz="1400" b="0" i="0" kern="1200">
                          <a:solidFill>
                            <a:schemeClr val="tx1"/>
                          </a:solidFill>
                          <a:effectLst/>
                          <a:latin typeface="+mn-lt"/>
                          <a:ea typeface="+mn-ea"/>
                          <a:cs typeface="Times New Roman" panose="02020603050405020304" pitchFamily="18" charset="0"/>
                        </a:rPr>
                        <a:t>Emergent vehicle tracking system using IR sensor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IN" sz="1400" b="0" i="0" u="none" strike="noStrike" kern="1200">
                          <a:solidFill>
                            <a:schemeClr val="tx1"/>
                          </a:solidFill>
                          <a:effectLst/>
                          <a:latin typeface="+mn-lt"/>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Manjunath Managuli</a:t>
                      </a:r>
                      <a:r>
                        <a:rPr lang="en-IN" sz="1400" b="0" i="0" kern="1200">
                          <a:solidFill>
                            <a:schemeClr val="tx1"/>
                          </a:solidFill>
                          <a:effectLst/>
                          <a:latin typeface="+mn-lt"/>
                          <a:ea typeface="+mn-ea"/>
                          <a:cs typeface="Times New Roman" panose="02020603050405020304" pitchFamily="18" charset="0"/>
                        </a:rPr>
                        <a:t>; </a:t>
                      </a:r>
                      <a:r>
                        <a:rPr lang="en-IN" sz="1400" b="0" i="0" u="none" strike="noStrike" kern="1200">
                          <a:solidFill>
                            <a:schemeClr val="tx1"/>
                          </a:solidFill>
                          <a:effectLst/>
                          <a:latin typeface="+mn-lt"/>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Abhaya Deshpande</a:t>
                      </a:r>
                      <a:r>
                        <a:rPr lang="en-IN" sz="1400" b="0" i="0" kern="1200">
                          <a:solidFill>
                            <a:schemeClr val="tx1"/>
                          </a:solidFill>
                          <a:effectLst/>
                          <a:latin typeface="+mn-lt"/>
                          <a:ea typeface="+mn-ea"/>
                          <a:cs typeface="Times New Roman" panose="02020603050405020304" pitchFamily="18" charset="0"/>
                        </a:rPr>
                        <a:t>; </a:t>
                      </a:r>
                      <a:r>
                        <a:rPr lang="en-IN" sz="1400" b="0" i="0" u="sng" kern="1200">
                          <a:solidFill>
                            <a:schemeClr val="tx1"/>
                          </a:solidFill>
                          <a:effectLst/>
                          <a:latin typeface="+mn-lt"/>
                          <a:ea typeface="+mn-ea"/>
                          <a:cs typeface="Times New Roman" panose="02020603050405020304" pitchFamily="18" charset="0"/>
                          <a:hlinkClick r:id="rId5">
                            <a:extLst>
                              <a:ext uri="{A12FA001-AC4F-418D-AE19-62706E023703}">
                                <ahyp:hlinkClr xmlns:ahyp="http://schemas.microsoft.com/office/drawing/2018/hyperlinkcolor" val="tx"/>
                              </a:ext>
                            </a:extLst>
                          </a:hlinkClick>
                        </a:rPr>
                        <a:t>Sudha H Ayatti</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lnSpc>
                          <a:spcPct val="100000"/>
                        </a:lnSpc>
                        <a:spcAft>
                          <a:spcPts val="800"/>
                        </a:spcAft>
                      </a:pPr>
                      <a:r>
                        <a:rPr lang="en-IN" sz="1400" b="0" i="0" u="sng" kern="1200">
                          <a:solidFill>
                            <a:schemeClr val="tx1"/>
                          </a:solidFill>
                          <a:effectLst/>
                          <a:latin typeface="+mn-lt"/>
                          <a:ea typeface="+mn-ea"/>
                          <a:cs typeface="+mn-cs"/>
                        </a:rPr>
                        <a:t>2017</a:t>
                      </a: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0000"/>
                        </a:lnSpc>
                        <a:spcAft>
                          <a:spcPts val="800"/>
                        </a:spcAft>
                      </a:pPr>
                      <a:r>
                        <a:rPr lang="en-US" sz="1400" b="0" i="0" kern="1200">
                          <a:solidFill>
                            <a:schemeClr val="tx1"/>
                          </a:solidFill>
                          <a:effectLst/>
                          <a:latin typeface="+mn-lt"/>
                          <a:ea typeface="+mn-ea"/>
                          <a:cs typeface="Times New Roman" panose="02020603050405020304" pitchFamily="18" charset="0"/>
                        </a:rPr>
                        <a:t>During object motion IR sensors detect the ambulance, pass the message to main controller which reflects the LED bulb to glow leading to closing of all the signals track, and immediately the emergent vehicle pass the signal track.</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US" sz="1400" b="0" kern="1200">
                          <a:solidFill>
                            <a:schemeClr val="tx1"/>
                          </a:solidFill>
                          <a:latin typeface="+mn-lt"/>
                          <a:ea typeface="+mn-ea"/>
                          <a:cs typeface="Times New Roman" panose="02020603050405020304" pitchFamily="18" charset="0"/>
                        </a:rPr>
                        <a:t>Sunlight can cause interference with IR signals.</a:t>
                      </a: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0001"/>
                  </a:ext>
                </a:extLst>
              </a:tr>
              <a:tr h="2534304">
                <a:tc>
                  <a:txBody>
                    <a:bodyPr/>
                    <a:lstStyle/>
                    <a:p>
                      <a:pPr algn="ctr"/>
                      <a:r>
                        <a:rPr lang="en-US" sz="1400" dirty="0">
                          <a:solidFill>
                            <a:schemeClr val="tx1"/>
                          </a:solidFill>
                          <a:latin typeface="Times New Roman" panose="02020603050405020304" pitchFamily="18" charset="0"/>
                          <a:cs typeface="Times New Roman" panose="02020603050405020304" pitchFamily="18" charset="0"/>
                        </a:rPr>
                        <a:t>6</a:t>
                      </a:r>
                      <a:r>
                        <a:rPr lang="en-US" sz="1400">
                          <a:solidFill>
                            <a:schemeClr val="tx1"/>
                          </a:solidFill>
                          <a:latin typeface="Times New Roman" panose="02020603050405020304" pitchFamily="18" charset="0"/>
                          <a:cs typeface="Times New Roman" panose="02020603050405020304" pitchFamily="18" charset="0"/>
                        </a:rPr>
                        <a:t>.</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800"/>
                        </a:spcAft>
                      </a:pPr>
                      <a:r>
                        <a:rPr lang="en-US" sz="1400" b="0" kern="1200">
                          <a:solidFill>
                            <a:schemeClr val="tx1"/>
                          </a:solidFill>
                          <a:latin typeface="+mn-lt"/>
                          <a:ea typeface="+mn-ea"/>
                          <a:cs typeface="+mn-cs"/>
                        </a:rPr>
                        <a:t>Leveraging Emergency Response System Using the Internet of Things. A Preliminary Approach</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0000"/>
                        </a:lnSpc>
                        <a:spcAft>
                          <a:spcPts val="800"/>
                        </a:spcAft>
                      </a:pPr>
                      <a:r>
                        <a:rPr lang="en-IN" sz="1400" b="0" i="0" u="none" strike="noStrike" kern="1200">
                          <a:solidFill>
                            <a:schemeClr val="tx1"/>
                          </a:solidFill>
                          <a:effectLst/>
                          <a:latin typeface="+mn-lt"/>
                          <a:ea typeface="+mn-ea"/>
                          <a:cs typeface="+mn-cs"/>
                          <a:hlinkClick r:id="rId6">
                            <a:extLst>
                              <a:ext uri="{A12FA001-AC4F-418D-AE19-62706E023703}">
                                <ahyp:hlinkClr xmlns:ahyp="http://schemas.microsoft.com/office/drawing/2018/hyperlinkcolor" val="tx"/>
                              </a:ext>
                            </a:extLst>
                          </a:hlinkClick>
                        </a:rPr>
                        <a:t>Luz A. Magre Colorado</a:t>
                      </a:r>
                      <a:r>
                        <a:rPr lang="en-IN" sz="1400" b="0" i="0" kern="1200">
                          <a:solidFill>
                            <a:schemeClr val="tx1"/>
                          </a:solidFill>
                          <a:effectLst/>
                          <a:latin typeface="+mn-lt"/>
                          <a:ea typeface="+mn-ea"/>
                          <a:cs typeface="+mn-cs"/>
                        </a:rPr>
                        <a:t>; </a:t>
                      </a:r>
                      <a:r>
                        <a:rPr lang="en-IN" sz="1400" b="0" i="0" u="none" strike="noStrike" kern="1200">
                          <a:solidFill>
                            <a:schemeClr val="tx1"/>
                          </a:solidFill>
                          <a:effectLst/>
                          <a:latin typeface="+mn-lt"/>
                          <a:ea typeface="+mn-ea"/>
                          <a:cs typeface="+mn-cs"/>
                          <a:hlinkClick r:id="rId7">
                            <a:extLst>
                              <a:ext uri="{A12FA001-AC4F-418D-AE19-62706E023703}">
                                <ahyp:hlinkClr xmlns:ahyp="http://schemas.microsoft.com/office/drawing/2018/hyperlinkcolor" val="tx"/>
                              </a:ext>
                            </a:extLst>
                          </a:hlinkClick>
                        </a:rPr>
                        <a:t>Jorge Franco Ibañez</a:t>
                      </a:r>
                      <a:r>
                        <a:rPr lang="en-IN" sz="1400" b="0" i="0" kern="1200">
                          <a:solidFill>
                            <a:schemeClr val="tx1"/>
                          </a:solidFill>
                          <a:effectLst/>
                          <a:latin typeface="+mn-lt"/>
                          <a:ea typeface="+mn-ea"/>
                          <a:cs typeface="+mn-cs"/>
                        </a:rPr>
                        <a:t>; </a:t>
                      </a:r>
                      <a:r>
                        <a:rPr lang="en-IN" sz="1400" b="0" i="0" u="none" strike="noStrike" kern="1200">
                          <a:solidFill>
                            <a:schemeClr val="tx1"/>
                          </a:solidFill>
                          <a:effectLst/>
                          <a:latin typeface="+mn-lt"/>
                          <a:ea typeface="+mn-ea"/>
                          <a:cs typeface="+mn-cs"/>
                          <a:hlinkClick r:id="rId8">
                            <a:extLst>
                              <a:ext uri="{A12FA001-AC4F-418D-AE19-62706E023703}">
                                <ahyp:hlinkClr xmlns:ahyp="http://schemas.microsoft.com/office/drawing/2018/hyperlinkcolor" val="tx"/>
                              </a:ext>
                            </a:extLst>
                          </a:hlinkClick>
                        </a:rPr>
                        <a:t>Juan Carlos Martinez-Santos</a:t>
                      </a:r>
                      <a:endParaRPr lang="en-IN" sz="1400" b="0" i="0" u="none" strike="noStrike" kern="1200">
                        <a:solidFill>
                          <a:schemeClr val="tx1"/>
                        </a:solidFill>
                        <a:effectLst/>
                        <a:latin typeface="+mn-lt"/>
                        <a:ea typeface="+mn-ea"/>
                        <a:cs typeface="+mn-cs"/>
                      </a:endParaRPr>
                    </a:p>
                    <a:p>
                      <a:pPr algn="l">
                        <a:lnSpc>
                          <a:spcPct val="100000"/>
                        </a:lnSpc>
                        <a:spcAft>
                          <a:spcPts val="800"/>
                        </a:spcAft>
                      </a:pPr>
                      <a:r>
                        <a:rPr lang="en-IN" sz="1400" b="0" i="0" u="none" strike="noStrike" kern="1200">
                          <a:solidFill>
                            <a:schemeClr val="tx1"/>
                          </a:solidFill>
                          <a:effectLst/>
                          <a:latin typeface="+mn-lt"/>
                          <a:ea typeface="+mn-ea"/>
                          <a:cs typeface="+mn-cs"/>
                        </a:rPr>
                        <a:t>2020</a:t>
                      </a: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0000"/>
                        </a:lnSpc>
                        <a:spcAft>
                          <a:spcPts val="800"/>
                        </a:spcAft>
                      </a:pPr>
                      <a:r>
                        <a:rPr lang="en-US" sz="1400" b="0" kern="1200">
                          <a:solidFill>
                            <a:schemeClr val="tx1"/>
                          </a:solidFill>
                          <a:latin typeface="+mn-lt"/>
                          <a:ea typeface="+mn-ea"/>
                          <a:cs typeface="+mn-cs"/>
                        </a:rPr>
                        <a:t>Hybrid system that uses both QR code detection and a GPS/GPRS tracking system. With this mixed implementation we are trying to lower the chances of getting errors when detecting the current location and improve the times of response of the emergency vehicle</a:t>
                      </a:r>
                      <a:r>
                        <a:rPr lang="en-US" sz="1400" b="0" kern="1200" dirty="0">
                          <a:solidFill>
                            <a:schemeClr val="tx1"/>
                          </a:solidFill>
                          <a:latin typeface="Times New Roman" panose="02020603050405020304" pitchFamily="18" charset="0"/>
                          <a:ea typeface="+mn-ea"/>
                          <a:cs typeface="Times New Roman" panose="02020603050405020304" pitchFamily="18" charset="0"/>
                        </a:rPr>
                        <a:t>.</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tx1"/>
                          </a:solidFill>
                          <a:latin typeface="+mn-lt"/>
                          <a:ea typeface="+mn-ea"/>
                          <a:cs typeface="+mn-cs"/>
                        </a:rPr>
                        <a:t>At the moment, a simple test over an intersection of the city is ongoing, but not finished. For future experiments, we expect to include more extensive areas and integrate MATLAB to the simulation to measure times.</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85154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Literature Survey</a:t>
            </a:r>
            <a:endParaRPr dirty="0"/>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graphicFrame>
        <p:nvGraphicFramePr>
          <p:cNvPr id="3" name="Table 2">
            <a:extLst>
              <a:ext uri="{FF2B5EF4-FFF2-40B4-BE49-F238E27FC236}">
                <a16:creationId xmlns:a16="http://schemas.microsoft.com/office/drawing/2014/main" id="{8590261C-78AF-BEAF-D355-B5A240B7155A}"/>
              </a:ext>
            </a:extLst>
          </p:cNvPr>
          <p:cNvGraphicFramePr>
            <a:graphicFrameLocks noGrp="1"/>
          </p:cNvGraphicFramePr>
          <p:nvPr>
            <p:extLst>
              <p:ext uri="{D42A27DB-BD31-4B8C-83A1-F6EECF244321}">
                <p14:modId xmlns:p14="http://schemas.microsoft.com/office/powerpoint/2010/main" val="921998464"/>
              </p:ext>
            </p:extLst>
          </p:nvPr>
        </p:nvGraphicFramePr>
        <p:xfrm>
          <a:off x="565609" y="1196753"/>
          <a:ext cx="11001079" cy="4742134"/>
        </p:xfrm>
        <a:graphic>
          <a:graphicData uri="http://schemas.openxmlformats.org/drawingml/2006/table">
            <a:tbl>
              <a:tblPr firstRow="1" bandRow="1">
                <a:tableStyleId>{5C22544A-7EE6-4342-B048-85BDC9FD1C3A}</a:tableStyleId>
              </a:tblPr>
              <a:tblGrid>
                <a:gridCol w="899376">
                  <a:extLst>
                    <a:ext uri="{9D8B030D-6E8A-4147-A177-3AD203B41FA5}">
                      <a16:colId xmlns:a16="http://schemas.microsoft.com/office/drawing/2014/main" val="20000"/>
                    </a:ext>
                  </a:extLst>
                </a:gridCol>
                <a:gridCol w="2286302">
                  <a:extLst>
                    <a:ext uri="{9D8B030D-6E8A-4147-A177-3AD203B41FA5}">
                      <a16:colId xmlns:a16="http://schemas.microsoft.com/office/drawing/2014/main" val="20001"/>
                    </a:ext>
                  </a:extLst>
                </a:gridCol>
                <a:gridCol w="3087566">
                  <a:extLst>
                    <a:ext uri="{9D8B030D-6E8A-4147-A177-3AD203B41FA5}">
                      <a16:colId xmlns:a16="http://schemas.microsoft.com/office/drawing/2014/main" val="20002"/>
                    </a:ext>
                  </a:extLst>
                </a:gridCol>
                <a:gridCol w="4727835">
                  <a:extLst>
                    <a:ext uri="{9D8B030D-6E8A-4147-A177-3AD203B41FA5}">
                      <a16:colId xmlns:a16="http://schemas.microsoft.com/office/drawing/2014/main" val="20003"/>
                    </a:ext>
                  </a:extLst>
                </a:gridCol>
              </a:tblGrid>
              <a:tr h="92467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a:solidFill>
                            <a:schemeClr val="tx1"/>
                          </a:solidFill>
                          <a:latin typeface="Times New Roman" panose="02020603050405020304" pitchFamily="18" charset="0"/>
                          <a:cs typeface="Times New Roman" panose="02020603050405020304" pitchFamily="18" charset="0"/>
                        </a:rPr>
                        <a:t>Sl </a:t>
                      </a:r>
                      <a:r>
                        <a:rPr lang="en-IN" sz="1400" dirty="0">
                          <a:solidFill>
                            <a:schemeClr val="tx1"/>
                          </a:solidFill>
                          <a:latin typeface="Times New Roman" panose="02020603050405020304" pitchFamily="18" charset="0"/>
                          <a:cs typeface="Times New Roman" panose="02020603050405020304" pitchFamily="18" charset="0"/>
                        </a:rPr>
                        <a:t>No</a:t>
                      </a:r>
                    </a:p>
                    <a:p>
                      <a:pPr algn="ct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solidFill>
                            <a:schemeClr val="tx1"/>
                          </a:solidFill>
                          <a:latin typeface="Times New Roman" panose="02020603050405020304" pitchFamily="18" charset="0"/>
                          <a:cs typeface="Times New Roman" panose="02020603050405020304" pitchFamily="18" charset="0"/>
                        </a:rPr>
                        <a:t>Title of the paper</a:t>
                      </a:r>
                    </a:p>
                    <a:p>
                      <a:pPr algn="ct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Authors</a:t>
                      </a:r>
                    </a:p>
                    <a:p>
                      <a:pPr algn="ctr"/>
                      <a:r>
                        <a:rPr lang="en-US" sz="1400">
                          <a:solidFill>
                            <a:schemeClr val="tx1"/>
                          </a:solidFill>
                          <a:latin typeface="Times New Roman" panose="02020603050405020304" pitchFamily="18" charset="0"/>
                          <a:cs typeface="Times New Roman" panose="02020603050405020304" pitchFamily="18" charset="0"/>
                        </a:rPr>
                        <a:t>and year of publication</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Summary</a:t>
                      </a:r>
                      <a:endParaRPr lang="en-US"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910551">
                <a:tc>
                  <a:txBody>
                    <a:bodyPr/>
                    <a:lstStyle/>
                    <a:p>
                      <a:pPr algn="ctr"/>
                      <a:r>
                        <a:rPr lang="en-US" sz="1400" dirty="0">
                          <a:solidFill>
                            <a:schemeClr val="tx1"/>
                          </a:solidFill>
                          <a:latin typeface="Times New Roman" panose="02020603050405020304" pitchFamily="18" charset="0"/>
                          <a:cs typeface="Times New Roman" panose="02020603050405020304" pitchFamily="18" charset="0"/>
                        </a:rPr>
                        <a:t>7</a:t>
                      </a:r>
                      <a:r>
                        <a:rPr lang="en-US" sz="1400">
                          <a:solidFill>
                            <a:schemeClr val="tx1"/>
                          </a:solidFill>
                          <a:latin typeface="Times New Roman" panose="02020603050405020304" pitchFamily="18" charset="0"/>
                          <a:cs typeface="Times New Roman" panose="02020603050405020304" pitchFamily="18" charset="0"/>
                        </a:rPr>
                        <a:t>.</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tx1"/>
                          </a:solidFill>
                          <a:effectLst/>
                          <a:latin typeface="+mn-lt"/>
                          <a:ea typeface="+mn-ea"/>
                          <a:cs typeface="+mn-cs"/>
                        </a:rPr>
                        <a:t>Efficiency of opportunistic cellular/LiFi traffic offloading</a:t>
                      </a:r>
                    </a:p>
                    <a:p>
                      <a:pPr algn="l"/>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800"/>
                        </a:spcAft>
                      </a:pPr>
                      <a:r>
                        <a:rPr lang="en-IN" sz="1400" b="0" kern="1200">
                          <a:solidFill>
                            <a:schemeClr val="tx1"/>
                          </a:solidFill>
                          <a:effectLst/>
                          <a:latin typeface="+mn-lt"/>
                          <a:ea typeface="Calibri" panose="020F0502020204030204" pitchFamily="34" charset="0"/>
                          <a:cs typeface="Times New Roman" panose="02020603050405020304" pitchFamily="18" charset="0"/>
                        </a:rPr>
                        <a:t>Vishnu Raj RS,Athi Narayanan  S,Kamal Bijlani</a:t>
                      </a:r>
                    </a:p>
                    <a:p>
                      <a:pPr algn="l">
                        <a:lnSpc>
                          <a:spcPct val="100000"/>
                        </a:lnSpc>
                        <a:spcAft>
                          <a:spcPts val="800"/>
                        </a:spcAft>
                      </a:pPr>
                      <a:r>
                        <a:rPr lang="en-IN" sz="1400" b="0" i="0" u="sng" kern="1200">
                          <a:solidFill>
                            <a:schemeClr val="tx1"/>
                          </a:solidFill>
                          <a:effectLst/>
                          <a:latin typeface="+mn-lt"/>
                          <a:ea typeface="+mn-ea"/>
                          <a:cs typeface="+mn-cs"/>
                        </a:rPr>
                        <a:t>2016</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lnSpc>
                          <a:spcPct val="100000"/>
                        </a:lnSpc>
                        <a:spcAft>
                          <a:spcPts val="800"/>
                        </a:spcAft>
                      </a:pP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tx1"/>
                          </a:solidFill>
                          <a:effectLst/>
                          <a:latin typeface="+mn-lt"/>
                          <a:ea typeface="+mn-ea"/>
                          <a:cs typeface="+mn-cs"/>
                        </a:rPr>
                        <a:t>This offloading efficiency is a measure of the ratio of traffic carried by light fidelity (LiFi) network to total traffic carried by both LiFi and cellular networks. The effect of LiFi-signal blocking and channel characteristics are considered. Different LiFi offloading timing cases are discussed. </a:t>
                      </a:r>
                      <a:endParaRPr lang="en-US" sz="1400">
                        <a:solidFill>
                          <a:schemeClr val="tx1"/>
                        </a:solidFill>
                        <a:latin typeface="Times New Roman" panose="02020603050405020304" pitchFamily="18" charset="0"/>
                        <a:cs typeface="Times New Roman" panose="02020603050405020304" pitchFamily="18" charset="0"/>
                      </a:endParaRPr>
                    </a:p>
                    <a:p>
                      <a:pPr algn="l"/>
                      <a:endParaRPr lang="en-US"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906904">
                <a:tc>
                  <a:txBody>
                    <a:bodyPr/>
                    <a:lstStyle/>
                    <a:p>
                      <a:pPr algn="ctr"/>
                      <a:r>
                        <a:rPr lang="en-US" sz="1400" dirty="0">
                          <a:solidFill>
                            <a:schemeClr val="tx1"/>
                          </a:solidFill>
                          <a:latin typeface="Times New Roman" panose="02020603050405020304" pitchFamily="18" charset="0"/>
                          <a:cs typeface="Times New Roman" panose="02020603050405020304" pitchFamily="18" charset="0"/>
                        </a:rPr>
                        <a:t>8</a:t>
                      </a:r>
                      <a:r>
                        <a:rPr lang="en-US" sz="1400">
                          <a:solidFill>
                            <a:schemeClr val="tx1"/>
                          </a:solidFill>
                          <a:latin typeface="Times New Roman" panose="02020603050405020304" pitchFamily="18" charset="0"/>
                          <a:cs typeface="Times New Roman" panose="02020603050405020304" pitchFamily="18" charset="0"/>
                        </a:rPr>
                        <a:t>.</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nSpc>
                          <a:spcPct val="100000"/>
                        </a:lnSpc>
                      </a:pPr>
                      <a:r>
                        <a:rPr lang="en-US" sz="1400" b="0" i="0" kern="1200">
                          <a:solidFill>
                            <a:schemeClr val="tx1"/>
                          </a:solidFill>
                          <a:effectLst/>
                          <a:latin typeface="+mn-lt"/>
                          <a:ea typeface="+mn-ea"/>
                          <a:cs typeface="+mn-cs"/>
                        </a:rPr>
                        <a:t>Li-Fi technology in traffic light</a:t>
                      </a:r>
                    </a:p>
                  </a:txBody>
                  <a:tcPr/>
                </a:tc>
                <a:tc>
                  <a:txBody>
                    <a:bodyPr/>
                    <a:lstStyle/>
                    <a:p>
                      <a:pPr algn="l">
                        <a:lnSpc>
                          <a:spcPct val="100000"/>
                        </a:lnSpc>
                        <a:spcAft>
                          <a:spcPts val="800"/>
                        </a:spcAft>
                      </a:pPr>
                      <a:r>
                        <a:rPr lang="fi-FI" sz="1400" b="0" i="0" u="none" strike="noStrike" kern="120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V.K.G. Kalaiselvi</a:t>
                      </a:r>
                      <a:r>
                        <a:rPr lang="fi-FI" sz="1400" b="0" i="0" kern="1200">
                          <a:solidFill>
                            <a:schemeClr val="tx1"/>
                          </a:solidFill>
                          <a:effectLst/>
                          <a:latin typeface="+mn-lt"/>
                          <a:ea typeface="+mn-ea"/>
                          <a:cs typeface="+mn-cs"/>
                        </a:rPr>
                        <a:t>; </a:t>
                      </a:r>
                      <a:r>
                        <a:rPr lang="fi-FI" sz="1400" b="0" i="0" u="none" strike="noStrike" kern="1200">
                          <a:solidFill>
                            <a:schemeClr val="tx1"/>
                          </a:solidFill>
                          <a:effectLst/>
                          <a:latin typeface="+mn-lt"/>
                          <a:ea typeface="+mn-ea"/>
                          <a:cs typeface="+mn-cs"/>
                          <a:hlinkClick r:id="rId4">
                            <a:extLst>
                              <a:ext uri="{A12FA001-AC4F-418D-AE19-62706E023703}">
                                <ahyp:hlinkClr xmlns:ahyp="http://schemas.microsoft.com/office/drawing/2018/hyperlinkcolor" val="tx"/>
                              </a:ext>
                            </a:extLst>
                          </a:hlinkClick>
                        </a:rPr>
                        <a:t>A. Sangavi</a:t>
                      </a:r>
                      <a:r>
                        <a:rPr lang="fi-FI" sz="1400" b="0" i="0" kern="1200">
                          <a:solidFill>
                            <a:schemeClr val="tx1"/>
                          </a:solidFill>
                          <a:effectLst/>
                          <a:latin typeface="+mn-lt"/>
                          <a:ea typeface="+mn-ea"/>
                          <a:cs typeface="+mn-cs"/>
                        </a:rPr>
                        <a:t>; </a:t>
                      </a:r>
                      <a:r>
                        <a:rPr lang="fi-FI" sz="1400" b="0" i="0" u="sng" kern="1200">
                          <a:solidFill>
                            <a:schemeClr val="tx1"/>
                          </a:solidFill>
                          <a:effectLst/>
                          <a:latin typeface="+mn-lt"/>
                          <a:ea typeface="+mn-ea"/>
                          <a:cs typeface="+mn-cs"/>
                          <a:hlinkClick r:id="rId5">
                            <a:extLst>
                              <a:ext uri="{A12FA001-AC4F-418D-AE19-62706E023703}">
                                <ahyp:hlinkClr xmlns:ahyp="http://schemas.microsoft.com/office/drawing/2018/hyperlinkcolor" val="tx"/>
                              </a:ext>
                            </a:extLst>
                          </a:hlinkClick>
                        </a:rPr>
                        <a:t>Dhivya</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lnSpc>
                          <a:spcPct val="107000"/>
                        </a:lnSpc>
                        <a:spcAft>
                          <a:spcPts val="800"/>
                        </a:spcAft>
                      </a:pPr>
                      <a:r>
                        <a:rPr lang="en-IN" sz="1400" b="0" kern="1200">
                          <a:solidFill>
                            <a:schemeClr val="tx1"/>
                          </a:solidFill>
                          <a:effectLst/>
                          <a:latin typeface="+mn-lt"/>
                          <a:ea typeface="+mn-ea"/>
                          <a:cs typeface="Times New Roman" panose="02020603050405020304" pitchFamily="18" charset="0"/>
                        </a:rPr>
                        <a:t>2017</a:t>
                      </a: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0000"/>
                        </a:lnSpc>
                        <a:spcAft>
                          <a:spcPts val="800"/>
                        </a:spcAft>
                      </a:pPr>
                      <a:r>
                        <a:rPr lang="en-US" sz="1400" b="0" i="0" kern="1200">
                          <a:solidFill>
                            <a:schemeClr val="tx1"/>
                          </a:solidFill>
                          <a:effectLst/>
                          <a:latin typeface="+mn-lt"/>
                          <a:ea typeface="+mn-ea"/>
                          <a:cs typeface="+mn-cs"/>
                        </a:rPr>
                        <a:t>The proposed paper aims in using the Li-Fi technology and enabling communication of vehicles with the traffic light system in order to prioritize the vehicles and change the signals accordingly rather than by a process of pre-defined order or by manual order.</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endParaRPr lang="en-US"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70728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Literature Survey</a:t>
            </a:r>
            <a:endParaRPr dirty="0"/>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graphicFrame>
        <p:nvGraphicFramePr>
          <p:cNvPr id="2" name="Table 1">
            <a:extLst>
              <a:ext uri="{FF2B5EF4-FFF2-40B4-BE49-F238E27FC236}">
                <a16:creationId xmlns:a16="http://schemas.microsoft.com/office/drawing/2014/main" id="{7C895339-ABDA-EA30-2C8D-BB8786E7D40D}"/>
              </a:ext>
            </a:extLst>
          </p:cNvPr>
          <p:cNvGraphicFramePr>
            <a:graphicFrameLocks noGrp="1"/>
          </p:cNvGraphicFramePr>
          <p:nvPr>
            <p:extLst>
              <p:ext uri="{D42A27DB-BD31-4B8C-83A1-F6EECF244321}">
                <p14:modId xmlns:p14="http://schemas.microsoft.com/office/powerpoint/2010/main" val="3975106155"/>
              </p:ext>
            </p:extLst>
          </p:nvPr>
        </p:nvGraphicFramePr>
        <p:xfrm>
          <a:off x="546755" y="1102936"/>
          <a:ext cx="11019934" cy="4675695"/>
        </p:xfrm>
        <a:graphic>
          <a:graphicData uri="http://schemas.openxmlformats.org/drawingml/2006/table">
            <a:tbl>
              <a:tblPr firstRow="1" bandRow="1">
                <a:tableStyleId>{5C22544A-7EE6-4342-B048-85BDC9FD1C3A}</a:tableStyleId>
              </a:tblPr>
              <a:tblGrid>
                <a:gridCol w="832750">
                  <a:extLst>
                    <a:ext uri="{9D8B030D-6E8A-4147-A177-3AD203B41FA5}">
                      <a16:colId xmlns:a16="http://schemas.microsoft.com/office/drawing/2014/main" val="20000"/>
                    </a:ext>
                  </a:extLst>
                </a:gridCol>
                <a:gridCol w="2116928">
                  <a:extLst>
                    <a:ext uri="{9D8B030D-6E8A-4147-A177-3AD203B41FA5}">
                      <a16:colId xmlns:a16="http://schemas.microsoft.com/office/drawing/2014/main" val="20001"/>
                    </a:ext>
                  </a:extLst>
                </a:gridCol>
                <a:gridCol w="3037511">
                  <a:extLst>
                    <a:ext uri="{9D8B030D-6E8A-4147-A177-3AD203B41FA5}">
                      <a16:colId xmlns:a16="http://schemas.microsoft.com/office/drawing/2014/main" val="20002"/>
                    </a:ext>
                  </a:extLst>
                </a:gridCol>
                <a:gridCol w="5032745">
                  <a:extLst>
                    <a:ext uri="{9D8B030D-6E8A-4147-A177-3AD203B41FA5}">
                      <a16:colId xmlns:a16="http://schemas.microsoft.com/office/drawing/2014/main" val="20003"/>
                    </a:ext>
                  </a:extLst>
                </a:gridCol>
              </a:tblGrid>
              <a:tr h="77898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a:solidFill>
                            <a:schemeClr val="tx1"/>
                          </a:solidFill>
                          <a:latin typeface="Times New Roman" panose="02020603050405020304" pitchFamily="18" charset="0"/>
                          <a:cs typeface="Times New Roman" panose="02020603050405020304" pitchFamily="18" charset="0"/>
                        </a:rPr>
                        <a:t>Sl </a:t>
                      </a:r>
                      <a:r>
                        <a:rPr lang="en-IN" sz="1400" dirty="0">
                          <a:solidFill>
                            <a:schemeClr val="tx1"/>
                          </a:solidFill>
                          <a:latin typeface="Times New Roman" panose="02020603050405020304" pitchFamily="18" charset="0"/>
                          <a:cs typeface="Times New Roman" panose="02020603050405020304" pitchFamily="18" charset="0"/>
                        </a:rPr>
                        <a:t>No</a:t>
                      </a:r>
                    </a:p>
                    <a:p>
                      <a:pPr algn="ct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solidFill>
                            <a:schemeClr val="tx1"/>
                          </a:solidFill>
                          <a:latin typeface="Times New Roman" panose="02020603050405020304" pitchFamily="18" charset="0"/>
                          <a:cs typeface="Times New Roman" panose="02020603050405020304" pitchFamily="18" charset="0"/>
                        </a:rPr>
                        <a:t>Title of the paper</a:t>
                      </a:r>
                    </a:p>
                    <a:p>
                      <a:pPr algn="ct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Authors</a:t>
                      </a:r>
                    </a:p>
                    <a:p>
                      <a:pPr algn="ctr"/>
                      <a:r>
                        <a:rPr lang="en-US" sz="1400">
                          <a:solidFill>
                            <a:schemeClr val="tx1"/>
                          </a:solidFill>
                          <a:latin typeface="Times New Roman" panose="02020603050405020304" pitchFamily="18" charset="0"/>
                          <a:cs typeface="Times New Roman" panose="02020603050405020304" pitchFamily="18" charset="0"/>
                        </a:rPr>
                        <a:t>and year of publication</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sz="1400">
                          <a:solidFill>
                            <a:schemeClr val="tx1"/>
                          </a:solidFill>
                          <a:latin typeface="Times New Roman" panose="02020603050405020304" pitchFamily="18" charset="0"/>
                          <a:cs typeface="Times New Roman" panose="02020603050405020304" pitchFamily="18" charset="0"/>
                        </a:rPr>
                        <a:t>Summary</a:t>
                      </a:r>
                      <a:endParaRPr lang="en-US"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758541">
                <a:tc>
                  <a:txBody>
                    <a:bodyPr/>
                    <a:lstStyle/>
                    <a:p>
                      <a:pPr algn="ctr"/>
                      <a:r>
                        <a:rPr lang="en-US" sz="1400">
                          <a:solidFill>
                            <a:schemeClr val="tx1"/>
                          </a:solidFill>
                          <a:latin typeface="Times New Roman" panose="02020603050405020304" pitchFamily="18" charset="0"/>
                          <a:cs typeface="Times New Roman" panose="02020603050405020304" pitchFamily="18" charset="0"/>
                        </a:rPr>
                        <a:t>9.</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nSpc>
                          <a:spcPct val="100000"/>
                        </a:lnSpc>
                      </a:pPr>
                      <a:r>
                        <a:rPr lang="en-IN" sz="1400" b="0" i="0" kern="1200">
                          <a:solidFill>
                            <a:schemeClr val="tx1"/>
                          </a:solidFill>
                          <a:effectLst/>
                          <a:latin typeface="+mn-lt"/>
                          <a:ea typeface="+mn-ea"/>
                          <a:cs typeface="+mn-cs"/>
                        </a:rPr>
                        <a:t>Li-Fi Based Smart Traffic Network</a:t>
                      </a:r>
                    </a:p>
                  </a:txBody>
                  <a:tcPr/>
                </a:tc>
                <a:tc>
                  <a:txBody>
                    <a:bodyPr/>
                    <a:lstStyle/>
                    <a:p>
                      <a:pPr marL="0" indent="0">
                        <a:lnSpc>
                          <a:spcPct val="100000"/>
                        </a:lnSpc>
                        <a:buNone/>
                      </a:pPr>
                      <a:r>
                        <a:rPr lang="en-US" sz="1400" b="0" i="0" u="sng" kern="120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A. Correa</a:t>
                      </a:r>
                      <a:r>
                        <a:rPr lang="en-US" sz="1400" b="0" i="0" kern="1200">
                          <a:solidFill>
                            <a:schemeClr val="tx1"/>
                          </a:solidFill>
                          <a:effectLst/>
                          <a:latin typeface="+mn-lt"/>
                          <a:ea typeface="+mn-ea"/>
                          <a:cs typeface="+mn-cs"/>
                        </a:rPr>
                        <a:t>; </a:t>
                      </a:r>
                      <a:r>
                        <a:rPr lang="en-US" sz="1400" b="0" i="0" u="none" strike="noStrike" kern="1200">
                          <a:solidFill>
                            <a:schemeClr val="tx1"/>
                          </a:solidFill>
                          <a:effectLst/>
                          <a:latin typeface="+mn-lt"/>
                          <a:ea typeface="+mn-ea"/>
                          <a:cs typeface="+mn-cs"/>
                          <a:hlinkClick r:id="rId4">
                            <a:extLst>
                              <a:ext uri="{A12FA001-AC4F-418D-AE19-62706E023703}">
                                <ahyp:hlinkClr xmlns:ahyp="http://schemas.microsoft.com/office/drawing/2018/hyperlinkcolor" val="tx"/>
                              </a:ext>
                            </a:extLst>
                          </a:hlinkClick>
                        </a:rPr>
                        <a:t>A. Hamid</a:t>
                      </a:r>
                      <a:r>
                        <a:rPr lang="en-US" sz="1400" b="0" i="0" kern="1200">
                          <a:solidFill>
                            <a:schemeClr val="tx1"/>
                          </a:solidFill>
                          <a:effectLst/>
                          <a:latin typeface="+mn-lt"/>
                          <a:ea typeface="+mn-ea"/>
                          <a:cs typeface="+mn-cs"/>
                        </a:rPr>
                        <a:t>; </a:t>
                      </a:r>
                      <a:r>
                        <a:rPr lang="en-US" sz="1400" b="0" i="0" u="none" strike="noStrike" kern="1200">
                          <a:solidFill>
                            <a:schemeClr val="tx1"/>
                          </a:solidFill>
                          <a:effectLst/>
                          <a:latin typeface="+mn-lt"/>
                          <a:ea typeface="+mn-ea"/>
                          <a:cs typeface="+mn-cs"/>
                          <a:hlinkClick r:id="rId5">
                            <a:extLst>
                              <a:ext uri="{A12FA001-AC4F-418D-AE19-62706E023703}">
                                <ahyp:hlinkClr xmlns:ahyp="http://schemas.microsoft.com/office/drawing/2018/hyperlinkcolor" val="tx"/>
                              </a:ext>
                            </a:extLst>
                          </a:hlinkClick>
                        </a:rPr>
                        <a:t>E. Sparks</a:t>
                      </a:r>
                      <a:r>
                        <a:rPr lang="en-US" sz="1400" b="0" i="0" u="none" strike="noStrike" kern="1200">
                          <a:solidFill>
                            <a:schemeClr val="tx1"/>
                          </a:solidFill>
                          <a:effectLst/>
                          <a:latin typeface="+mn-lt"/>
                          <a:ea typeface="+mn-ea"/>
                          <a:cs typeface="+mn-cs"/>
                        </a:rPr>
                        <a:t>      </a:t>
                      </a:r>
                    </a:p>
                    <a:p>
                      <a:pPr marL="0" indent="0">
                        <a:lnSpc>
                          <a:spcPct val="100000"/>
                        </a:lnSpc>
                        <a:buNone/>
                      </a:pP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lnSpc>
                          <a:spcPct val="107000"/>
                        </a:lnSpc>
                        <a:spcAft>
                          <a:spcPts val="800"/>
                        </a:spcAft>
                      </a:pPr>
                      <a:r>
                        <a:rPr lang="en-IN" sz="1400" b="0" kern="1200">
                          <a:solidFill>
                            <a:schemeClr val="tx1"/>
                          </a:solidFill>
                          <a:effectLst/>
                          <a:latin typeface="+mn-lt"/>
                          <a:ea typeface="+mn-ea"/>
                          <a:cs typeface="Times New Roman" panose="02020603050405020304" pitchFamily="18" charset="0"/>
                        </a:rPr>
                        <a:t>2018</a:t>
                      </a: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algn="l">
                        <a:lnSpc>
                          <a:spcPct val="100000"/>
                        </a:lnSpc>
                        <a:spcAft>
                          <a:spcPts val="800"/>
                        </a:spcAft>
                      </a:pPr>
                      <a:r>
                        <a:rPr lang="en-US" sz="1400" b="0" kern="1200">
                          <a:solidFill>
                            <a:schemeClr val="tx1"/>
                          </a:solidFill>
                          <a:latin typeface="+mn-lt"/>
                          <a:ea typeface="+mn-ea"/>
                          <a:cs typeface="+mn-cs"/>
                        </a:rPr>
                        <a:t>Using Li-Fi, a visible light communications system, autonomous cars will be able to communicate with each other and with the traffic network to eradicate any human error that might occur while driving today. </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0002"/>
                  </a:ext>
                </a:extLst>
              </a:tr>
              <a:tr h="2138167">
                <a:tc>
                  <a:txBody>
                    <a:bodyPr/>
                    <a:lstStyle/>
                    <a:p>
                      <a:pPr algn="ctr"/>
                      <a:r>
                        <a:rPr lang="en-US" sz="1400">
                          <a:solidFill>
                            <a:schemeClr val="tx1"/>
                          </a:solidFill>
                          <a:latin typeface="Times New Roman" panose="02020603050405020304" pitchFamily="18" charset="0"/>
                          <a:cs typeface="Times New Roman" panose="02020603050405020304" pitchFamily="18" charset="0"/>
                        </a:rPr>
                        <a:t>10.</a:t>
                      </a:r>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tx1"/>
                          </a:solidFill>
                          <a:effectLst/>
                          <a:latin typeface="+mn-lt"/>
                          <a:ea typeface="+mn-ea"/>
                          <a:cs typeface="+mn-cs"/>
                        </a:rPr>
                        <a:t>Li-Fi Based Automatic Traffic Signal Control for Emergency Vehicles</a:t>
                      </a:r>
                    </a:p>
                    <a:p>
                      <a:pPr algn="l"/>
                      <a:endParaRPr lang="en-US"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IN" sz="1400" b="0" i="0" u="none" strike="noStrike" kern="1200">
                          <a:solidFill>
                            <a:schemeClr val="tx1"/>
                          </a:solidFill>
                          <a:effectLst/>
                          <a:latin typeface="+mn-lt"/>
                          <a:ea typeface="+mn-ea"/>
                          <a:cs typeface="+mn-cs"/>
                          <a:hlinkClick r:id="rId6">
                            <a:extLst>
                              <a:ext uri="{A12FA001-AC4F-418D-AE19-62706E023703}">
                                <ahyp:hlinkClr xmlns:ahyp="http://schemas.microsoft.com/office/drawing/2018/hyperlinkcolor" val="tx"/>
                              </a:ext>
                            </a:extLst>
                          </a:hlinkClick>
                        </a:rPr>
                        <a:t>R Shanmughasundaram</a:t>
                      </a:r>
                      <a:r>
                        <a:rPr lang="en-IN" sz="1400" b="0" i="0" kern="1200">
                          <a:solidFill>
                            <a:schemeClr val="tx1"/>
                          </a:solidFill>
                          <a:effectLst/>
                          <a:latin typeface="+mn-lt"/>
                          <a:ea typeface="+mn-ea"/>
                          <a:cs typeface="+mn-cs"/>
                        </a:rPr>
                        <a:t>; </a:t>
                      </a:r>
                      <a:r>
                        <a:rPr lang="en-IN" sz="1400" b="0" i="0" u="none" strike="noStrike" kern="1200">
                          <a:solidFill>
                            <a:schemeClr val="tx1"/>
                          </a:solidFill>
                          <a:effectLst/>
                          <a:latin typeface="+mn-lt"/>
                          <a:ea typeface="+mn-ea"/>
                          <a:cs typeface="+mn-cs"/>
                          <a:hlinkClick r:id="rId7">
                            <a:extLst>
                              <a:ext uri="{A12FA001-AC4F-418D-AE19-62706E023703}">
                                <ahyp:hlinkClr xmlns:ahyp="http://schemas.microsoft.com/office/drawing/2018/hyperlinkcolor" val="tx"/>
                              </a:ext>
                            </a:extLst>
                          </a:hlinkClick>
                        </a:rPr>
                        <a:t>S Prasanna Vadanan</a:t>
                      </a:r>
                      <a:r>
                        <a:rPr lang="en-IN" sz="1400" b="0" i="0" kern="1200">
                          <a:solidFill>
                            <a:schemeClr val="tx1"/>
                          </a:solidFill>
                          <a:effectLst/>
                          <a:latin typeface="+mn-lt"/>
                          <a:ea typeface="+mn-ea"/>
                          <a:cs typeface="+mn-cs"/>
                        </a:rPr>
                        <a:t>; </a:t>
                      </a:r>
                      <a:r>
                        <a:rPr lang="en-IN" sz="1400" b="0" i="0" u="sng" kern="1200">
                          <a:solidFill>
                            <a:schemeClr val="tx1"/>
                          </a:solidFill>
                          <a:effectLst/>
                          <a:latin typeface="+mn-lt"/>
                          <a:ea typeface="+mn-ea"/>
                          <a:cs typeface="+mn-cs"/>
                          <a:hlinkClick r:id="rId8">
                            <a:extLst>
                              <a:ext uri="{A12FA001-AC4F-418D-AE19-62706E023703}">
                                <ahyp:hlinkClr xmlns:ahyp="http://schemas.microsoft.com/office/drawing/2018/hyperlinkcolor" val="tx"/>
                              </a:ext>
                            </a:extLst>
                          </a:hlinkClick>
                        </a:rPr>
                        <a:t>Vivek Dharmarajan</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p>
                      <a:pPr algn="l">
                        <a:lnSpc>
                          <a:spcPct val="107000"/>
                        </a:lnSpc>
                        <a:spcAft>
                          <a:spcPts val="800"/>
                        </a:spcAft>
                      </a:pPr>
                      <a:r>
                        <a:rPr lang="en-IN" sz="1400" b="0" kern="1200">
                          <a:solidFill>
                            <a:schemeClr val="tx1"/>
                          </a:solidFill>
                          <a:effectLst/>
                          <a:latin typeface="+mn-lt"/>
                          <a:ea typeface="Calibri" panose="020F0502020204030204" pitchFamily="34" charset="0"/>
                          <a:cs typeface="Times New Roman" panose="02020603050405020304" pitchFamily="18" charset="0"/>
                        </a:rPr>
                        <a:t>2018</a:t>
                      </a:r>
                      <a:endParaRPr lang="en-IN" sz="1400" b="0" kern="1200" dirty="0">
                        <a:solidFill>
                          <a:schemeClr val="tx1"/>
                        </a:solidFill>
                        <a:effectLst/>
                        <a:latin typeface="+mn-lt"/>
                        <a:ea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a:solidFill>
                            <a:schemeClr val="tx1"/>
                          </a:solidFill>
                          <a:effectLst/>
                          <a:latin typeface="+mn-lt"/>
                          <a:ea typeface="+mn-ea"/>
                          <a:cs typeface="+mn-cs"/>
                        </a:rPr>
                        <a:t>In this paper, a V2V communication system is proposed in which the headlight and tail light of a vehicle are made as Li-Fi transmitter and Li-Fi receiver respectively. Using the proposed system, when a traffic signal receives an alert regarding an emergency vehicle, the traffic signal would immediately turn green. Thus, decreasing the waiting time of emergency vehicles in traffic dense lanes</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a:t>
                      </a:r>
                      <a:endParaRPr lang="en-IN" sz="1400" b="0" kern="1200">
                        <a:solidFill>
                          <a:schemeClr val="tx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081901632"/>
                  </a:ext>
                </a:extLst>
              </a:tr>
            </a:tbl>
          </a:graphicData>
        </a:graphic>
      </p:graphicFrame>
    </p:spTree>
    <p:extLst>
      <p:ext uri="{BB962C8B-B14F-4D97-AF65-F5344CB8AC3E}">
        <p14:creationId xmlns:p14="http://schemas.microsoft.com/office/powerpoint/2010/main" val="664715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Problem Identification</a:t>
            </a:r>
            <a:endParaRPr dirty="0"/>
          </a:p>
        </p:txBody>
      </p:sp>
      <p:sp>
        <p:nvSpPr>
          <p:cNvPr id="68" name="Google Shape;68;p2"/>
          <p:cNvSpPr txBox="1">
            <a:spLocks noGrp="1"/>
          </p:cNvSpPr>
          <p:nvPr>
            <p:ph type="body" idx="1"/>
          </p:nvPr>
        </p:nvSpPr>
        <p:spPr>
          <a:xfrm>
            <a:off x="318051" y="1262063"/>
            <a:ext cx="11626575" cy="4741172"/>
          </a:xfrm>
          <a:prstGeom prst="rect">
            <a:avLst/>
          </a:prstGeom>
          <a:noFill/>
          <a:ln>
            <a:noFill/>
          </a:ln>
        </p:spPr>
        <p:txBody>
          <a:bodyPr spcFirstLastPara="1" wrap="square" lIns="91425" tIns="45700" rIns="91425" bIns="45700" anchor="t" anchorCtr="0">
            <a:noAutofit/>
          </a:bodyPr>
          <a:lstStyle/>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Cities with continually growing populations but the same infrastructure cause more traffic through the same points, making it difficult to follow the recommended 8-10 minute response time for medical emergencies like cardiac arrest or stroke.</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The current systems are based on fixed timers or sensors and do not take into account the priority of emergency vehicles.</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The existing traffic signal control systems are not designed to prioritize emergency vehicles like ambulances, firefighting, and police vehicles, resulting in delayed response times, which can have catastrophic consequences, especially in cases of medical emergencies.</a:t>
            </a: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379070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Objectives</a:t>
            </a:r>
            <a:endParaRPr dirty="0"/>
          </a:p>
        </p:txBody>
      </p:sp>
      <p:sp>
        <p:nvSpPr>
          <p:cNvPr id="68" name="Google Shape;68;p2"/>
          <p:cNvSpPr txBox="1">
            <a:spLocks noGrp="1"/>
          </p:cNvSpPr>
          <p:nvPr>
            <p:ph type="body" idx="1"/>
          </p:nvPr>
        </p:nvSpPr>
        <p:spPr>
          <a:xfrm>
            <a:off x="318051" y="1143000"/>
            <a:ext cx="11626575" cy="4860235"/>
          </a:xfrm>
          <a:prstGeom prst="rect">
            <a:avLst/>
          </a:prstGeom>
          <a:noFill/>
          <a:ln>
            <a:noFill/>
          </a:ln>
        </p:spPr>
        <p:txBody>
          <a:bodyPr spcFirstLastPara="1" wrap="square" lIns="91425" tIns="45700" rIns="91425" bIns="45700" anchor="t" anchorCtr="0">
            <a:noAutofit/>
          </a:bodyPr>
          <a:lstStyle/>
          <a:p>
            <a:pPr algn="just">
              <a:lnSpc>
                <a:spcPct val="150000"/>
              </a:lnSpc>
              <a:buFont typeface="Wingdings" panose="05000000000000000000" pitchFamily="2" charset="2"/>
              <a:buChar char="Ø"/>
            </a:pPr>
            <a:r>
              <a:rPr lang="en-US" sz="2400" b="0" i="0">
                <a:effectLst/>
                <a:latin typeface="Times New Roman" panose="02020603050405020304" pitchFamily="18" charset="0"/>
                <a:cs typeface="Times New Roman" panose="02020603050405020304" pitchFamily="18" charset="0"/>
              </a:rPr>
              <a:t>Reduce response time of emergency vehicles.</a:t>
            </a:r>
          </a:p>
          <a:p>
            <a:pPr algn="just">
              <a:lnSpc>
                <a:spcPct val="150000"/>
              </a:lnSpc>
              <a:buFont typeface="Wingdings" panose="05000000000000000000" pitchFamily="2" charset="2"/>
              <a:buChar char="Ø"/>
            </a:pPr>
            <a:r>
              <a:rPr lang="en-US" sz="2400" b="0" i="0">
                <a:effectLst/>
                <a:latin typeface="Times New Roman" panose="02020603050405020304" pitchFamily="18" charset="0"/>
                <a:cs typeface="Times New Roman" panose="02020603050405020304" pitchFamily="18" charset="0"/>
              </a:rPr>
              <a:t>Improve overall traffic flow in the city while providing priority passage.</a:t>
            </a:r>
          </a:p>
          <a:p>
            <a:pPr algn="just">
              <a:lnSpc>
                <a:spcPct val="150000"/>
              </a:lnSpc>
              <a:buFont typeface="Wingdings" panose="05000000000000000000" pitchFamily="2" charset="2"/>
              <a:buChar char="Ø"/>
            </a:pPr>
            <a:r>
              <a:rPr lang="en-US" sz="2400" b="0" i="0">
                <a:effectLst/>
                <a:latin typeface="Times New Roman" panose="02020603050405020304" pitchFamily="18" charset="0"/>
                <a:cs typeface="Times New Roman" panose="02020603050405020304" pitchFamily="18" charset="0"/>
              </a:rPr>
              <a:t>Minimize risks of accidents and loss of lives due to delayed response times of emergency vehicles.</a:t>
            </a:r>
          </a:p>
          <a:p>
            <a:pPr algn="just">
              <a:lnSpc>
                <a:spcPct val="150000"/>
              </a:lnSpc>
              <a:buFont typeface="Wingdings" panose="05000000000000000000" pitchFamily="2" charset="2"/>
              <a:buChar char="Ø"/>
            </a:pPr>
            <a:r>
              <a:rPr lang="en-US" sz="2400" b="0" i="0">
                <a:effectLst/>
                <a:latin typeface="Times New Roman" panose="02020603050405020304" pitchFamily="18" charset="0"/>
                <a:cs typeface="Times New Roman" panose="02020603050405020304" pitchFamily="18" charset="0"/>
              </a:rPr>
              <a:t>Provide immediate response from hospital side for emergency vehicle and connect all hospitals to one platform using IoT.</a:t>
            </a:r>
          </a:p>
          <a:p>
            <a:pPr algn="just">
              <a:lnSpc>
                <a:spcPct val="150000"/>
              </a:lnSpc>
              <a:buFont typeface="Wingdings" panose="05000000000000000000" pitchFamily="2" charset="2"/>
              <a:buChar char="Ø"/>
            </a:pPr>
            <a:r>
              <a:rPr lang="en-US" sz="2400" b="0" i="0">
                <a:effectLst/>
                <a:latin typeface="Times New Roman" panose="02020603050405020304" pitchFamily="18" charset="0"/>
                <a:cs typeface="Times New Roman" panose="02020603050405020304" pitchFamily="18" charset="0"/>
              </a:rPr>
              <a:t>Increase adoption of LiFi technology for communication and traffic management in smart cities.</a:t>
            </a: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22926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Methodology</a:t>
            </a:r>
            <a:endParaRPr dirty="0"/>
          </a:p>
        </p:txBody>
      </p:sp>
      <p:sp>
        <p:nvSpPr>
          <p:cNvPr id="68" name="Google Shape;68;p2"/>
          <p:cNvSpPr txBox="1">
            <a:spLocks noGrp="1"/>
          </p:cNvSpPr>
          <p:nvPr>
            <p:ph type="body" idx="1"/>
          </p:nvPr>
        </p:nvSpPr>
        <p:spPr>
          <a:xfrm>
            <a:off x="318051" y="904973"/>
            <a:ext cx="11626575" cy="5098262"/>
          </a:xfrm>
          <a:prstGeom prst="rect">
            <a:avLst/>
          </a:prstGeom>
          <a:noFill/>
          <a:ln>
            <a:noFill/>
          </a:ln>
        </p:spPr>
        <p:txBody>
          <a:bodyPr spcFirstLastPara="1" wrap="square" lIns="91425" tIns="45700" rIns="91425" bIns="45700" anchor="t" anchorCtr="0">
            <a:noAutofit/>
          </a:bodyPr>
          <a:lstStyle/>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Li-Fi protocol represents data by varying the intensity of LED light.</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High intensity represents a binary 1, while low intensity represents a binary 0.</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Any LED fixture with a signal processing circuit can work as a Li-Fi transmitter, while a photodiode with a demodulation circuit can work as a receiver.</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Li-Fi achieves high-speed data transmission, up to several gigabits per second.</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The working of Li-Fi involves modulating a light source, typically an LED, to encode data in light pulses.</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The photodetector receives the light pulses and converts them back into electrical signals.</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The receiver then detects changes in light intensity and decodes the data from the light signals.</a:t>
            </a: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104992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Methodology</a:t>
            </a:r>
            <a:endParaRPr dirty="0"/>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pic>
        <p:nvPicPr>
          <p:cNvPr id="3" name="Picture 2">
            <a:extLst>
              <a:ext uri="{FF2B5EF4-FFF2-40B4-BE49-F238E27FC236}">
                <a16:creationId xmlns:a16="http://schemas.microsoft.com/office/drawing/2014/main" id="{765D5EF4-0E9A-D312-4869-D06D019BACCF}"/>
              </a:ext>
            </a:extLst>
          </p:cNvPr>
          <p:cNvPicPr>
            <a:picLocks noChangeAspect="1"/>
          </p:cNvPicPr>
          <p:nvPr/>
        </p:nvPicPr>
        <p:blipFill>
          <a:blip r:embed="rId3"/>
          <a:stretch>
            <a:fillRect/>
          </a:stretch>
        </p:blipFill>
        <p:spPr>
          <a:xfrm>
            <a:off x="947057" y="1143001"/>
            <a:ext cx="10402815" cy="4824166"/>
          </a:xfrm>
          <a:prstGeom prst="rect">
            <a:avLst/>
          </a:prstGeom>
        </p:spPr>
      </p:pic>
    </p:spTree>
    <p:extLst>
      <p:ext uri="{BB962C8B-B14F-4D97-AF65-F5344CB8AC3E}">
        <p14:creationId xmlns:p14="http://schemas.microsoft.com/office/powerpoint/2010/main" val="2966646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System Design</a:t>
            </a:r>
            <a:endParaRPr dirty="0"/>
          </a:p>
        </p:txBody>
      </p:sp>
      <p:sp>
        <p:nvSpPr>
          <p:cNvPr id="68" name="Google Shape;68;p2"/>
          <p:cNvSpPr txBox="1">
            <a:spLocks noGrp="1"/>
          </p:cNvSpPr>
          <p:nvPr>
            <p:ph type="body" idx="1"/>
          </p:nvPr>
        </p:nvSpPr>
        <p:spPr>
          <a:xfrm>
            <a:off x="318051" y="1036948"/>
            <a:ext cx="8354609" cy="4966287"/>
          </a:xfrm>
          <a:prstGeom prst="rect">
            <a:avLst/>
          </a:prstGeom>
          <a:noFill/>
          <a:ln>
            <a:noFill/>
          </a:ln>
        </p:spPr>
        <p:txBody>
          <a:bodyPr spcFirstLastPara="1" wrap="square" lIns="91425" tIns="45700" rIns="91425" bIns="45700" anchor="t" anchorCtr="0">
            <a:noAutofit/>
          </a:bodyPr>
          <a:lstStyle/>
          <a:p>
            <a:pPr algn="just">
              <a:lnSpc>
                <a:spcPct val="150000"/>
              </a:lnSpc>
              <a:buFont typeface="Arial" panose="020B0604020202020204" pitchFamily="34" charset="0"/>
              <a:buChar char="•"/>
            </a:pPr>
            <a:r>
              <a:rPr lang="en-US" sz="2200" b="0" i="0">
                <a:effectLst/>
                <a:latin typeface="Times New Roman" panose="02020603050405020304" pitchFamily="18" charset="0"/>
                <a:cs typeface="Times New Roman" panose="02020603050405020304" pitchFamily="18" charset="0"/>
              </a:rPr>
              <a:t>Two main nodes: the ambulance (emergency vehicle) and the traffic signal control.</a:t>
            </a:r>
          </a:p>
          <a:p>
            <a:pPr algn="just">
              <a:lnSpc>
                <a:spcPct val="150000"/>
              </a:lnSpc>
              <a:buFont typeface="Arial" panose="020B0604020202020204" pitchFamily="34" charset="0"/>
              <a:buChar char="•"/>
            </a:pPr>
            <a:r>
              <a:rPr lang="en-US" sz="2200" b="0" i="0">
                <a:effectLst/>
                <a:latin typeface="Times New Roman" panose="02020603050405020304" pitchFamily="18" charset="0"/>
                <a:cs typeface="Times New Roman" panose="02020603050405020304" pitchFamily="18" charset="0"/>
              </a:rPr>
              <a:t>The nodes are powered by microcontrollers, which control the transmission and reception of data.</a:t>
            </a:r>
          </a:p>
          <a:p>
            <a:pPr algn="just">
              <a:lnSpc>
                <a:spcPct val="150000"/>
              </a:lnSpc>
              <a:buFont typeface="Arial" panose="020B0604020202020204" pitchFamily="34" charset="0"/>
              <a:buChar char="•"/>
            </a:pPr>
            <a:r>
              <a:rPr lang="en-US" sz="2200" b="0" i="0">
                <a:effectLst/>
                <a:latin typeface="Times New Roman" panose="02020603050405020304" pitchFamily="18" charset="0"/>
                <a:cs typeface="Times New Roman" panose="02020603050405020304" pitchFamily="18" charset="0"/>
              </a:rPr>
              <a:t>The ambulance node includes a Li-Fi transmitter.</a:t>
            </a:r>
          </a:p>
          <a:p>
            <a:pPr algn="just">
              <a:lnSpc>
                <a:spcPct val="150000"/>
              </a:lnSpc>
              <a:buFont typeface="Arial" panose="020B0604020202020204" pitchFamily="34" charset="0"/>
              <a:buChar char="•"/>
            </a:pPr>
            <a:r>
              <a:rPr lang="en-US" sz="2200" b="0" i="0">
                <a:effectLst/>
                <a:latin typeface="Times New Roman" panose="02020603050405020304" pitchFamily="18" charset="0"/>
                <a:cs typeface="Times New Roman" panose="02020603050405020304" pitchFamily="18" charset="0"/>
              </a:rPr>
              <a:t>The traffic signal node is equipped with a Li-Fi receiver.</a:t>
            </a:r>
          </a:p>
          <a:p>
            <a:pPr algn="just">
              <a:lnSpc>
                <a:spcPct val="150000"/>
              </a:lnSpc>
              <a:buFont typeface="Arial" panose="020B0604020202020204" pitchFamily="34" charset="0"/>
              <a:buChar char="•"/>
            </a:pPr>
            <a:r>
              <a:rPr lang="en-US" sz="2200" b="0" i="0">
                <a:effectLst/>
                <a:latin typeface="Times New Roman" panose="02020603050405020304" pitchFamily="18" charset="0"/>
                <a:cs typeface="Times New Roman" panose="02020603050405020304" pitchFamily="18" charset="0"/>
              </a:rPr>
              <a:t>The microcontroller located within the traffic signal node decrypts the received signal and triggers the traffic signal LED light to change the color of a particular direction to green.</a:t>
            </a: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16</a:t>
            </a:fld>
            <a:endParaRPr/>
          </a:p>
        </p:txBody>
      </p:sp>
      <p:pic>
        <p:nvPicPr>
          <p:cNvPr id="2" name="Content Placeholder 7">
            <a:extLst>
              <a:ext uri="{FF2B5EF4-FFF2-40B4-BE49-F238E27FC236}">
                <a16:creationId xmlns:a16="http://schemas.microsoft.com/office/drawing/2014/main" id="{2357AF12-685E-D4AF-0F49-7FC5F82E1C5F}"/>
              </a:ext>
            </a:extLst>
          </p:cNvPr>
          <p:cNvPicPr>
            <a:picLocks noChangeAspect="1"/>
          </p:cNvPicPr>
          <p:nvPr/>
        </p:nvPicPr>
        <p:blipFill rotWithShape="1">
          <a:blip r:embed="rId3">
            <a:extLst>
              <a:ext uri="{28A0092B-C50C-407E-A947-70E740481C1C}">
                <a14:useLocalDpi xmlns:a14="http://schemas.microsoft.com/office/drawing/2010/main" val="0"/>
              </a:ext>
            </a:extLst>
          </a:blip>
          <a:srcRect l="10118" t="3591" r="8935" b="4861"/>
          <a:stretch/>
        </p:blipFill>
        <p:spPr>
          <a:xfrm>
            <a:off x="8746773" y="1036948"/>
            <a:ext cx="3127176" cy="5034008"/>
          </a:xfrm>
          <a:prstGeom prst="rect">
            <a:avLst/>
          </a:prstGeom>
          <a:noFill/>
          <a:ln>
            <a:noFill/>
          </a:ln>
        </p:spPr>
      </p:pic>
    </p:spTree>
    <p:extLst>
      <p:ext uri="{BB962C8B-B14F-4D97-AF65-F5344CB8AC3E}">
        <p14:creationId xmlns:p14="http://schemas.microsoft.com/office/powerpoint/2010/main" val="1551564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System Design</a:t>
            </a:r>
            <a:endParaRPr lang="en-IN" dirty="0"/>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17</a:t>
            </a:fld>
            <a:endParaRPr/>
          </a:p>
        </p:txBody>
      </p:sp>
      <p:pic>
        <p:nvPicPr>
          <p:cNvPr id="2" name="Content Placeholder 7">
            <a:extLst>
              <a:ext uri="{FF2B5EF4-FFF2-40B4-BE49-F238E27FC236}">
                <a16:creationId xmlns:a16="http://schemas.microsoft.com/office/drawing/2014/main" id="{55CA39DA-3419-CEE3-B4C5-B974456BABDF}"/>
              </a:ext>
            </a:extLst>
          </p:cNvPr>
          <p:cNvPicPr>
            <a:picLocks noChangeAspect="1"/>
          </p:cNvPicPr>
          <p:nvPr/>
        </p:nvPicPr>
        <p:blipFill rotWithShape="1">
          <a:blip r:embed="rId3">
            <a:extLst>
              <a:ext uri="{28A0092B-C50C-407E-A947-70E740481C1C}">
                <a14:useLocalDpi xmlns:a14="http://schemas.microsoft.com/office/drawing/2010/main" val="0"/>
              </a:ext>
            </a:extLst>
          </a:blip>
          <a:srcRect l="24252" t="24439" r="54828" b="29786"/>
          <a:stretch/>
        </p:blipFill>
        <p:spPr>
          <a:xfrm>
            <a:off x="947057" y="1416432"/>
            <a:ext cx="4284847" cy="4192515"/>
          </a:xfrm>
          <a:prstGeom prst="rect">
            <a:avLst/>
          </a:prstGeom>
          <a:noFill/>
          <a:ln>
            <a:noFill/>
          </a:ln>
        </p:spPr>
      </p:pic>
      <p:pic>
        <p:nvPicPr>
          <p:cNvPr id="3" name="Picture 2">
            <a:extLst>
              <a:ext uri="{FF2B5EF4-FFF2-40B4-BE49-F238E27FC236}">
                <a16:creationId xmlns:a16="http://schemas.microsoft.com/office/drawing/2014/main" id="{99576FE7-5145-1773-1130-E60AB73F4389}"/>
              </a:ext>
            </a:extLst>
          </p:cNvPr>
          <p:cNvPicPr>
            <a:picLocks noChangeAspect="1"/>
          </p:cNvPicPr>
          <p:nvPr/>
        </p:nvPicPr>
        <p:blipFill rotWithShape="1">
          <a:blip r:embed="rId3">
            <a:extLst>
              <a:ext uri="{28A0092B-C50C-407E-A947-70E740481C1C}">
                <a14:useLocalDpi xmlns:a14="http://schemas.microsoft.com/office/drawing/2010/main" val="0"/>
              </a:ext>
            </a:extLst>
          </a:blip>
          <a:srcRect l="48228" t="24520" r="26376" b="35301"/>
          <a:stretch/>
        </p:blipFill>
        <p:spPr>
          <a:xfrm>
            <a:off x="6960098" y="1598037"/>
            <a:ext cx="4114800" cy="3661926"/>
          </a:xfrm>
          <a:prstGeom prst="rect">
            <a:avLst/>
          </a:prstGeom>
        </p:spPr>
      </p:pic>
      <p:sp>
        <p:nvSpPr>
          <p:cNvPr id="5" name="TextBox 4">
            <a:extLst>
              <a:ext uri="{FF2B5EF4-FFF2-40B4-BE49-F238E27FC236}">
                <a16:creationId xmlns:a16="http://schemas.microsoft.com/office/drawing/2014/main" id="{DE2A963E-ABF3-C6DE-271F-C5F00F37643C}"/>
              </a:ext>
            </a:extLst>
          </p:cNvPr>
          <p:cNvSpPr txBox="1"/>
          <p:nvPr/>
        </p:nvSpPr>
        <p:spPr>
          <a:xfrm>
            <a:off x="947057" y="5474078"/>
            <a:ext cx="4652465" cy="307777"/>
          </a:xfrm>
          <a:prstGeom prst="rect">
            <a:avLst/>
          </a:prstGeom>
          <a:noFill/>
        </p:spPr>
        <p:txBody>
          <a:bodyPr wrap="square">
            <a:spAutoFit/>
          </a:bodyPr>
          <a:lstStyle/>
          <a:p>
            <a:pPr algn="ctr"/>
            <a:r>
              <a:rPr lang="en-IN"/>
              <a:t>Block diagram of ambulance module </a:t>
            </a:r>
          </a:p>
        </p:txBody>
      </p:sp>
      <p:sp>
        <p:nvSpPr>
          <p:cNvPr id="7" name="TextBox 6">
            <a:extLst>
              <a:ext uri="{FF2B5EF4-FFF2-40B4-BE49-F238E27FC236}">
                <a16:creationId xmlns:a16="http://schemas.microsoft.com/office/drawing/2014/main" id="{0076199E-5FE3-411F-B3BA-A5F1833F1B48}"/>
              </a:ext>
            </a:extLst>
          </p:cNvPr>
          <p:cNvSpPr txBox="1"/>
          <p:nvPr/>
        </p:nvSpPr>
        <p:spPr>
          <a:xfrm>
            <a:off x="6337170" y="5446404"/>
            <a:ext cx="4846645" cy="307777"/>
          </a:xfrm>
          <a:prstGeom prst="rect">
            <a:avLst/>
          </a:prstGeom>
          <a:noFill/>
        </p:spPr>
        <p:txBody>
          <a:bodyPr wrap="square">
            <a:spAutoFit/>
          </a:bodyPr>
          <a:lstStyle/>
          <a:p>
            <a:pPr algn="ctr"/>
            <a:r>
              <a:rPr lang="en-IN"/>
              <a:t>Block diagram of traffic light1 module </a:t>
            </a:r>
          </a:p>
        </p:txBody>
      </p:sp>
    </p:spTree>
    <p:extLst>
      <p:ext uri="{BB962C8B-B14F-4D97-AF65-F5344CB8AC3E}">
        <p14:creationId xmlns:p14="http://schemas.microsoft.com/office/powerpoint/2010/main" val="1049094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Implementation</a:t>
            </a:r>
            <a:endParaRPr dirty="0"/>
          </a:p>
        </p:txBody>
      </p:sp>
      <p:sp>
        <p:nvSpPr>
          <p:cNvPr id="68" name="Google Shape;68;p2"/>
          <p:cNvSpPr txBox="1">
            <a:spLocks noGrp="1"/>
          </p:cNvSpPr>
          <p:nvPr>
            <p:ph type="body" idx="1"/>
          </p:nvPr>
        </p:nvSpPr>
        <p:spPr>
          <a:xfrm>
            <a:off x="318052" y="1036948"/>
            <a:ext cx="6638930" cy="4966287"/>
          </a:xfrm>
          <a:prstGeom prst="rect">
            <a:avLst/>
          </a:prstGeom>
          <a:noFill/>
          <a:ln>
            <a:noFill/>
          </a:ln>
        </p:spPr>
        <p:txBody>
          <a:bodyPr spcFirstLastPara="1" wrap="square" lIns="91425" tIns="45700" rIns="91425" bIns="45700" anchor="t" anchorCtr="0">
            <a:noAutofit/>
          </a:bodyPr>
          <a:lstStyle/>
          <a:p>
            <a:pPr marL="76200" indent="0" algn="just">
              <a:lnSpc>
                <a:spcPct val="150000"/>
              </a:lnSpc>
              <a:buNone/>
            </a:pPr>
            <a:r>
              <a:rPr lang="en-IN" sz="24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COMPONENTS:</a:t>
            </a:r>
          </a:p>
          <a:p>
            <a:pPr marL="76200" indent="0" algn="just">
              <a:lnSpc>
                <a:spcPct val="150000"/>
              </a:lnSpc>
              <a:buNone/>
            </a:pPr>
            <a:r>
              <a:rPr lang="en-IN" sz="22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Controller-Arduino Uno ATmega328:</a:t>
            </a:r>
            <a:endParaRPr lang="en-IN" sz="2200" b="1">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just">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14 digital input/output pins (with 6 that can function as PWM outputs)</a:t>
            </a:r>
          </a:p>
          <a:p>
            <a:pPr algn="just">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6 analog inputs</a:t>
            </a:r>
          </a:p>
          <a:p>
            <a:pPr algn="just">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The board can run on an external power supply of 6 to 20 volts.</a:t>
            </a:r>
          </a:p>
          <a:p>
            <a:pPr algn="just">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If less than 7V is supplied, the 5V pin may output less than 5 volts and the board may be unstable.</a:t>
            </a:r>
            <a:endParaRPr lang="en-US" sz="2200" b="0" i="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Outputs a regulated 5V from the onboard regulator.</a:t>
            </a: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18</a:t>
            </a:fld>
            <a:endParaRPr/>
          </a:p>
        </p:txBody>
      </p:sp>
      <p:pic>
        <p:nvPicPr>
          <p:cNvPr id="3" name="Picture 2">
            <a:extLst>
              <a:ext uri="{FF2B5EF4-FFF2-40B4-BE49-F238E27FC236}">
                <a16:creationId xmlns:a16="http://schemas.microsoft.com/office/drawing/2014/main" id="{BB069D49-A726-F68A-4A4A-0011D1F246F8}"/>
              </a:ext>
            </a:extLst>
          </p:cNvPr>
          <p:cNvPicPr>
            <a:picLocks noChangeAspect="1"/>
          </p:cNvPicPr>
          <p:nvPr/>
        </p:nvPicPr>
        <p:blipFill rotWithShape="1">
          <a:blip r:embed="rId3">
            <a:extLst>
              <a:ext uri="{28A0092B-C50C-407E-A947-70E740481C1C}">
                <a14:useLocalDpi xmlns:a14="http://schemas.microsoft.com/office/drawing/2010/main" val="0"/>
              </a:ext>
            </a:extLst>
          </a:blip>
          <a:srcRect l="1770" r="1357"/>
          <a:stretch/>
        </p:blipFill>
        <p:spPr>
          <a:xfrm>
            <a:off x="6956982" y="1994418"/>
            <a:ext cx="5147034" cy="3826634"/>
          </a:xfrm>
          <a:prstGeom prst="rect">
            <a:avLst/>
          </a:prstGeom>
          <a:ln>
            <a:solidFill>
              <a:schemeClr val="bg1"/>
            </a:solidFill>
          </a:ln>
        </p:spPr>
      </p:pic>
    </p:spTree>
    <p:extLst>
      <p:ext uri="{BB962C8B-B14F-4D97-AF65-F5344CB8AC3E}">
        <p14:creationId xmlns:p14="http://schemas.microsoft.com/office/powerpoint/2010/main" val="3072007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Implementation</a:t>
            </a:r>
            <a:endParaRPr dirty="0"/>
          </a:p>
        </p:txBody>
      </p:sp>
      <p:sp>
        <p:nvSpPr>
          <p:cNvPr id="68" name="Google Shape;68;p2"/>
          <p:cNvSpPr txBox="1">
            <a:spLocks noGrp="1"/>
          </p:cNvSpPr>
          <p:nvPr>
            <p:ph type="body" idx="1"/>
          </p:nvPr>
        </p:nvSpPr>
        <p:spPr>
          <a:xfrm>
            <a:off x="318052" y="1036948"/>
            <a:ext cx="6638930" cy="4966287"/>
          </a:xfrm>
          <a:prstGeom prst="rect">
            <a:avLst/>
          </a:prstGeom>
          <a:noFill/>
          <a:ln>
            <a:noFill/>
          </a:ln>
        </p:spPr>
        <p:txBody>
          <a:bodyPr spcFirstLastPara="1" wrap="square" lIns="91425" tIns="45700" rIns="91425" bIns="45700" anchor="t" anchorCtr="0">
            <a:noAutofit/>
          </a:bodyPr>
          <a:lstStyle/>
          <a:p>
            <a:pPr marL="76200" indent="0" algn="just">
              <a:lnSpc>
                <a:spcPct val="150000"/>
              </a:lnSpc>
              <a:buNone/>
            </a:pPr>
            <a:r>
              <a:rPr lang="en-IN" sz="24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COMPONENTS:</a:t>
            </a:r>
          </a:p>
          <a:p>
            <a:pPr marL="76200" indent="0" algn="just">
              <a:lnSpc>
                <a:spcPct val="150000"/>
              </a:lnSpc>
              <a:buNone/>
            </a:pPr>
            <a:r>
              <a:rPr lang="en-IN" sz="2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Li-Fi transmitter - LED lamp: </a:t>
            </a:r>
          </a:p>
          <a:p>
            <a:pPr algn="just">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LED lamps are an affordable and low-power option for Li-Fi transmission, making them ideal for traffic signal control systems.</a:t>
            </a:r>
          </a:p>
          <a:p>
            <a:pPr algn="just">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A baud rate of 1200 is recommended for optimal performance.</a:t>
            </a:r>
          </a:p>
          <a:p>
            <a:pPr algn="just">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At this baud rate, LED lamps can transmit data faster.</a:t>
            </a:r>
          </a:p>
          <a:p>
            <a:pPr algn="just">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They can be easily installed in existing traffic lights, simplifying the setup process.</a:t>
            </a: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Times New Roman" panose="02020603050405020304" pitchFamily="18" charset="0"/>
                <a:sym typeface="Comfortaa"/>
              </a:rPr>
              <a:t>National Conference </a:t>
            </a:r>
            <a:r>
              <a:rPr lang="en-US" sz="1600" b="1">
                <a:solidFill>
                  <a:schemeClr val="accent2"/>
                </a:solidFill>
                <a:latin typeface="Comfortaa"/>
                <a:ea typeface="Comfortaa"/>
                <a:cs typeface="Times New Roman" panose="02020603050405020304" pitchFamily="18" charset="0"/>
                <a:sym typeface="Comfortaa"/>
              </a:rPr>
              <a:t>on</a:t>
            </a:r>
            <a:r>
              <a:rPr lang="en-US" sz="1600" b="1">
                <a:solidFill>
                  <a:srgbClr val="4472C4"/>
                </a:solidFill>
                <a:latin typeface="Comfortaa"/>
                <a:ea typeface="Comfortaa"/>
                <a:cs typeface="Times New Roman" panose="02020603050405020304" pitchFamily="18" charset="0"/>
                <a:sym typeface="Comfortaa"/>
              </a:rPr>
              <a:t> </a:t>
            </a:r>
            <a:r>
              <a:rPr lang="en-US" sz="1600" b="1">
                <a:solidFill>
                  <a:srgbClr val="C00000"/>
                </a:solidFill>
                <a:latin typeface="Comfortaa"/>
                <a:ea typeface="Comfortaa"/>
                <a:cs typeface="Times New Roman" panose="02020603050405020304" pitchFamily="18" charset="0"/>
                <a:sym typeface="Comfortaa"/>
              </a:rPr>
              <a:t>Computing Technology - 202</a:t>
            </a:r>
            <a:r>
              <a:rPr lang="en-US" b="1">
                <a:solidFill>
                  <a:srgbClr val="C00000"/>
                </a:solidFill>
                <a:latin typeface="Comfortaa"/>
                <a:ea typeface="Comfortaa"/>
                <a:cs typeface="Times New Roman" panose="02020603050405020304" pitchFamily="18" charset="0"/>
                <a:sym typeface="Comfortaa"/>
              </a:rPr>
              <a:t>3</a:t>
            </a:r>
            <a:r>
              <a:rPr lang="en-US" sz="1600" b="1">
                <a:solidFill>
                  <a:srgbClr val="C00000"/>
                </a:solidFill>
                <a:latin typeface="Comfortaa"/>
                <a:ea typeface="Comfortaa"/>
                <a:cs typeface="Times New Roman" panose="02020603050405020304" pitchFamily="18" charset="0"/>
                <a:sym typeface="Comfortaa"/>
              </a:rPr>
              <a:t> (NCCT’2</a:t>
            </a:r>
            <a:r>
              <a:rPr lang="en-US" b="1">
                <a:solidFill>
                  <a:srgbClr val="C00000"/>
                </a:solidFill>
                <a:latin typeface="Comfortaa"/>
                <a:ea typeface="Comfortaa"/>
                <a:cs typeface="Times New Roman" panose="02020603050405020304" pitchFamily="18" charset="0"/>
                <a:sym typeface="Comfortaa"/>
              </a:rPr>
              <a:t>3</a:t>
            </a:r>
            <a:r>
              <a:rPr lang="en-US" sz="1600" b="1">
                <a:solidFill>
                  <a:srgbClr val="C00000"/>
                </a:solidFill>
                <a:latin typeface="Comfortaa"/>
                <a:ea typeface="Comfortaa"/>
                <a:cs typeface="Times New Roman" panose="02020603050405020304" pitchFamily="18" charset="0"/>
                <a:sym typeface="Comfortaa"/>
              </a:rPr>
              <a:t>) – </a:t>
            </a:r>
            <a:r>
              <a:rPr lang="en-US" sz="1600" b="1">
                <a:solidFill>
                  <a:schemeClr val="accent2"/>
                </a:solidFill>
                <a:latin typeface="Comfortaa"/>
                <a:ea typeface="Comfortaa"/>
                <a:cs typeface="Times New Roman" panose="02020603050405020304" pitchFamily="18" charset="0"/>
                <a:sym typeface="Comfortaa"/>
              </a:rPr>
              <a:t>Paper ID : </a:t>
            </a:r>
            <a:r>
              <a:rPr lang="en-US" b="1">
                <a:solidFill>
                  <a:schemeClr val="accent2"/>
                </a:solidFill>
                <a:latin typeface="Comfortaa"/>
                <a:ea typeface="Comfortaa"/>
                <a:cs typeface="Times New Roman" panose="02020603050405020304" pitchFamily="18" charset="0"/>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19</a:t>
            </a:fld>
            <a:endParaRPr/>
          </a:p>
        </p:txBody>
      </p:sp>
      <p:pic>
        <p:nvPicPr>
          <p:cNvPr id="2" name="Picture 1">
            <a:extLst>
              <a:ext uri="{FF2B5EF4-FFF2-40B4-BE49-F238E27FC236}">
                <a16:creationId xmlns:a16="http://schemas.microsoft.com/office/drawing/2014/main" id="{0A0B6DEF-EFDF-10F9-0F88-7898E7ED1BA8}"/>
              </a:ext>
            </a:extLst>
          </p:cNvPr>
          <p:cNvPicPr>
            <a:picLocks noChangeAspect="1"/>
          </p:cNvPicPr>
          <p:nvPr/>
        </p:nvPicPr>
        <p:blipFill rotWithShape="1">
          <a:blip r:embed="rId3">
            <a:extLst>
              <a:ext uri="{28A0092B-C50C-407E-A947-70E740481C1C}">
                <a14:useLocalDpi xmlns:a14="http://schemas.microsoft.com/office/drawing/2010/main" val="0"/>
              </a:ext>
            </a:extLst>
          </a:blip>
          <a:srcRect l="27588" t="35221" r="46295" b="38463"/>
          <a:stretch/>
        </p:blipFill>
        <p:spPr>
          <a:xfrm>
            <a:off x="7151119" y="2064470"/>
            <a:ext cx="4722829" cy="3544478"/>
          </a:xfrm>
          <a:prstGeom prst="rect">
            <a:avLst/>
          </a:prstGeom>
        </p:spPr>
      </p:pic>
    </p:spTree>
    <p:extLst>
      <p:ext uri="{BB962C8B-B14F-4D97-AF65-F5344CB8AC3E}">
        <p14:creationId xmlns:p14="http://schemas.microsoft.com/office/powerpoint/2010/main" val="1485354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Implementation</a:t>
            </a:r>
            <a:endParaRPr dirty="0"/>
          </a:p>
        </p:txBody>
      </p:sp>
      <p:sp>
        <p:nvSpPr>
          <p:cNvPr id="68" name="Google Shape;68;p2"/>
          <p:cNvSpPr txBox="1">
            <a:spLocks noGrp="1"/>
          </p:cNvSpPr>
          <p:nvPr>
            <p:ph type="body" idx="1"/>
          </p:nvPr>
        </p:nvSpPr>
        <p:spPr>
          <a:xfrm>
            <a:off x="318052" y="1036948"/>
            <a:ext cx="6638930" cy="4966287"/>
          </a:xfrm>
          <a:prstGeom prst="rect">
            <a:avLst/>
          </a:prstGeom>
          <a:noFill/>
          <a:ln>
            <a:noFill/>
          </a:ln>
        </p:spPr>
        <p:txBody>
          <a:bodyPr spcFirstLastPara="1" wrap="square" lIns="91425" tIns="45700" rIns="91425" bIns="45700" anchor="t" anchorCtr="0">
            <a:noAutofit/>
          </a:bodyPr>
          <a:lstStyle/>
          <a:p>
            <a:pPr marL="76200" indent="0" algn="just">
              <a:lnSpc>
                <a:spcPct val="150000"/>
              </a:lnSpc>
              <a:buNone/>
            </a:pPr>
            <a:r>
              <a:rPr lang="en-IN" sz="24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COMPONENTS:</a:t>
            </a:r>
          </a:p>
          <a:p>
            <a:pPr marL="76200" indent="0" algn="just">
              <a:lnSpc>
                <a:spcPct val="150000"/>
              </a:lnSpc>
              <a:buNone/>
            </a:pPr>
            <a:r>
              <a:rPr lang="en-IN" sz="2200" b="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Li-Fi receiver - Solar Panel: </a:t>
            </a:r>
          </a:p>
          <a:p>
            <a:pPr algn="l">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The use of a solar panel ensures a self-sufficient and sustainable power source for the traffic signal control node.</a:t>
            </a:r>
          </a:p>
          <a:p>
            <a:pPr algn="l">
              <a:buFont typeface="Arial" panose="020B0604020202020204" pitchFamily="34" charset="0"/>
              <a:buChar char="•"/>
            </a:pPr>
            <a:r>
              <a:rPr lang="en-US" sz="2200" b="0" i="0">
                <a:solidFill>
                  <a:schemeClr val="tx1"/>
                </a:solidFill>
                <a:effectLst/>
                <a:latin typeface="Times New Roman" panose="02020603050405020304" pitchFamily="18" charset="0"/>
                <a:cs typeface="Times New Roman" panose="02020603050405020304" pitchFamily="18" charset="0"/>
              </a:rPr>
              <a:t>The system is energy efficient and cost-effective for reliable data transmission.</a:t>
            </a: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Times New Roman" panose="02020603050405020304" pitchFamily="18" charset="0"/>
                <a:sym typeface="Comfortaa"/>
              </a:rPr>
              <a:t>National Conference </a:t>
            </a:r>
            <a:r>
              <a:rPr lang="en-US" sz="1600" b="1">
                <a:solidFill>
                  <a:schemeClr val="accent2"/>
                </a:solidFill>
                <a:latin typeface="Comfortaa"/>
                <a:ea typeface="Comfortaa"/>
                <a:cs typeface="Times New Roman" panose="02020603050405020304" pitchFamily="18" charset="0"/>
                <a:sym typeface="Comfortaa"/>
              </a:rPr>
              <a:t>on</a:t>
            </a:r>
            <a:r>
              <a:rPr lang="en-US" sz="1600" b="1">
                <a:solidFill>
                  <a:srgbClr val="4472C4"/>
                </a:solidFill>
                <a:latin typeface="Comfortaa"/>
                <a:ea typeface="Comfortaa"/>
                <a:cs typeface="Times New Roman" panose="02020603050405020304" pitchFamily="18" charset="0"/>
                <a:sym typeface="Comfortaa"/>
              </a:rPr>
              <a:t> </a:t>
            </a:r>
            <a:r>
              <a:rPr lang="en-US" sz="1600" b="1">
                <a:solidFill>
                  <a:srgbClr val="C00000"/>
                </a:solidFill>
                <a:latin typeface="Comfortaa"/>
                <a:ea typeface="Comfortaa"/>
                <a:cs typeface="Times New Roman" panose="02020603050405020304" pitchFamily="18" charset="0"/>
                <a:sym typeface="Comfortaa"/>
              </a:rPr>
              <a:t>Computing Technology - 202</a:t>
            </a:r>
            <a:r>
              <a:rPr lang="en-US" b="1">
                <a:solidFill>
                  <a:srgbClr val="C00000"/>
                </a:solidFill>
                <a:latin typeface="Comfortaa"/>
                <a:ea typeface="Comfortaa"/>
                <a:cs typeface="Times New Roman" panose="02020603050405020304" pitchFamily="18" charset="0"/>
                <a:sym typeface="Comfortaa"/>
              </a:rPr>
              <a:t>3</a:t>
            </a:r>
            <a:r>
              <a:rPr lang="en-US" sz="1600" b="1">
                <a:solidFill>
                  <a:srgbClr val="C00000"/>
                </a:solidFill>
                <a:latin typeface="Comfortaa"/>
                <a:ea typeface="Comfortaa"/>
                <a:cs typeface="Times New Roman" panose="02020603050405020304" pitchFamily="18" charset="0"/>
                <a:sym typeface="Comfortaa"/>
              </a:rPr>
              <a:t> (NCCT’2</a:t>
            </a:r>
            <a:r>
              <a:rPr lang="en-US" b="1">
                <a:solidFill>
                  <a:srgbClr val="C00000"/>
                </a:solidFill>
                <a:latin typeface="Comfortaa"/>
                <a:ea typeface="Comfortaa"/>
                <a:cs typeface="Times New Roman" panose="02020603050405020304" pitchFamily="18" charset="0"/>
                <a:sym typeface="Comfortaa"/>
              </a:rPr>
              <a:t>3</a:t>
            </a:r>
            <a:r>
              <a:rPr lang="en-US" sz="1600" b="1">
                <a:solidFill>
                  <a:srgbClr val="C00000"/>
                </a:solidFill>
                <a:latin typeface="Comfortaa"/>
                <a:ea typeface="Comfortaa"/>
                <a:cs typeface="Times New Roman" panose="02020603050405020304" pitchFamily="18" charset="0"/>
                <a:sym typeface="Comfortaa"/>
              </a:rPr>
              <a:t>) – </a:t>
            </a:r>
            <a:r>
              <a:rPr lang="en-US" sz="1600" b="1">
                <a:solidFill>
                  <a:schemeClr val="accent2"/>
                </a:solidFill>
                <a:latin typeface="Comfortaa"/>
                <a:ea typeface="Comfortaa"/>
                <a:cs typeface="Times New Roman" panose="02020603050405020304" pitchFamily="18" charset="0"/>
                <a:sym typeface="Comfortaa"/>
              </a:rPr>
              <a:t>Paper ID : </a:t>
            </a:r>
            <a:r>
              <a:rPr lang="en-US" b="1">
                <a:solidFill>
                  <a:schemeClr val="accent2"/>
                </a:solidFill>
                <a:latin typeface="Comfortaa"/>
                <a:ea typeface="Comfortaa"/>
                <a:cs typeface="Times New Roman" panose="02020603050405020304" pitchFamily="18" charset="0"/>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a:p>
        </p:txBody>
      </p:sp>
      <p:pic>
        <p:nvPicPr>
          <p:cNvPr id="3" name="Picture 2">
            <a:extLst>
              <a:ext uri="{FF2B5EF4-FFF2-40B4-BE49-F238E27FC236}">
                <a16:creationId xmlns:a16="http://schemas.microsoft.com/office/drawing/2014/main" id="{21FA54E8-37FD-0D67-D8AA-8C6AFF34355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323938" y="2293028"/>
            <a:ext cx="4365299" cy="3080250"/>
          </a:xfrm>
          <a:prstGeom prst="rect">
            <a:avLst/>
          </a:prstGeom>
        </p:spPr>
      </p:pic>
    </p:spTree>
    <p:extLst>
      <p:ext uri="{BB962C8B-B14F-4D97-AF65-F5344CB8AC3E}">
        <p14:creationId xmlns:p14="http://schemas.microsoft.com/office/powerpoint/2010/main" val="1647371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Implementation</a:t>
            </a:r>
            <a:endParaRPr dirty="0"/>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21</a:t>
            </a:fld>
            <a:endParaRPr/>
          </a:p>
        </p:txBody>
      </p:sp>
      <p:pic>
        <p:nvPicPr>
          <p:cNvPr id="2" name="Picture 1">
            <a:extLst>
              <a:ext uri="{FF2B5EF4-FFF2-40B4-BE49-F238E27FC236}">
                <a16:creationId xmlns:a16="http://schemas.microsoft.com/office/drawing/2014/main" id="{102D8784-E0B0-B6A0-3869-EBD33C00E42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60178" y="1059439"/>
            <a:ext cx="9925552" cy="4495499"/>
          </a:xfrm>
          <a:prstGeom prst="rect">
            <a:avLst/>
          </a:prstGeom>
        </p:spPr>
      </p:pic>
      <p:sp>
        <p:nvSpPr>
          <p:cNvPr id="4" name="TextBox 3">
            <a:extLst>
              <a:ext uri="{FF2B5EF4-FFF2-40B4-BE49-F238E27FC236}">
                <a16:creationId xmlns:a16="http://schemas.microsoft.com/office/drawing/2014/main" id="{72FD0ECD-BB71-2A26-5C1A-2846FC82EA15}"/>
              </a:ext>
            </a:extLst>
          </p:cNvPr>
          <p:cNvSpPr txBox="1"/>
          <p:nvPr/>
        </p:nvSpPr>
        <p:spPr>
          <a:xfrm>
            <a:off x="1060178" y="5644672"/>
            <a:ext cx="9925552" cy="307777"/>
          </a:xfrm>
          <a:prstGeom prst="rect">
            <a:avLst/>
          </a:prstGeom>
          <a:noFill/>
        </p:spPr>
        <p:txBody>
          <a:bodyPr wrap="square">
            <a:spAutoFit/>
          </a:bodyPr>
          <a:lstStyle/>
          <a:p>
            <a:pPr algn="ctr"/>
            <a:r>
              <a:rPr lang="en-IN"/>
              <a:t>Figure showing ambulance sending north direction signal and traffic light receiving it.</a:t>
            </a:r>
          </a:p>
        </p:txBody>
      </p:sp>
    </p:spTree>
    <p:extLst>
      <p:ext uri="{BB962C8B-B14F-4D97-AF65-F5344CB8AC3E}">
        <p14:creationId xmlns:p14="http://schemas.microsoft.com/office/powerpoint/2010/main" val="3736930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Implementation</a:t>
            </a:r>
            <a:endParaRPr dirty="0"/>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22</a:t>
            </a:fld>
            <a:endParaRPr/>
          </a:p>
        </p:txBody>
      </p:sp>
      <p:pic>
        <p:nvPicPr>
          <p:cNvPr id="3" name="Content Placeholder 6">
            <a:extLst>
              <a:ext uri="{FF2B5EF4-FFF2-40B4-BE49-F238E27FC236}">
                <a16:creationId xmlns:a16="http://schemas.microsoft.com/office/drawing/2014/main" id="{75070F30-6234-1BED-8BD8-067058D06D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rot="16200000">
            <a:off x="3728492" y="-1789814"/>
            <a:ext cx="4647074" cy="10263571"/>
          </a:xfrm>
          <a:prstGeom prst="rect">
            <a:avLst/>
          </a:prstGeom>
          <a:noFill/>
          <a:ln>
            <a:noFill/>
          </a:ln>
        </p:spPr>
      </p:pic>
      <p:sp>
        <p:nvSpPr>
          <p:cNvPr id="5" name="TextBox 4">
            <a:extLst>
              <a:ext uri="{FF2B5EF4-FFF2-40B4-BE49-F238E27FC236}">
                <a16:creationId xmlns:a16="http://schemas.microsoft.com/office/drawing/2014/main" id="{4E6317C3-D3FE-174A-67D0-1BFC3EE3F2CC}"/>
              </a:ext>
            </a:extLst>
          </p:cNvPr>
          <p:cNvSpPr txBox="1"/>
          <p:nvPr/>
        </p:nvSpPr>
        <p:spPr>
          <a:xfrm>
            <a:off x="920243" y="5665509"/>
            <a:ext cx="10263572" cy="307777"/>
          </a:xfrm>
          <a:prstGeom prst="rect">
            <a:avLst/>
          </a:prstGeom>
          <a:noFill/>
        </p:spPr>
        <p:txBody>
          <a:bodyPr wrap="square">
            <a:spAutoFit/>
          </a:bodyPr>
          <a:lstStyle/>
          <a:p>
            <a:pPr algn="ctr"/>
            <a:r>
              <a:rPr lang="en-IN"/>
              <a:t>Figure showing ambulance receiving hospital1 response.</a:t>
            </a:r>
          </a:p>
        </p:txBody>
      </p:sp>
    </p:spTree>
    <p:extLst>
      <p:ext uri="{BB962C8B-B14F-4D97-AF65-F5344CB8AC3E}">
        <p14:creationId xmlns:p14="http://schemas.microsoft.com/office/powerpoint/2010/main" val="167432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Conclusion</a:t>
            </a:r>
            <a:endParaRPr dirty="0"/>
          </a:p>
        </p:txBody>
      </p:sp>
      <p:sp>
        <p:nvSpPr>
          <p:cNvPr id="68" name="Google Shape;68;p2"/>
          <p:cNvSpPr txBox="1">
            <a:spLocks noGrp="1"/>
          </p:cNvSpPr>
          <p:nvPr>
            <p:ph type="body" idx="1"/>
          </p:nvPr>
        </p:nvSpPr>
        <p:spPr>
          <a:xfrm>
            <a:off x="318051" y="1036948"/>
            <a:ext cx="11626575" cy="4966287"/>
          </a:xfrm>
          <a:prstGeom prst="rect">
            <a:avLst/>
          </a:prstGeom>
          <a:noFill/>
          <a:ln>
            <a:noFill/>
          </a:ln>
        </p:spPr>
        <p:txBody>
          <a:bodyPr spcFirstLastPara="1" wrap="square" lIns="91425" tIns="45700" rIns="91425" bIns="45700" anchor="t" anchorCtr="0">
            <a:noAutofit/>
          </a:bodyPr>
          <a:lstStyle/>
          <a:p>
            <a:pPr algn="just">
              <a:lnSpc>
                <a:spcPct val="150000"/>
              </a:lnSpc>
              <a:buFont typeface="Wingdings" panose="05000000000000000000" pitchFamily="2" charset="2"/>
              <a:buChar char="Ø"/>
            </a:pPr>
            <a:r>
              <a:rPr lang="en-US" sz="2200">
                <a:latin typeface="Times New Roman" panose="02020603050405020304" pitchFamily="18" charset="0"/>
                <a:cs typeface="Times New Roman" panose="02020603050405020304" pitchFamily="18" charset="0"/>
              </a:rPr>
              <a:t>The experimental implementation of the LiFi based traffic signal control system for ambulance has demonstrated significant improvements in emergency response times compared to the existing system.</a:t>
            </a:r>
          </a:p>
          <a:p>
            <a:pPr algn="just">
              <a:lnSpc>
                <a:spcPct val="150000"/>
              </a:lnSpc>
              <a:buFont typeface="Wingdings" panose="05000000000000000000" pitchFamily="2" charset="2"/>
              <a:buChar char="Ø"/>
            </a:pPr>
            <a:r>
              <a:rPr lang="en-US" sz="2200">
                <a:latin typeface="Times New Roman" panose="02020603050405020304" pitchFamily="18" charset="0"/>
                <a:cs typeface="Times New Roman" panose="02020603050405020304" pitchFamily="18" charset="0"/>
              </a:rPr>
              <a:t>The cost-effectiveness of Li-Fi technology makes it an efficient and environmentally friendly alternative to existing cellular-based traffic management systems.</a:t>
            </a:r>
          </a:p>
          <a:p>
            <a:pPr algn="just">
              <a:lnSpc>
                <a:spcPct val="150000"/>
              </a:lnSpc>
              <a:buFont typeface="Wingdings" panose="05000000000000000000" pitchFamily="2" charset="2"/>
              <a:buChar char="Ø"/>
            </a:pPr>
            <a:r>
              <a:rPr lang="en-US" sz="2200">
                <a:latin typeface="Times New Roman" panose="02020603050405020304" pitchFamily="18" charset="0"/>
                <a:cs typeface="Times New Roman" panose="02020603050405020304" pitchFamily="18" charset="0"/>
              </a:rPr>
              <a:t>Using the Li-Fi communication infrastructure various other data can also be sent from one vehicle to another.</a:t>
            </a:r>
          </a:p>
          <a:p>
            <a:pPr algn="just">
              <a:lnSpc>
                <a:spcPct val="150000"/>
              </a:lnSpc>
              <a:buFont typeface="Wingdings" panose="05000000000000000000" pitchFamily="2" charset="2"/>
              <a:buChar char="Ø"/>
            </a:pPr>
            <a:r>
              <a:rPr lang="en-US" sz="2200">
                <a:latin typeface="Times New Roman" panose="02020603050405020304" pitchFamily="18" charset="0"/>
                <a:cs typeface="Times New Roman" panose="02020603050405020304" pitchFamily="18" charset="0"/>
              </a:rPr>
              <a:t>If this system is implemented in the real world, many lives can be saved as the emergency vehicles would wait for very less time in traffic jams.</a:t>
            </a: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2647807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Future Enhancement</a:t>
            </a:r>
            <a:endParaRPr dirty="0"/>
          </a:p>
        </p:txBody>
      </p:sp>
      <p:sp>
        <p:nvSpPr>
          <p:cNvPr id="68" name="Google Shape;68;p2"/>
          <p:cNvSpPr txBox="1">
            <a:spLocks noGrp="1"/>
          </p:cNvSpPr>
          <p:nvPr>
            <p:ph type="body" idx="1"/>
          </p:nvPr>
        </p:nvSpPr>
        <p:spPr>
          <a:xfrm>
            <a:off x="575035" y="1291472"/>
            <a:ext cx="11369591" cy="4711763"/>
          </a:xfrm>
          <a:prstGeom prst="rect">
            <a:avLst/>
          </a:prstGeom>
          <a:noFill/>
          <a:ln>
            <a:noFill/>
          </a:ln>
        </p:spPr>
        <p:txBody>
          <a:bodyPr spcFirstLastPara="1" wrap="square" lIns="91425" tIns="45700" rIns="91425" bIns="45700" anchor="t" anchorCtr="0">
            <a:noAutofit/>
          </a:bodyPr>
          <a:lstStyle/>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ML implementation for traffic signal optimization based on emergency data analysis</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LiFi system expansion to other emergency vehicles like fire trucks and police cars</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Improving LiFi's accuracy and reliability for better effectiveness</a:t>
            </a:r>
          </a:p>
          <a:p>
            <a:pPr algn="just">
              <a:lnSpc>
                <a:spcPct val="150000"/>
              </a:lnSpc>
              <a:buFont typeface="Wingdings" panose="05000000000000000000" pitchFamily="2" charset="2"/>
              <a:buChar char="Ø"/>
            </a:pPr>
            <a:r>
              <a:rPr lang="en-US" sz="2200" b="0" i="0">
                <a:effectLst/>
                <a:latin typeface="Times New Roman" panose="02020603050405020304" pitchFamily="18" charset="0"/>
                <a:cs typeface="Times New Roman" panose="02020603050405020304" pitchFamily="18" charset="0"/>
              </a:rPr>
              <a:t>Enhancing V2V communication capabilities by incorporating additional sensors and protocols for real-time data exchange, allowing for more informed traffic signal decisions.</a:t>
            </a:r>
            <a:endParaRPr lang="en-US" sz="2200">
              <a:latin typeface="Times New Roman" panose="02020603050405020304" pitchFamily="18" charset="0"/>
              <a:cs typeface="Times New Roman" panose="02020603050405020304" pitchFamily="18" charset="0"/>
            </a:endParaRP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2465345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References</a:t>
            </a:r>
            <a:endParaRPr dirty="0"/>
          </a:p>
        </p:txBody>
      </p:sp>
      <p:sp>
        <p:nvSpPr>
          <p:cNvPr id="68" name="Google Shape;68;p2"/>
          <p:cNvSpPr txBox="1">
            <a:spLocks noGrp="1"/>
          </p:cNvSpPr>
          <p:nvPr>
            <p:ph type="body" idx="1"/>
          </p:nvPr>
        </p:nvSpPr>
        <p:spPr>
          <a:xfrm>
            <a:off x="318051" y="857840"/>
            <a:ext cx="11626575" cy="5145396"/>
          </a:xfrm>
          <a:prstGeom prst="rect">
            <a:avLst/>
          </a:prstGeom>
          <a:noFill/>
          <a:ln>
            <a:noFill/>
          </a:ln>
        </p:spPr>
        <p:txBody>
          <a:bodyPr spcFirstLastPara="1" wrap="square" lIns="91425" tIns="45700" rIns="91425" bIns="45700" anchor="t" anchorCtr="0">
            <a:noAutofit/>
          </a:bodyPr>
          <a:lstStyle/>
          <a:p>
            <a:pPr>
              <a:lnSpc>
                <a:spcPct val="150000"/>
              </a:lnSpc>
              <a:buNone/>
            </a:pPr>
            <a:r>
              <a:rPr lang="en-US" sz="1600" b="1">
                <a:solidFill>
                  <a:schemeClr val="tx1">
                    <a:lumMod val="75000"/>
                    <a:lumOff val="25000"/>
                  </a:schemeClr>
                </a:solidFill>
                <a:latin typeface="Times New Roman" panose="02020603050405020304" pitchFamily="18" charset="0"/>
                <a:cs typeface="Times New Roman" pitchFamily="18" charset="0"/>
              </a:rPr>
              <a:t>[1]</a:t>
            </a:r>
            <a:r>
              <a:rPr lang="en-IN" sz="1600">
                <a:latin typeface="Times New Roman" panose="02020603050405020304" pitchFamily="18" charset="0"/>
                <a:cs typeface="Times New Roman" panose="02020603050405020304" pitchFamily="18" charset="0"/>
              </a:rPr>
              <a:t> H. Noori, “Modeling the Impact of VANET-Enabled Traffic Lights Control on the Response Time of Emergency Vehicles in Realistic LargeScale Urban Area,” 2013. </a:t>
            </a:r>
          </a:p>
          <a:p>
            <a:pPr>
              <a:lnSpc>
                <a:spcPct val="150000"/>
              </a:lnSpc>
              <a:buNone/>
            </a:pPr>
            <a:r>
              <a:rPr lang="en-IN" sz="1600" b="1">
                <a:latin typeface="Times New Roman" panose="02020603050405020304" pitchFamily="18" charset="0"/>
                <a:cs typeface="Times New Roman" panose="02020603050405020304" pitchFamily="18" charset="0"/>
              </a:rPr>
              <a:t>[2] </a:t>
            </a:r>
            <a:r>
              <a:rPr lang="en-IN" sz="1600">
                <a:latin typeface="Times New Roman" panose="02020603050405020304" pitchFamily="18" charset="0"/>
                <a:cs typeface="Times New Roman" panose="02020603050405020304" pitchFamily="18" charset="0"/>
              </a:rPr>
              <a:t>A. S. Eltayeb, H. O. Almubarak, and T. A. Attia, “A GPS Based Traffic Light Pre-emption Control System for Emergency Vehicles,” 2013. </a:t>
            </a:r>
          </a:p>
          <a:p>
            <a:pPr>
              <a:lnSpc>
                <a:spcPct val="150000"/>
              </a:lnSpc>
              <a:buNone/>
            </a:pPr>
            <a:r>
              <a:rPr lang="en-IN" sz="1600" b="1">
                <a:latin typeface="Times New Roman" panose="02020603050405020304" pitchFamily="18" charset="0"/>
                <a:cs typeface="Times New Roman" panose="02020603050405020304" pitchFamily="18" charset="0"/>
              </a:rPr>
              <a:t>[3] </a:t>
            </a:r>
            <a:r>
              <a:rPr lang="en-IN" sz="1600">
                <a:latin typeface="Times New Roman" panose="02020603050405020304" pitchFamily="18" charset="0"/>
                <a:cs typeface="Times New Roman" panose="02020603050405020304" pitchFamily="18" charset="0"/>
              </a:rPr>
              <a:t>R. S. Rajeshwari, S. Hebbar, and V. Golla, “Implementing Intelligent Traffic Control System for Congestion Control, Ambulance Clearance and Stolen Vehicle Detection,” 2015.</a:t>
            </a:r>
          </a:p>
          <a:p>
            <a:pPr>
              <a:lnSpc>
                <a:spcPct val="150000"/>
              </a:lnSpc>
              <a:buNone/>
            </a:pPr>
            <a:r>
              <a:rPr lang="en-IN" sz="1600" b="1">
                <a:latin typeface="Times New Roman" panose="02020603050405020304" pitchFamily="18" charset="0"/>
                <a:cs typeface="Times New Roman" panose="02020603050405020304" pitchFamily="18" charset="0"/>
              </a:rPr>
              <a:t>[4] </a:t>
            </a:r>
            <a:r>
              <a:rPr lang="en-IN" sz="1600">
                <a:latin typeface="Times New Roman" panose="02020603050405020304" pitchFamily="18" charset="0"/>
                <a:cs typeface="Times New Roman" panose="02020603050405020304" pitchFamily="18" charset="0"/>
              </a:rPr>
              <a:t>V. Kodire, S. Bhaskaran, and V. H.N., “GPS and ZigBee Based Traffic Signal Preemption,” 2016.</a:t>
            </a:r>
          </a:p>
          <a:p>
            <a:pPr>
              <a:lnSpc>
                <a:spcPct val="150000"/>
              </a:lnSpc>
              <a:buNone/>
            </a:pPr>
            <a:r>
              <a:rPr lang="en-IN" sz="1600" b="1">
                <a:latin typeface="Times New Roman" panose="02020603050405020304" pitchFamily="18" charset="0"/>
                <a:cs typeface="Times New Roman" panose="02020603050405020304" pitchFamily="18" charset="0"/>
              </a:rPr>
              <a:t>[5] </a:t>
            </a:r>
            <a:r>
              <a:rPr lang="en-IN" sz="1600">
                <a:latin typeface="Times New Roman" panose="02020603050405020304" pitchFamily="18" charset="0"/>
                <a:cs typeface="Times New Roman" panose="02020603050405020304" pitchFamily="18" charset="0"/>
              </a:rPr>
              <a:t>L. Sai Krishna, S. Vijay Chowdary, M. Pushpavalli, and P. Sivagami, “Advanced Automation Control in an Ambulance under Emergency Condition,” 2017.</a:t>
            </a:r>
          </a:p>
          <a:p>
            <a:pPr>
              <a:lnSpc>
                <a:spcPct val="150000"/>
              </a:lnSpc>
              <a:buNone/>
            </a:pPr>
            <a:r>
              <a:rPr lang="en-IN" sz="1600" b="1">
                <a:latin typeface="Times New Roman" panose="02020603050405020304" pitchFamily="18" charset="0"/>
                <a:cs typeface="Times New Roman" panose="02020603050405020304" pitchFamily="18" charset="0"/>
              </a:rPr>
              <a:t>[6] </a:t>
            </a:r>
            <a:r>
              <a:rPr lang="en-IN" sz="1600">
                <a:latin typeface="Times New Roman" panose="02020603050405020304" pitchFamily="18" charset="0"/>
                <a:cs typeface="Times New Roman" panose="02020603050405020304" pitchFamily="18" charset="0"/>
              </a:rPr>
              <a:t>M. Managuli, A. Deshpande, and S. H. Ayatti, “Emergent vehicle tracking system using IR sensor,” 2017.</a:t>
            </a:r>
          </a:p>
          <a:p>
            <a:pPr>
              <a:lnSpc>
                <a:spcPct val="150000"/>
              </a:lnSpc>
              <a:buNone/>
            </a:pPr>
            <a:r>
              <a:rPr lang="en-IN" sz="1600" b="1">
                <a:latin typeface="Times New Roman" panose="02020603050405020304" pitchFamily="18" charset="0"/>
                <a:cs typeface="Times New Roman" panose="02020603050405020304" pitchFamily="18" charset="0"/>
              </a:rPr>
              <a:t>[7] </a:t>
            </a:r>
            <a:r>
              <a:rPr lang="en-IN" sz="1600">
                <a:latin typeface="Times New Roman" panose="02020603050405020304" pitchFamily="18" charset="0"/>
                <a:cs typeface="Times New Roman" panose="02020603050405020304" pitchFamily="18" charset="0"/>
              </a:rPr>
              <a:t>P. Devi and S. Anila, “Intelligent Ambulance with Automatic Traffic Control,” 2020. </a:t>
            </a:r>
          </a:p>
          <a:p>
            <a:pPr>
              <a:lnSpc>
                <a:spcPct val="150000"/>
              </a:lnSpc>
              <a:buNone/>
            </a:pPr>
            <a:r>
              <a:rPr lang="en-IN" sz="1600" b="1">
                <a:latin typeface="Times New Roman" panose="02020603050405020304" pitchFamily="18" charset="0"/>
                <a:cs typeface="Times New Roman" panose="02020603050405020304" pitchFamily="18" charset="0"/>
              </a:rPr>
              <a:t>[8] </a:t>
            </a:r>
            <a:r>
              <a:rPr lang="en-IN" sz="1600">
                <a:latin typeface="Times New Roman" panose="02020603050405020304" pitchFamily="18" charset="0"/>
                <a:cs typeface="Times New Roman" panose="02020603050405020304" pitchFamily="18" charset="0"/>
              </a:rPr>
              <a:t>L. A. Magre Colorado, J. Franco Ibanez, and J. C. Martinez-Santos, “Leveraging Emergency Response System Using the Internet of Things,” 2020.</a:t>
            </a: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749475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947057" y="185530"/>
            <a:ext cx="9595757" cy="95747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References</a:t>
            </a:r>
            <a:endParaRPr dirty="0"/>
          </a:p>
        </p:txBody>
      </p:sp>
      <p:sp>
        <p:nvSpPr>
          <p:cNvPr id="68" name="Google Shape;68;p2"/>
          <p:cNvSpPr txBox="1">
            <a:spLocks noGrp="1"/>
          </p:cNvSpPr>
          <p:nvPr>
            <p:ph type="body" idx="1"/>
          </p:nvPr>
        </p:nvSpPr>
        <p:spPr>
          <a:xfrm>
            <a:off x="318051" y="904974"/>
            <a:ext cx="11626575" cy="5098262"/>
          </a:xfrm>
          <a:prstGeom prst="rect">
            <a:avLst/>
          </a:prstGeom>
          <a:noFill/>
          <a:ln>
            <a:noFill/>
          </a:ln>
        </p:spPr>
        <p:txBody>
          <a:bodyPr spcFirstLastPara="1" wrap="square" lIns="91425" tIns="45700" rIns="91425" bIns="45700" anchor="t" anchorCtr="0">
            <a:noAutofit/>
          </a:bodyPr>
          <a:lstStyle/>
          <a:p>
            <a:pPr>
              <a:lnSpc>
                <a:spcPct val="150000"/>
              </a:lnSpc>
              <a:buNone/>
            </a:pPr>
            <a:r>
              <a:rPr lang="en-IN" sz="1600">
                <a:latin typeface="Times New Roman" panose="02020603050405020304" pitchFamily="18" charset="0"/>
                <a:cs typeface="Times New Roman" panose="02020603050405020304" pitchFamily="18" charset="0"/>
              </a:rPr>
              <a:t> </a:t>
            </a:r>
            <a:r>
              <a:rPr lang="en-IN" sz="1600" b="1">
                <a:latin typeface="Times New Roman" panose="02020603050405020304" pitchFamily="18" charset="0"/>
                <a:cs typeface="Times New Roman" panose="02020603050405020304" pitchFamily="18" charset="0"/>
              </a:rPr>
              <a:t>[9] </a:t>
            </a:r>
            <a:r>
              <a:rPr lang="en-IN" sz="1600">
                <a:latin typeface="Times New Roman" panose="02020603050405020304" pitchFamily="18" charset="0"/>
                <a:cs typeface="Times New Roman" panose="02020603050405020304" pitchFamily="18" charset="0"/>
              </a:rPr>
              <a:t>V.K.G. Kalaiselvi, A. Sangavi, and Dhivya, “Li-Fi technology in traffic light,” 2017</a:t>
            </a:r>
            <a:endParaRPr lang="en-US" sz="1600" b="1">
              <a:solidFill>
                <a:schemeClr val="tx1">
                  <a:lumMod val="75000"/>
                  <a:lumOff val="25000"/>
                </a:schemeClr>
              </a:solidFill>
              <a:latin typeface="Times New Roman" panose="02020603050405020304" pitchFamily="18" charset="0"/>
              <a:cs typeface="Times New Roman" pitchFamily="18" charset="0"/>
            </a:endParaRPr>
          </a:p>
          <a:p>
            <a:pPr>
              <a:lnSpc>
                <a:spcPct val="150000"/>
              </a:lnSpc>
              <a:buNone/>
            </a:pPr>
            <a:r>
              <a:rPr lang="en-IN" sz="1600" b="1">
                <a:latin typeface="Times New Roman" panose="02020603050405020304" pitchFamily="18" charset="0"/>
                <a:cs typeface="Times New Roman" panose="02020603050405020304" pitchFamily="18" charset="0"/>
              </a:rPr>
              <a:t>[10] </a:t>
            </a:r>
            <a:r>
              <a:rPr lang="en-IN" sz="1600">
                <a:latin typeface="Times New Roman" panose="02020603050405020304" pitchFamily="18" charset="0"/>
                <a:cs typeface="Times New Roman" panose="02020603050405020304" pitchFamily="18" charset="0"/>
              </a:rPr>
              <a:t>V. Raj, A. Narayanan, and K. Bijlani, “Efficiency of opportunistic cellular,LiFi traffic offloading,” in 2017 2nd IEEE International Conference on Recent Trends in Electronics, Information and Communication Technology (RTEICT), 2017. </a:t>
            </a:r>
          </a:p>
          <a:p>
            <a:pPr>
              <a:lnSpc>
                <a:spcPct val="150000"/>
              </a:lnSpc>
              <a:buNone/>
            </a:pPr>
            <a:r>
              <a:rPr lang="en-IN" sz="1600" b="1">
                <a:latin typeface="Times New Roman" panose="02020603050405020304" pitchFamily="18" charset="0"/>
                <a:cs typeface="Times New Roman" panose="02020603050405020304" pitchFamily="18" charset="0"/>
              </a:rPr>
              <a:t>[11] </a:t>
            </a:r>
            <a:r>
              <a:rPr lang="en-IN" sz="1600">
                <a:latin typeface="Times New Roman" panose="02020603050405020304" pitchFamily="18" charset="0"/>
                <a:cs typeface="Times New Roman" panose="02020603050405020304" pitchFamily="18" charset="0"/>
              </a:rPr>
              <a:t>A. Correa, A. Hamid, and E. Sparks, “Li-Fi Based Smart Traffic Network,” in 2018 IEEE 88th Vehicular Technology Conference (VTCFall). </a:t>
            </a:r>
          </a:p>
          <a:p>
            <a:pPr>
              <a:lnSpc>
                <a:spcPct val="150000"/>
              </a:lnSpc>
              <a:buNone/>
            </a:pPr>
            <a:r>
              <a:rPr lang="en-IN" sz="1600" b="1">
                <a:latin typeface="Times New Roman" panose="02020603050405020304" pitchFamily="18" charset="0"/>
                <a:cs typeface="Times New Roman" panose="02020603050405020304" pitchFamily="18" charset="0"/>
              </a:rPr>
              <a:t>[12] </a:t>
            </a:r>
            <a:r>
              <a:rPr lang="en-IN" sz="1600">
                <a:latin typeface="Times New Roman" panose="02020603050405020304" pitchFamily="18" charset="0"/>
                <a:cs typeface="Times New Roman" panose="02020603050405020304" pitchFamily="18" charset="0"/>
              </a:rPr>
              <a:t>R. Shanmughasundaram, S. Prasanna Vadanan, and V. Dharmarajan, “LiFi Based Automatic Traffic Signal Control for Emergency Vehicles,” in 2018 IEEE Global Conference on Wireless Computing and Networking (GCWCN), 2018.</a:t>
            </a:r>
          </a:p>
          <a:p>
            <a:pPr>
              <a:lnSpc>
                <a:spcPct val="150000"/>
              </a:lnSpc>
              <a:buNone/>
            </a:pPr>
            <a:r>
              <a:rPr lang="en-IN" sz="1600" b="1">
                <a:latin typeface="Times New Roman" panose="02020603050405020304" pitchFamily="18" charset="0"/>
                <a:cs typeface="Times New Roman" panose="02020603050405020304" pitchFamily="18" charset="0"/>
              </a:rPr>
              <a:t>[13] </a:t>
            </a:r>
            <a:r>
              <a:rPr lang="en-IN" sz="1600">
                <a:latin typeface="Times New Roman" panose="02020603050405020304" pitchFamily="18" charset="0"/>
                <a:cs typeface="Times New Roman" panose="02020603050405020304" pitchFamily="18" charset="0"/>
              </a:rPr>
              <a:t>A. Patni, B. Mishra, H. Aditya, Y. Kumar, and R. Sharma, “Highway Navigation Using Light Fidelity Technology,” in 2015 IEEE 12th International Conference on Mobile Ad Hoc and Sensor Systems (MASS), 2015. </a:t>
            </a:r>
          </a:p>
          <a:p>
            <a:pPr>
              <a:lnSpc>
                <a:spcPct val="150000"/>
              </a:lnSpc>
              <a:buNone/>
            </a:pPr>
            <a:r>
              <a:rPr lang="en-IN" sz="1600" b="1">
                <a:latin typeface="Times New Roman" panose="02020603050405020304" pitchFamily="18" charset="0"/>
                <a:cs typeface="Times New Roman" panose="02020603050405020304" pitchFamily="18" charset="0"/>
              </a:rPr>
              <a:t>[14] </a:t>
            </a:r>
            <a:r>
              <a:rPr lang="en-IN" sz="1600">
                <a:latin typeface="Times New Roman" panose="02020603050405020304" pitchFamily="18" charset="0"/>
                <a:cs typeface="Times New Roman" panose="02020603050405020304" pitchFamily="18" charset="0"/>
              </a:rPr>
              <a:t>J. Saradha, G. Vijayshri, and T. Subha, “Intelligent traffic signal control system for ambulance using RFID and cloud,” in 2017 International Conference on Innovations in Information, Embedded and Communication Systems (ICIIECS), 2017. </a:t>
            </a:r>
          </a:p>
          <a:p>
            <a:pPr>
              <a:lnSpc>
                <a:spcPct val="150000"/>
              </a:lnSpc>
              <a:buNone/>
            </a:pPr>
            <a:r>
              <a:rPr lang="en-IN" sz="1600" b="1">
                <a:latin typeface="Times New Roman" panose="02020603050405020304" pitchFamily="18" charset="0"/>
                <a:cs typeface="Times New Roman" panose="02020603050405020304" pitchFamily="18" charset="0"/>
              </a:rPr>
              <a:t>[15] </a:t>
            </a:r>
            <a:r>
              <a:rPr lang="en-IN" sz="1600">
                <a:latin typeface="Times New Roman" panose="02020603050405020304" pitchFamily="18" charset="0"/>
                <a:cs typeface="Times New Roman" panose="02020603050405020304" pitchFamily="18" charset="0"/>
              </a:rPr>
              <a:t>J. I. Janjua, T. A. Khan, M. S. Khan, and M. Nadeem, “Li-Fi Communications in Smart Cities for Truly Connected Vehicles,” in 2021 International Conference on Information Networking (ICOIN), 2021</a:t>
            </a:r>
            <a:endParaRPr lang="en-US" sz="1600" dirty="0">
              <a:latin typeface="Times New Roman" panose="02020603050405020304" pitchFamily="18" charset="0"/>
              <a:cs typeface="Times New Roman" pitchFamily="18" charset="0"/>
            </a:endParaRPr>
          </a:p>
        </p:txBody>
      </p:sp>
      <p:sp>
        <p:nvSpPr>
          <p:cNvPr id="69" name="Google Shape;69;p2"/>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0" name="Google Shape;70;p2"/>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4001608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6" name="Google Shape;76;p3"/>
          <p:cNvSpPr txBox="1">
            <a:spLocks noGrp="1"/>
          </p:cNvSpPr>
          <p:nvPr>
            <p:ph type="ftr" idx="11"/>
          </p:nvPr>
        </p:nvSpPr>
        <p:spPr>
          <a:xfrm>
            <a:off x="221933" y="6248400"/>
            <a:ext cx="9915598"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C00000"/>
                </a:solidFill>
                <a:latin typeface="Comfortaa"/>
                <a:ea typeface="Comfortaa"/>
                <a:cs typeface="Comfortaa"/>
                <a:sym typeface="Comfortaa"/>
              </a:rPr>
              <a:t>National Conference </a:t>
            </a:r>
            <a:r>
              <a:rPr lang="en-US" sz="1600" b="1">
                <a:solidFill>
                  <a:schemeClr val="accent2"/>
                </a:solidFill>
                <a:latin typeface="Comfortaa"/>
                <a:ea typeface="Comfortaa"/>
                <a:cs typeface="Comfortaa"/>
                <a:sym typeface="Comfortaa"/>
              </a:rPr>
              <a:t>on</a:t>
            </a:r>
            <a:r>
              <a:rPr lang="en-US" sz="1600" b="1">
                <a:solidFill>
                  <a:srgbClr val="4472C4"/>
                </a:solidFill>
                <a:latin typeface="Comfortaa"/>
                <a:ea typeface="Comfortaa"/>
                <a:cs typeface="Comfortaa"/>
                <a:sym typeface="Comfortaa"/>
              </a:rPr>
              <a:t> </a:t>
            </a:r>
            <a:r>
              <a:rPr lang="en-US" sz="1600" b="1">
                <a:solidFill>
                  <a:srgbClr val="C00000"/>
                </a:solidFill>
                <a:latin typeface="Comfortaa"/>
                <a:ea typeface="Comfortaa"/>
                <a:cs typeface="Comfortaa"/>
                <a:sym typeface="Comfortaa"/>
              </a:rPr>
              <a:t>Computing Technology - 202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(NCCT’2</a:t>
            </a:r>
            <a:r>
              <a:rPr lang="en-US" b="1">
                <a:solidFill>
                  <a:srgbClr val="C00000"/>
                </a:solidFill>
                <a:latin typeface="Comfortaa"/>
                <a:ea typeface="Comfortaa"/>
                <a:cs typeface="Comfortaa"/>
                <a:sym typeface="Comfortaa"/>
              </a:rPr>
              <a:t>3</a:t>
            </a:r>
            <a:r>
              <a:rPr lang="en-US" sz="1600" b="1">
                <a:solidFill>
                  <a:srgbClr val="C00000"/>
                </a:solidFill>
                <a:latin typeface="Comfortaa"/>
                <a:ea typeface="Comfortaa"/>
                <a:cs typeface="Comfortaa"/>
                <a:sym typeface="Comfortaa"/>
              </a:rPr>
              <a:t>) – </a:t>
            </a:r>
            <a:r>
              <a:rPr lang="en-US" sz="1600" b="1">
                <a:solidFill>
                  <a:schemeClr val="accent2"/>
                </a:solidFill>
                <a:latin typeface="Comfortaa"/>
                <a:ea typeface="Comfortaa"/>
                <a:cs typeface="Comfortaa"/>
                <a:sym typeface="Comfortaa"/>
              </a:rPr>
              <a:t>Paper ID : </a:t>
            </a:r>
            <a:r>
              <a:rPr lang="en-US" b="1">
                <a:solidFill>
                  <a:schemeClr val="accent2"/>
                </a:solidFill>
                <a:latin typeface="Comfortaa"/>
                <a:ea typeface="Comfortaa"/>
                <a:cs typeface="Comfortaa"/>
                <a:sym typeface="Comfortaa"/>
              </a:rPr>
              <a:t>PI239</a:t>
            </a:r>
            <a:endParaRPr sz="1600">
              <a:solidFill>
                <a:schemeClr val="accent2"/>
              </a:solidFill>
              <a:latin typeface="Oi"/>
              <a:ea typeface="Oi"/>
              <a:cs typeface="Oi"/>
              <a:sym typeface="Oi"/>
            </a:endParaRPr>
          </a:p>
        </p:txBody>
      </p:sp>
      <p:sp>
        <p:nvSpPr>
          <p:cNvPr id="77" name="Google Shape;77;p3"/>
          <p:cNvSpPr txBox="1">
            <a:spLocks noGrp="1"/>
          </p:cNvSpPr>
          <p:nvPr>
            <p:ph type="sldNum" idx="12"/>
          </p:nvPr>
        </p:nvSpPr>
        <p:spPr>
          <a:xfrm>
            <a:off x="11183815" y="6248400"/>
            <a:ext cx="770482"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27</a:t>
            </a:fld>
            <a:endParaRPr/>
          </a:p>
        </p:txBody>
      </p:sp>
      <p:pic>
        <p:nvPicPr>
          <p:cNvPr id="78" name="Google Shape;78;p3" descr="Image result for namaste"/>
          <p:cNvPicPr preferRelativeResize="0"/>
          <p:nvPr/>
        </p:nvPicPr>
        <p:blipFill rotWithShape="1">
          <a:blip r:embed="rId3">
            <a:alphaModFix/>
          </a:blip>
          <a:srcRect l="36435" r="36272" b="29720"/>
          <a:stretch/>
        </p:blipFill>
        <p:spPr>
          <a:xfrm>
            <a:off x="5047602" y="1536569"/>
            <a:ext cx="2616390" cy="2769849"/>
          </a:xfrm>
          <a:prstGeom prst="rect">
            <a:avLst/>
          </a:prstGeom>
          <a:noFill/>
          <a:ln>
            <a:noFill/>
          </a:ln>
        </p:spPr>
      </p:pic>
      <p:sp>
        <p:nvSpPr>
          <p:cNvPr id="79" name="Google Shape;79;p3"/>
          <p:cNvSpPr/>
          <p:nvPr/>
        </p:nvSpPr>
        <p:spPr>
          <a:xfrm>
            <a:off x="3946166" y="4140204"/>
            <a:ext cx="4443690"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b="1" i="0" u="none" strike="noStrike" cap="none">
                <a:solidFill>
                  <a:srgbClr val="FF0000"/>
                </a:solidFill>
                <a:latin typeface="Arial"/>
                <a:ea typeface="Arial"/>
                <a:cs typeface="Arial"/>
                <a:sym typeface="Arial"/>
              </a:rPr>
              <a:t>  Thank </a:t>
            </a:r>
            <a:r>
              <a:rPr lang="en-US" sz="5400" b="1" i="0" u="none" strike="noStrike" cap="none" dirty="0">
                <a:solidFill>
                  <a:srgbClr val="FF0000"/>
                </a:solidFill>
                <a:latin typeface="Arial"/>
                <a:ea typeface="Arial"/>
                <a:cs typeface="Arial"/>
                <a:sym typeface="Arial"/>
              </a:rPr>
              <a:t>you </a:t>
            </a:r>
            <a:endParaRPr dirty="0">
              <a:solidFill>
                <a:srgbClr val="FF0000"/>
              </a:solidFill>
            </a:endParaRPr>
          </a:p>
        </p:txBody>
      </p:sp>
    </p:spTree>
  </p:cSld>
  <p:clrMapOvr>
    <a:masterClrMapping/>
  </p:clrMapOvr>
</p:sld>
</file>

<file path=ppt/theme/theme1.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TotalTime>
  <Words>3007</Words>
  <Application>Microsoft Office PowerPoint</Application>
  <PresentationFormat>Widescreen</PresentationFormat>
  <Paragraphs>271</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Aharoni</vt:lpstr>
      <vt:lpstr>Wingdings</vt:lpstr>
      <vt:lpstr>Oi</vt:lpstr>
      <vt:lpstr>Times New Roman</vt:lpstr>
      <vt:lpstr>Comfortaa</vt:lpstr>
      <vt:lpstr>Tannenbaum</vt:lpstr>
      <vt:lpstr>Li-Fi Based Automatic Traffic Signal Control For Ambulance</vt:lpstr>
      <vt:lpstr>Contents</vt:lpstr>
      <vt:lpstr>Abstract</vt:lpstr>
      <vt:lpstr>Introduction</vt:lpstr>
      <vt:lpstr>Introduction</vt:lpstr>
      <vt:lpstr>Introduction</vt:lpstr>
      <vt:lpstr>Literature Survey</vt:lpstr>
      <vt:lpstr>Literature Survey</vt:lpstr>
      <vt:lpstr>Literature Survey</vt:lpstr>
      <vt:lpstr>Literature Survey</vt:lpstr>
      <vt:lpstr>Literature Survey</vt:lpstr>
      <vt:lpstr>Problem Identification</vt:lpstr>
      <vt:lpstr>Objectives</vt:lpstr>
      <vt:lpstr>Methodology</vt:lpstr>
      <vt:lpstr>Methodology</vt:lpstr>
      <vt:lpstr>System Design</vt:lpstr>
      <vt:lpstr>System Design</vt:lpstr>
      <vt:lpstr>Implementation</vt:lpstr>
      <vt:lpstr>Implementation</vt:lpstr>
      <vt:lpstr>Implementation</vt:lpstr>
      <vt:lpstr>Implementation</vt:lpstr>
      <vt:lpstr>Implementation</vt:lpstr>
      <vt:lpstr>Conclusion</vt:lpstr>
      <vt:lpstr>Future Enhancement</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Paper</dc:title>
  <dc:creator>Steve Armstrong</dc:creator>
  <cp:lastModifiedBy>Amardeep Kumar</cp:lastModifiedBy>
  <cp:revision>18</cp:revision>
  <dcterms:created xsi:type="dcterms:W3CDTF">2002-06-28T19:04:26Z</dcterms:created>
  <dcterms:modified xsi:type="dcterms:W3CDTF">2023-05-08T03:23:14Z</dcterms:modified>
</cp:coreProperties>
</file>