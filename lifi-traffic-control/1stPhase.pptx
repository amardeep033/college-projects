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96" r:id="rId2"/>
  </p:sldMasterIdLst>
  <p:notesMasterIdLst>
    <p:notesMasterId r:id="rId21"/>
  </p:notesMasterIdLst>
  <p:sldIdLst>
    <p:sldId id="256" r:id="rId3"/>
    <p:sldId id="287" r:id="rId4"/>
    <p:sldId id="257" r:id="rId5"/>
    <p:sldId id="340" r:id="rId6"/>
    <p:sldId id="355" r:id="rId7"/>
    <p:sldId id="350" r:id="rId8"/>
    <p:sldId id="352" r:id="rId9"/>
    <p:sldId id="359" r:id="rId10"/>
    <p:sldId id="360" r:id="rId11"/>
    <p:sldId id="362" r:id="rId12"/>
    <p:sldId id="364" r:id="rId13"/>
    <p:sldId id="361" r:id="rId14"/>
    <p:sldId id="356" r:id="rId15"/>
    <p:sldId id="357" r:id="rId16"/>
    <p:sldId id="358" r:id="rId17"/>
    <p:sldId id="275" r:id="rId18"/>
    <p:sldId id="270" r:id="rId19"/>
    <p:sldId id="32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5502D0-F793-4758-8D5E-DF3BEA0443AD}">
          <p14:sldIdLst>
            <p14:sldId id="256"/>
            <p14:sldId id="287"/>
            <p14:sldId id="257"/>
            <p14:sldId id="340"/>
            <p14:sldId id="355"/>
            <p14:sldId id="350"/>
            <p14:sldId id="352"/>
            <p14:sldId id="359"/>
            <p14:sldId id="360"/>
            <p14:sldId id="362"/>
            <p14:sldId id="364"/>
            <p14:sldId id="361"/>
            <p14:sldId id="356"/>
            <p14:sldId id="357"/>
            <p14:sldId id="358"/>
            <p14:sldId id="275"/>
            <p14:sldId id="270"/>
            <p14:sldId id="32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2B5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39" autoAdjust="0"/>
    <p:restoredTop sz="99827" autoAdjust="0"/>
  </p:normalViewPr>
  <p:slideViewPr>
    <p:cSldViewPr>
      <p:cViewPr varScale="1">
        <p:scale>
          <a:sx n="85" d="100"/>
          <a:sy n="85" d="100"/>
        </p:scale>
        <p:origin x="413"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pPr/>
              <a:t>12/26/2022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pPr/>
              <a:t>‹#›</a:t>
            </a:fld>
            <a:endParaRPr lang="en-US" dirty="0"/>
          </a:p>
        </p:txBody>
      </p:sp>
    </p:spTree>
    <p:extLst>
      <p:ext uri="{BB962C8B-B14F-4D97-AF65-F5344CB8AC3E}">
        <p14:creationId xmlns:p14="http://schemas.microsoft.com/office/powerpoint/2010/main" val="726847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a:t>
            </a:fld>
            <a:endParaRPr lang="en-US" dirty="0"/>
          </a:p>
        </p:txBody>
      </p:sp>
    </p:spTree>
    <p:extLst>
      <p:ext uri="{BB962C8B-B14F-4D97-AF65-F5344CB8AC3E}">
        <p14:creationId xmlns:p14="http://schemas.microsoft.com/office/powerpoint/2010/main" val="312895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96B92D-2A32-4C16-979B-071562DB202E}" type="slidenum">
              <a:rPr lang="en-US" smtClean="0"/>
              <a:pPr/>
              <a:t>16</a:t>
            </a:fld>
            <a:endParaRPr lang="en-US" dirty="0"/>
          </a:p>
        </p:txBody>
      </p:sp>
    </p:spTree>
    <p:extLst>
      <p:ext uri="{BB962C8B-B14F-4D97-AF65-F5344CB8AC3E}">
        <p14:creationId xmlns:p14="http://schemas.microsoft.com/office/powerpoint/2010/main" val="1784430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VII Semester, Department of ISE, RNSIT</a:t>
            </a:r>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53080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VII Semester, Department of ISE, RNSIT</a:t>
            </a:r>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278666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VII Semester, Department of ISE, RNSIT</a:t>
            </a:r>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6490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VII Semester, Department of ISE, RNSIT</a:t>
            </a:r>
          </a:p>
        </p:txBody>
      </p:sp>
      <p:sp>
        <p:nvSpPr>
          <p:cNvPr id="6" name="Footer Placeholder 5"/>
          <p:cNvSpPr>
            <a:spLocks noGrp="1"/>
          </p:cNvSpPr>
          <p:nvPr>
            <p:ph type="ftr" sz="quarter" idx="11"/>
          </p:nvPr>
        </p:nvSpPr>
        <p:spPr/>
        <p:txBody>
          <a:bodyPr/>
          <a:lstStyle/>
          <a:p>
            <a:r>
              <a:rPr lang="en-US" dirty="0"/>
              <a:t>2022 - 2023</a:t>
            </a:r>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386808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VII Semester, Department of ISE, RNSIT</a:t>
            </a:r>
          </a:p>
        </p:txBody>
      </p:sp>
      <p:sp>
        <p:nvSpPr>
          <p:cNvPr id="8" name="Footer Placeholder 7"/>
          <p:cNvSpPr>
            <a:spLocks noGrp="1"/>
          </p:cNvSpPr>
          <p:nvPr>
            <p:ph type="ftr" sz="quarter" idx="11"/>
          </p:nvPr>
        </p:nvSpPr>
        <p:spPr/>
        <p:txBody>
          <a:bodyPr/>
          <a:lstStyle/>
          <a:p>
            <a:r>
              <a:rPr lang="en-US" dirty="0"/>
              <a:t>2022 - 2023</a:t>
            </a:r>
          </a:p>
        </p:txBody>
      </p:sp>
      <p:sp>
        <p:nvSpPr>
          <p:cNvPr id="9" name="Slide Number Placeholder 8"/>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3308574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VII Semester, Department of ISE, RNSIT</a:t>
            </a:r>
          </a:p>
        </p:txBody>
      </p:sp>
      <p:sp>
        <p:nvSpPr>
          <p:cNvPr id="4" name="Footer Placeholder 3"/>
          <p:cNvSpPr>
            <a:spLocks noGrp="1"/>
          </p:cNvSpPr>
          <p:nvPr>
            <p:ph type="ftr" sz="quarter" idx="11"/>
          </p:nvPr>
        </p:nvSpPr>
        <p:spPr/>
        <p:txBody>
          <a:bodyPr/>
          <a:lstStyle/>
          <a:p>
            <a:r>
              <a:rPr lang="en-US" dirty="0"/>
              <a:t>2022 - 2023</a:t>
            </a:r>
          </a:p>
        </p:txBody>
      </p:sp>
      <p:sp>
        <p:nvSpPr>
          <p:cNvPr id="5" name="Slide Number Placeholder 4"/>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644670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VII Semester, Department of ISE, RNSIT</a:t>
            </a:r>
          </a:p>
        </p:txBody>
      </p:sp>
      <p:sp>
        <p:nvSpPr>
          <p:cNvPr id="3" name="Footer Placeholder 2"/>
          <p:cNvSpPr>
            <a:spLocks noGrp="1"/>
          </p:cNvSpPr>
          <p:nvPr>
            <p:ph type="ftr" sz="quarter" idx="11"/>
          </p:nvPr>
        </p:nvSpPr>
        <p:spPr/>
        <p:txBody>
          <a:bodyPr/>
          <a:lstStyle/>
          <a:p>
            <a:r>
              <a:rPr lang="en-US" dirty="0"/>
              <a:t>2022 - 2023</a:t>
            </a:r>
          </a:p>
        </p:txBody>
      </p:sp>
      <p:sp>
        <p:nvSpPr>
          <p:cNvPr id="4" name="Slide Number Placeholder 3"/>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61199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VII Semester, Department of ISE, RNSIT</a:t>
            </a:r>
          </a:p>
        </p:txBody>
      </p:sp>
      <p:sp>
        <p:nvSpPr>
          <p:cNvPr id="6" name="Footer Placeholder 5"/>
          <p:cNvSpPr>
            <a:spLocks noGrp="1"/>
          </p:cNvSpPr>
          <p:nvPr>
            <p:ph type="ftr" sz="quarter" idx="11"/>
          </p:nvPr>
        </p:nvSpPr>
        <p:spPr/>
        <p:txBody>
          <a:bodyPr/>
          <a:lstStyle/>
          <a:p>
            <a:r>
              <a:rPr lang="en-US" dirty="0"/>
              <a:t>2022 - 2023</a:t>
            </a:r>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355983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VII Semester, Department of ISE, RNSIT</a:t>
            </a:r>
          </a:p>
        </p:txBody>
      </p:sp>
      <p:sp>
        <p:nvSpPr>
          <p:cNvPr id="6" name="Footer Placeholder 5"/>
          <p:cNvSpPr>
            <a:spLocks noGrp="1"/>
          </p:cNvSpPr>
          <p:nvPr>
            <p:ph type="ftr" sz="quarter" idx="11"/>
          </p:nvPr>
        </p:nvSpPr>
        <p:spPr/>
        <p:txBody>
          <a:bodyPr/>
          <a:lstStyle/>
          <a:p>
            <a:r>
              <a:rPr lang="en-US" dirty="0"/>
              <a:t>2022 - 2023</a:t>
            </a:r>
          </a:p>
        </p:txBody>
      </p:sp>
      <p:sp>
        <p:nvSpPr>
          <p:cNvPr id="7" name="Slide Number Placeholder 6"/>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687644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VII Semester, Department of ISE, RNSIT</a:t>
            </a:r>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1793900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VII Semester, Department of ISE, RNSIT</a:t>
            </a:r>
          </a:p>
        </p:txBody>
      </p:sp>
      <p:sp>
        <p:nvSpPr>
          <p:cNvPr id="5" name="Footer Placeholder 4"/>
          <p:cNvSpPr>
            <a:spLocks noGrp="1"/>
          </p:cNvSpPr>
          <p:nvPr>
            <p:ph type="ftr" sz="quarter" idx="11"/>
          </p:nvPr>
        </p:nvSpPr>
        <p:spPr/>
        <p:txBody>
          <a:bodyPr/>
          <a:lstStyle/>
          <a:p>
            <a:r>
              <a:rPr lang="en-US" dirty="0"/>
              <a:t>2022 - 2023</a:t>
            </a:r>
          </a:p>
        </p:txBody>
      </p:sp>
      <p:sp>
        <p:nvSpPr>
          <p:cNvPr id="6" name="Slide Number Placeholder 5"/>
          <p:cNvSpPr>
            <a:spLocks noGrp="1"/>
          </p:cNvSpPr>
          <p:nvPr>
            <p:ph type="sldNum" sz="quarter" idx="12"/>
          </p:nvPr>
        </p:nvSpPr>
        <p:spPr/>
        <p:txBody>
          <a:bodyPr/>
          <a:lstStyle/>
          <a:p>
            <a:fld id="{5B4F5413-E548-45A8-B9DD-11B71454D5CA}" type="slidenum">
              <a:rPr lang="en-US" smtClean="0"/>
              <a:pPr/>
              <a:t>‹#›</a:t>
            </a:fld>
            <a:endParaRPr lang="en-US" dirty="0"/>
          </a:p>
        </p:txBody>
      </p:sp>
    </p:spTree>
    <p:extLst>
      <p:ext uri="{BB962C8B-B14F-4D97-AF65-F5344CB8AC3E}">
        <p14:creationId xmlns:p14="http://schemas.microsoft.com/office/powerpoint/2010/main" val="214794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F1F3-07CA-568F-6B74-2EF93DF568B2}"/>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E5F0FAA2-ECEF-23F7-2143-768B9FD30DCF}"/>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F9A6B9-9A5E-113A-56A2-4A808EDDBBC9}"/>
              </a:ext>
            </a:extLst>
          </p:cNvPr>
          <p:cNvSpPr>
            <a:spLocks noGrp="1"/>
          </p:cNvSpPr>
          <p:nvPr>
            <p:ph type="dt" sz="half" idx="10"/>
          </p:nvPr>
        </p:nvSpPr>
        <p:spPr/>
        <p:txBody>
          <a:bodyPr/>
          <a:lstStyle/>
          <a:p>
            <a:pPr>
              <a:defRPr/>
            </a:pPr>
            <a:fld id="{051B4DED-4E7B-4056-BC5C-1D52D13909FE}"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D86ECBEB-C668-3975-2062-97F306B5F343}"/>
              </a:ext>
            </a:extLst>
          </p:cNvPr>
          <p:cNvSpPr>
            <a:spLocks noGrp="1"/>
          </p:cNvSpPr>
          <p:nvPr>
            <p:ph type="ftr" sz="quarter" idx="11"/>
          </p:nvPr>
        </p:nvSpPr>
        <p:spPr/>
        <p:txBody>
          <a:bodyPr/>
          <a:lstStyle/>
          <a:p>
            <a:pPr>
              <a:defRPr/>
            </a:pPr>
            <a:r>
              <a:rPr lang="en-IN"/>
              <a:t>Dept.Of ISE,RNSIT</a:t>
            </a:r>
          </a:p>
        </p:txBody>
      </p:sp>
      <p:sp>
        <p:nvSpPr>
          <p:cNvPr id="6" name="Slide Number Placeholder 5">
            <a:extLst>
              <a:ext uri="{FF2B5EF4-FFF2-40B4-BE49-F238E27FC236}">
                <a16:creationId xmlns:a16="http://schemas.microsoft.com/office/drawing/2014/main" id="{D0B8934F-C642-1BF7-CBB6-DC84B6FAC6AD}"/>
              </a:ext>
            </a:extLst>
          </p:cNvPr>
          <p:cNvSpPr>
            <a:spLocks noGrp="1"/>
          </p:cNvSpPr>
          <p:nvPr>
            <p:ph type="sldNum" sz="quarter" idx="12"/>
          </p:nvPr>
        </p:nvSpPr>
        <p:spPr/>
        <p:txBody>
          <a:bodyPr/>
          <a:lstStyle/>
          <a:p>
            <a:pPr>
              <a:defRPr/>
            </a:pPr>
            <a:fld id="{42AE8E31-A0FC-4E9D-A75B-D761FA493CBC}" type="slidenum">
              <a:rPr lang="en-IN" altLang="en-US" smtClean="0"/>
              <a:pPr>
                <a:defRPr/>
              </a:pPr>
              <a:t>‹#›</a:t>
            </a:fld>
            <a:endParaRPr lang="en-IN" altLang="en-US"/>
          </a:p>
        </p:txBody>
      </p:sp>
    </p:spTree>
    <p:extLst>
      <p:ext uri="{BB962C8B-B14F-4D97-AF65-F5344CB8AC3E}">
        <p14:creationId xmlns:p14="http://schemas.microsoft.com/office/powerpoint/2010/main" val="1064284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C0B1-E535-3934-DC1E-FC50FFBFA7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41A3A2-A0E8-64AC-DF55-21E4139E12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4A586D-9AF9-55F0-B79A-66E8E805DDDC}"/>
              </a:ext>
            </a:extLst>
          </p:cNvPr>
          <p:cNvSpPr>
            <a:spLocks noGrp="1"/>
          </p:cNvSpPr>
          <p:nvPr>
            <p:ph type="dt" sz="half" idx="10"/>
          </p:nvPr>
        </p:nvSpPr>
        <p:spPr/>
        <p:txBody>
          <a:bodyPr/>
          <a:lstStyle/>
          <a:p>
            <a:pPr>
              <a:defRPr/>
            </a:pPr>
            <a:fld id="{3B5CF67F-6A7D-419A-9B9D-746D6CB91EAF}"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8E8553B2-8B7B-8EA2-075C-ABD63F3562D5}"/>
              </a:ext>
            </a:extLst>
          </p:cNvPr>
          <p:cNvSpPr>
            <a:spLocks noGrp="1"/>
          </p:cNvSpPr>
          <p:nvPr>
            <p:ph type="ftr" sz="quarter" idx="11"/>
          </p:nvPr>
        </p:nvSpPr>
        <p:spPr/>
        <p:txBody>
          <a:bodyPr/>
          <a:lstStyle/>
          <a:p>
            <a:pPr>
              <a:defRPr/>
            </a:pPr>
            <a:r>
              <a:rPr lang="en-IN"/>
              <a:t>Dept.Of ISE,RNSIT</a:t>
            </a:r>
          </a:p>
        </p:txBody>
      </p:sp>
      <p:sp>
        <p:nvSpPr>
          <p:cNvPr id="6" name="Slide Number Placeholder 5">
            <a:extLst>
              <a:ext uri="{FF2B5EF4-FFF2-40B4-BE49-F238E27FC236}">
                <a16:creationId xmlns:a16="http://schemas.microsoft.com/office/drawing/2014/main" id="{FD05540C-627E-FDB5-A71B-F2FC0EEA6C3F}"/>
              </a:ext>
            </a:extLst>
          </p:cNvPr>
          <p:cNvSpPr>
            <a:spLocks noGrp="1"/>
          </p:cNvSpPr>
          <p:nvPr>
            <p:ph type="sldNum" sz="quarter" idx="12"/>
          </p:nvPr>
        </p:nvSpPr>
        <p:spPr/>
        <p:txBody>
          <a:bodyPr/>
          <a:lstStyle/>
          <a:p>
            <a:pPr>
              <a:defRPr/>
            </a:pPr>
            <a:fld id="{1CC6B2F7-98C5-43A4-9EB3-3E293C8FD593}" type="slidenum">
              <a:rPr lang="en-IN" altLang="en-US" smtClean="0"/>
              <a:pPr>
                <a:defRPr/>
              </a:pPr>
              <a:t>‹#›</a:t>
            </a:fld>
            <a:endParaRPr lang="en-IN" altLang="en-US"/>
          </a:p>
        </p:txBody>
      </p:sp>
    </p:spTree>
    <p:extLst>
      <p:ext uri="{BB962C8B-B14F-4D97-AF65-F5344CB8AC3E}">
        <p14:creationId xmlns:p14="http://schemas.microsoft.com/office/powerpoint/2010/main" val="1542185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27B8C-D659-7530-074A-1E67E200F5F9}"/>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DE2D5D-18A9-1D57-2B3F-D01CC3E77082}"/>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2F2C0D-D4E5-6FB3-6C95-2D4FE52B3FFC}"/>
              </a:ext>
            </a:extLst>
          </p:cNvPr>
          <p:cNvSpPr>
            <a:spLocks noGrp="1"/>
          </p:cNvSpPr>
          <p:nvPr>
            <p:ph type="dt" sz="half" idx="10"/>
          </p:nvPr>
        </p:nvSpPr>
        <p:spPr/>
        <p:txBody>
          <a:bodyPr/>
          <a:lstStyle/>
          <a:p>
            <a:pPr>
              <a:defRPr/>
            </a:pPr>
            <a:fld id="{27B5758A-3A06-4291-9871-8308F090A2F4}"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77E836DB-E647-580B-0687-1231E6890F8A}"/>
              </a:ext>
            </a:extLst>
          </p:cNvPr>
          <p:cNvSpPr>
            <a:spLocks noGrp="1"/>
          </p:cNvSpPr>
          <p:nvPr>
            <p:ph type="ftr" sz="quarter" idx="11"/>
          </p:nvPr>
        </p:nvSpPr>
        <p:spPr/>
        <p:txBody>
          <a:bodyPr/>
          <a:lstStyle/>
          <a:p>
            <a:pPr>
              <a:defRPr/>
            </a:pPr>
            <a:r>
              <a:rPr lang="en-IN"/>
              <a:t>Dept.Of ISE,RNSIT</a:t>
            </a:r>
          </a:p>
        </p:txBody>
      </p:sp>
      <p:sp>
        <p:nvSpPr>
          <p:cNvPr id="6" name="Slide Number Placeholder 5">
            <a:extLst>
              <a:ext uri="{FF2B5EF4-FFF2-40B4-BE49-F238E27FC236}">
                <a16:creationId xmlns:a16="http://schemas.microsoft.com/office/drawing/2014/main" id="{0E9530F9-A0B5-8315-23DB-E984FE297E0D}"/>
              </a:ext>
            </a:extLst>
          </p:cNvPr>
          <p:cNvSpPr>
            <a:spLocks noGrp="1"/>
          </p:cNvSpPr>
          <p:nvPr>
            <p:ph type="sldNum" sz="quarter" idx="12"/>
          </p:nvPr>
        </p:nvSpPr>
        <p:spPr/>
        <p:txBody>
          <a:bodyPr/>
          <a:lstStyle/>
          <a:p>
            <a:pPr>
              <a:defRPr/>
            </a:pPr>
            <a:fld id="{4304CB9C-874D-408E-BCBA-9B4B99E1F0D9}" type="slidenum">
              <a:rPr lang="en-IN" altLang="en-US" smtClean="0"/>
              <a:pPr>
                <a:defRPr/>
              </a:pPr>
              <a:t>‹#›</a:t>
            </a:fld>
            <a:endParaRPr lang="en-IN" altLang="en-US"/>
          </a:p>
        </p:txBody>
      </p:sp>
    </p:spTree>
    <p:extLst>
      <p:ext uri="{BB962C8B-B14F-4D97-AF65-F5344CB8AC3E}">
        <p14:creationId xmlns:p14="http://schemas.microsoft.com/office/powerpoint/2010/main" val="4113020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BD324-17FA-5E18-F843-E01CB874BB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765992-8C8B-B4A4-F2D6-140283B86F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D3EF04-793E-FF5B-E948-DD37C31326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55DA6B-0B05-BD09-3EF0-936763D8C10D}"/>
              </a:ext>
            </a:extLst>
          </p:cNvPr>
          <p:cNvSpPr>
            <a:spLocks noGrp="1"/>
          </p:cNvSpPr>
          <p:nvPr>
            <p:ph type="dt" sz="half" idx="10"/>
          </p:nvPr>
        </p:nvSpPr>
        <p:spPr/>
        <p:txBody>
          <a:bodyPr/>
          <a:lstStyle/>
          <a:p>
            <a:pPr>
              <a:defRPr/>
            </a:pPr>
            <a:fld id="{E9E341A1-A51F-4AC7-B9DE-13ED0F019DEF}" type="datetime3">
              <a:rPr lang="en-US" smtClean="0"/>
              <a:pPr>
                <a:defRPr/>
              </a:pPr>
              <a:t>26 December 2022</a:t>
            </a:fld>
            <a:endParaRPr lang="en-IN"/>
          </a:p>
        </p:txBody>
      </p:sp>
      <p:sp>
        <p:nvSpPr>
          <p:cNvPr id="6" name="Footer Placeholder 5">
            <a:extLst>
              <a:ext uri="{FF2B5EF4-FFF2-40B4-BE49-F238E27FC236}">
                <a16:creationId xmlns:a16="http://schemas.microsoft.com/office/drawing/2014/main" id="{AF2F42B2-F6E0-0ABA-124C-0174EDA9E47F}"/>
              </a:ext>
            </a:extLst>
          </p:cNvPr>
          <p:cNvSpPr>
            <a:spLocks noGrp="1"/>
          </p:cNvSpPr>
          <p:nvPr>
            <p:ph type="ftr" sz="quarter" idx="11"/>
          </p:nvPr>
        </p:nvSpPr>
        <p:spPr/>
        <p:txBody>
          <a:bodyPr/>
          <a:lstStyle/>
          <a:p>
            <a:pPr>
              <a:defRPr/>
            </a:pPr>
            <a:r>
              <a:rPr lang="en-IN"/>
              <a:t>Dept.Of ISE,RNSIT</a:t>
            </a:r>
          </a:p>
        </p:txBody>
      </p:sp>
      <p:sp>
        <p:nvSpPr>
          <p:cNvPr id="7" name="Slide Number Placeholder 6">
            <a:extLst>
              <a:ext uri="{FF2B5EF4-FFF2-40B4-BE49-F238E27FC236}">
                <a16:creationId xmlns:a16="http://schemas.microsoft.com/office/drawing/2014/main" id="{2DF5D2C0-B19C-87FD-6D64-8A37352C5432}"/>
              </a:ext>
            </a:extLst>
          </p:cNvPr>
          <p:cNvSpPr>
            <a:spLocks noGrp="1"/>
          </p:cNvSpPr>
          <p:nvPr>
            <p:ph type="sldNum" sz="quarter" idx="12"/>
          </p:nvPr>
        </p:nvSpPr>
        <p:spPr/>
        <p:txBody>
          <a:bodyPr/>
          <a:lstStyle/>
          <a:p>
            <a:pPr>
              <a:defRPr/>
            </a:pPr>
            <a:fld id="{C2204924-F433-4B03-8401-542F0DF46583}" type="slidenum">
              <a:rPr lang="en-IN" altLang="en-US" smtClean="0"/>
              <a:pPr>
                <a:defRPr/>
              </a:pPr>
              <a:t>‹#›</a:t>
            </a:fld>
            <a:endParaRPr lang="en-IN" altLang="en-US"/>
          </a:p>
        </p:txBody>
      </p:sp>
    </p:spTree>
    <p:extLst>
      <p:ext uri="{BB962C8B-B14F-4D97-AF65-F5344CB8AC3E}">
        <p14:creationId xmlns:p14="http://schemas.microsoft.com/office/powerpoint/2010/main" val="821029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30051-315D-0926-7B72-71567CC5E764}"/>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B587AF-E7ED-2E22-635F-771CD6B50DFE}"/>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BEFD73D-9C2F-660D-11C9-016A66CB9C15}"/>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49F3620-0249-2A35-0A04-F1C13D6E24E0}"/>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0E707926-B2E4-AA4A-3DA8-08F3E7346D8E}"/>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B11DEF-4D65-9270-DB1A-A4B4D39598AE}"/>
              </a:ext>
            </a:extLst>
          </p:cNvPr>
          <p:cNvSpPr>
            <a:spLocks noGrp="1"/>
          </p:cNvSpPr>
          <p:nvPr>
            <p:ph type="dt" sz="half" idx="10"/>
          </p:nvPr>
        </p:nvSpPr>
        <p:spPr/>
        <p:txBody>
          <a:bodyPr/>
          <a:lstStyle/>
          <a:p>
            <a:pPr>
              <a:defRPr/>
            </a:pPr>
            <a:fld id="{F9FB8DB7-55A9-4312-96BB-F660D33DF8F7}" type="datetime3">
              <a:rPr lang="en-US" smtClean="0"/>
              <a:pPr>
                <a:defRPr/>
              </a:pPr>
              <a:t>26 December 2022</a:t>
            </a:fld>
            <a:endParaRPr lang="en-IN"/>
          </a:p>
        </p:txBody>
      </p:sp>
      <p:sp>
        <p:nvSpPr>
          <p:cNvPr id="8" name="Footer Placeholder 7">
            <a:extLst>
              <a:ext uri="{FF2B5EF4-FFF2-40B4-BE49-F238E27FC236}">
                <a16:creationId xmlns:a16="http://schemas.microsoft.com/office/drawing/2014/main" id="{F70F19B5-6A2C-8701-685F-34489712E4DE}"/>
              </a:ext>
            </a:extLst>
          </p:cNvPr>
          <p:cNvSpPr>
            <a:spLocks noGrp="1"/>
          </p:cNvSpPr>
          <p:nvPr>
            <p:ph type="ftr" sz="quarter" idx="11"/>
          </p:nvPr>
        </p:nvSpPr>
        <p:spPr/>
        <p:txBody>
          <a:bodyPr/>
          <a:lstStyle/>
          <a:p>
            <a:pPr>
              <a:defRPr/>
            </a:pPr>
            <a:r>
              <a:rPr lang="en-IN"/>
              <a:t>Dept.Of ISE,RNSIT</a:t>
            </a:r>
          </a:p>
        </p:txBody>
      </p:sp>
      <p:sp>
        <p:nvSpPr>
          <p:cNvPr id="9" name="Slide Number Placeholder 8">
            <a:extLst>
              <a:ext uri="{FF2B5EF4-FFF2-40B4-BE49-F238E27FC236}">
                <a16:creationId xmlns:a16="http://schemas.microsoft.com/office/drawing/2014/main" id="{5AA44767-426F-904A-0D5C-4ECFD5E06D49}"/>
              </a:ext>
            </a:extLst>
          </p:cNvPr>
          <p:cNvSpPr>
            <a:spLocks noGrp="1"/>
          </p:cNvSpPr>
          <p:nvPr>
            <p:ph type="sldNum" sz="quarter" idx="12"/>
          </p:nvPr>
        </p:nvSpPr>
        <p:spPr/>
        <p:txBody>
          <a:bodyPr/>
          <a:lstStyle/>
          <a:p>
            <a:pPr>
              <a:defRPr/>
            </a:pPr>
            <a:fld id="{E0CA243E-EA53-4A1D-A327-0D06B09E9EE1}" type="slidenum">
              <a:rPr lang="en-IN" altLang="en-US" smtClean="0"/>
              <a:pPr>
                <a:defRPr/>
              </a:pPr>
              <a:t>‹#›</a:t>
            </a:fld>
            <a:endParaRPr lang="en-IN" altLang="en-US"/>
          </a:p>
        </p:txBody>
      </p:sp>
    </p:spTree>
    <p:extLst>
      <p:ext uri="{BB962C8B-B14F-4D97-AF65-F5344CB8AC3E}">
        <p14:creationId xmlns:p14="http://schemas.microsoft.com/office/powerpoint/2010/main" val="26743290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85A5-3490-992D-7BEE-2858D8A4DA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57518D-FDE3-B675-5ED4-03BE061933A3}"/>
              </a:ext>
            </a:extLst>
          </p:cNvPr>
          <p:cNvSpPr>
            <a:spLocks noGrp="1"/>
          </p:cNvSpPr>
          <p:nvPr>
            <p:ph type="dt" sz="half" idx="10"/>
          </p:nvPr>
        </p:nvSpPr>
        <p:spPr/>
        <p:txBody>
          <a:bodyPr/>
          <a:lstStyle/>
          <a:p>
            <a:pPr>
              <a:defRPr/>
            </a:pPr>
            <a:fld id="{6EE8F186-A641-4E87-A151-31058129C6F9}" type="datetime3">
              <a:rPr lang="en-US" smtClean="0"/>
              <a:pPr>
                <a:defRPr/>
              </a:pPr>
              <a:t>26 December 2022</a:t>
            </a:fld>
            <a:endParaRPr lang="en-IN"/>
          </a:p>
        </p:txBody>
      </p:sp>
      <p:sp>
        <p:nvSpPr>
          <p:cNvPr id="4" name="Footer Placeholder 3">
            <a:extLst>
              <a:ext uri="{FF2B5EF4-FFF2-40B4-BE49-F238E27FC236}">
                <a16:creationId xmlns:a16="http://schemas.microsoft.com/office/drawing/2014/main" id="{CCCEFABD-A0CD-F7CC-9546-EBE0F1C581B6}"/>
              </a:ext>
            </a:extLst>
          </p:cNvPr>
          <p:cNvSpPr>
            <a:spLocks noGrp="1"/>
          </p:cNvSpPr>
          <p:nvPr>
            <p:ph type="ftr" sz="quarter" idx="11"/>
          </p:nvPr>
        </p:nvSpPr>
        <p:spPr/>
        <p:txBody>
          <a:bodyPr/>
          <a:lstStyle/>
          <a:p>
            <a:pPr>
              <a:defRPr/>
            </a:pPr>
            <a:r>
              <a:rPr lang="en-IN"/>
              <a:t>Dept.Of ISE,RNSIT</a:t>
            </a:r>
          </a:p>
        </p:txBody>
      </p:sp>
      <p:sp>
        <p:nvSpPr>
          <p:cNvPr id="5" name="Slide Number Placeholder 4">
            <a:extLst>
              <a:ext uri="{FF2B5EF4-FFF2-40B4-BE49-F238E27FC236}">
                <a16:creationId xmlns:a16="http://schemas.microsoft.com/office/drawing/2014/main" id="{6CD7ECA3-3A75-61F0-7F92-085254804A9C}"/>
              </a:ext>
            </a:extLst>
          </p:cNvPr>
          <p:cNvSpPr>
            <a:spLocks noGrp="1"/>
          </p:cNvSpPr>
          <p:nvPr>
            <p:ph type="sldNum" sz="quarter" idx="12"/>
          </p:nvPr>
        </p:nvSpPr>
        <p:spPr/>
        <p:txBody>
          <a:bodyPr/>
          <a:lstStyle/>
          <a:p>
            <a:pPr>
              <a:defRPr/>
            </a:pPr>
            <a:fld id="{6360B1F3-92D7-49D3-BB1D-6F9C81EE20F6}" type="slidenum">
              <a:rPr lang="en-IN" altLang="en-US" smtClean="0"/>
              <a:pPr>
                <a:defRPr/>
              </a:pPr>
              <a:t>‹#›</a:t>
            </a:fld>
            <a:endParaRPr lang="en-IN" altLang="en-US"/>
          </a:p>
        </p:txBody>
      </p:sp>
    </p:spTree>
    <p:extLst>
      <p:ext uri="{BB962C8B-B14F-4D97-AF65-F5344CB8AC3E}">
        <p14:creationId xmlns:p14="http://schemas.microsoft.com/office/powerpoint/2010/main" val="171766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1D6E1-3E55-CC74-A385-5AD88E9158BB}"/>
              </a:ext>
            </a:extLst>
          </p:cNvPr>
          <p:cNvSpPr>
            <a:spLocks noGrp="1"/>
          </p:cNvSpPr>
          <p:nvPr>
            <p:ph type="dt" sz="half" idx="10"/>
          </p:nvPr>
        </p:nvSpPr>
        <p:spPr/>
        <p:txBody>
          <a:bodyPr/>
          <a:lstStyle/>
          <a:p>
            <a:pPr>
              <a:defRPr/>
            </a:pPr>
            <a:fld id="{86789D9F-113B-40F6-B8C8-34E6BC53250B}" type="datetime3">
              <a:rPr lang="en-US" smtClean="0"/>
              <a:pPr>
                <a:defRPr/>
              </a:pPr>
              <a:t>26 December 2022</a:t>
            </a:fld>
            <a:endParaRPr lang="en-IN"/>
          </a:p>
        </p:txBody>
      </p:sp>
      <p:sp>
        <p:nvSpPr>
          <p:cNvPr id="3" name="Footer Placeholder 2">
            <a:extLst>
              <a:ext uri="{FF2B5EF4-FFF2-40B4-BE49-F238E27FC236}">
                <a16:creationId xmlns:a16="http://schemas.microsoft.com/office/drawing/2014/main" id="{457DEBE5-CAA0-B170-283A-F187B9327A71}"/>
              </a:ext>
            </a:extLst>
          </p:cNvPr>
          <p:cNvSpPr>
            <a:spLocks noGrp="1"/>
          </p:cNvSpPr>
          <p:nvPr>
            <p:ph type="ftr" sz="quarter" idx="11"/>
          </p:nvPr>
        </p:nvSpPr>
        <p:spPr/>
        <p:txBody>
          <a:bodyPr/>
          <a:lstStyle/>
          <a:p>
            <a:pPr>
              <a:defRPr/>
            </a:pPr>
            <a:r>
              <a:rPr lang="en-IN"/>
              <a:t>Dept.Of ISE,RNSIT</a:t>
            </a:r>
          </a:p>
        </p:txBody>
      </p:sp>
      <p:sp>
        <p:nvSpPr>
          <p:cNvPr id="4" name="Slide Number Placeholder 3">
            <a:extLst>
              <a:ext uri="{FF2B5EF4-FFF2-40B4-BE49-F238E27FC236}">
                <a16:creationId xmlns:a16="http://schemas.microsoft.com/office/drawing/2014/main" id="{A486944B-6DD6-D025-AB4E-A8209BE77954}"/>
              </a:ext>
            </a:extLst>
          </p:cNvPr>
          <p:cNvSpPr>
            <a:spLocks noGrp="1"/>
          </p:cNvSpPr>
          <p:nvPr>
            <p:ph type="sldNum" sz="quarter" idx="12"/>
          </p:nvPr>
        </p:nvSpPr>
        <p:spPr/>
        <p:txBody>
          <a:bodyPr/>
          <a:lstStyle/>
          <a:p>
            <a:pPr>
              <a:defRPr/>
            </a:pPr>
            <a:fld id="{399CC53A-1042-48A4-A7ED-E63ED9ED0F1C}" type="slidenum">
              <a:rPr lang="en-IN" altLang="en-US" smtClean="0"/>
              <a:pPr>
                <a:defRPr/>
              </a:pPr>
              <a:t>‹#›</a:t>
            </a:fld>
            <a:endParaRPr lang="en-IN" altLang="en-US"/>
          </a:p>
        </p:txBody>
      </p:sp>
    </p:spTree>
    <p:extLst>
      <p:ext uri="{BB962C8B-B14F-4D97-AF65-F5344CB8AC3E}">
        <p14:creationId xmlns:p14="http://schemas.microsoft.com/office/powerpoint/2010/main" val="3346810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FA89F-4EA6-C933-9FAF-73CAA73F2AFF}"/>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6300DF-16EC-4C0F-CEE9-98DB95CB0583}"/>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4772D7-F440-C47D-29E1-17535B78C859}"/>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972A839-430C-3138-A5F8-5A03EFE8C1B6}"/>
              </a:ext>
            </a:extLst>
          </p:cNvPr>
          <p:cNvSpPr>
            <a:spLocks noGrp="1"/>
          </p:cNvSpPr>
          <p:nvPr>
            <p:ph type="dt" sz="half" idx="10"/>
          </p:nvPr>
        </p:nvSpPr>
        <p:spPr/>
        <p:txBody>
          <a:bodyPr/>
          <a:lstStyle/>
          <a:p>
            <a:pPr>
              <a:defRPr/>
            </a:pPr>
            <a:fld id="{0D3FD206-0805-47E9-8521-7BEE2EDE8B7B}" type="datetime3">
              <a:rPr lang="en-US" smtClean="0"/>
              <a:pPr>
                <a:defRPr/>
              </a:pPr>
              <a:t>26 December 2022</a:t>
            </a:fld>
            <a:endParaRPr lang="en-IN"/>
          </a:p>
        </p:txBody>
      </p:sp>
      <p:sp>
        <p:nvSpPr>
          <p:cNvPr id="6" name="Footer Placeholder 5">
            <a:extLst>
              <a:ext uri="{FF2B5EF4-FFF2-40B4-BE49-F238E27FC236}">
                <a16:creationId xmlns:a16="http://schemas.microsoft.com/office/drawing/2014/main" id="{0FED00F5-1343-DAA0-BA5B-E90C5740A5E8}"/>
              </a:ext>
            </a:extLst>
          </p:cNvPr>
          <p:cNvSpPr>
            <a:spLocks noGrp="1"/>
          </p:cNvSpPr>
          <p:nvPr>
            <p:ph type="ftr" sz="quarter" idx="11"/>
          </p:nvPr>
        </p:nvSpPr>
        <p:spPr/>
        <p:txBody>
          <a:bodyPr/>
          <a:lstStyle/>
          <a:p>
            <a:pPr>
              <a:defRPr/>
            </a:pPr>
            <a:r>
              <a:rPr lang="en-IN"/>
              <a:t>Dept.Of ISE,RNSIT</a:t>
            </a:r>
          </a:p>
        </p:txBody>
      </p:sp>
      <p:sp>
        <p:nvSpPr>
          <p:cNvPr id="7" name="Slide Number Placeholder 6">
            <a:extLst>
              <a:ext uri="{FF2B5EF4-FFF2-40B4-BE49-F238E27FC236}">
                <a16:creationId xmlns:a16="http://schemas.microsoft.com/office/drawing/2014/main" id="{CAE58DC6-AAE2-9349-1B58-F219A61A9B65}"/>
              </a:ext>
            </a:extLst>
          </p:cNvPr>
          <p:cNvSpPr>
            <a:spLocks noGrp="1"/>
          </p:cNvSpPr>
          <p:nvPr>
            <p:ph type="sldNum" sz="quarter" idx="12"/>
          </p:nvPr>
        </p:nvSpPr>
        <p:spPr/>
        <p:txBody>
          <a:bodyPr/>
          <a:lstStyle/>
          <a:p>
            <a:pPr>
              <a:defRPr/>
            </a:pPr>
            <a:fld id="{433C0728-255B-4E76-B004-7D0C0BB4BC88}" type="slidenum">
              <a:rPr lang="en-IN" altLang="en-US" smtClean="0"/>
              <a:pPr>
                <a:defRPr/>
              </a:pPr>
              <a:t>‹#›</a:t>
            </a:fld>
            <a:endParaRPr lang="en-IN" altLang="en-US"/>
          </a:p>
        </p:txBody>
      </p:sp>
    </p:spTree>
    <p:extLst>
      <p:ext uri="{BB962C8B-B14F-4D97-AF65-F5344CB8AC3E}">
        <p14:creationId xmlns:p14="http://schemas.microsoft.com/office/powerpoint/2010/main" val="9173035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3416-D72C-B009-3674-28C4ACBA11CA}"/>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B1DFE7-5D8C-0512-F8AF-285F78858029}"/>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9E0D75CE-2D2A-F151-7987-E1A10351A9C2}"/>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3FA2D3B-A637-8EEE-5F4A-3FC5BA750EEA}"/>
              </a:ext>
            </a:extLst>
          </p:cNvPr>
          <p:cNvSpPr>
            <a:spLocks noGrp="1"/>
          </p:cNvSpPr>
          <p:nvPr>
            <p:ph type="dt" sz="half" idx="10"/>
          </p:nvPr>
        </p:nvSpPr>
        <p:spPr/>
        <p:txBody>
          <a:bodyPr/>
          <a:lstStyle/>
          <a:p>
            <a:pPr>
              <a:defRPr/>
            </a:pPr>
            <a:fld id="{02EEBF5D-8C33-4F04-BE28-7FC58A3EFE83}" type="datetime3">
              <a:rPr lang="en-US" smtClean="0"/>
              <a:pPr>
                <a:defRPr/>
              </a:pPr>
              <a:t>26 December 2022</a:t>
            </a:fld>
            <a:endParaRPr lang="en-IN"/>
          </a:p>
        </p:txBody>
      </p:sp>
      <p:sp>
        <p:nvSpPr>
          <p:cNvPr id="6" name="Footer Placeholder 5">
            <a:extLst>
              <a:ext uri="{FF2B5EF4-FFF2-40B4-BE49-F238E27FC236}">
                <a16:creationId xmlns:a16="http://schemas.microsoft.com/office/drawing/2014/main" id="{F398D1DB-93AA-773E-F876-BA86C399A871}"/>
              </a:ext>
            </a:extLst>
          </p:cNvPr>
          <p:cNvSpPr>
            <a:spLocks noGrp="1"/>
          </p:cNvSpPr>
          <p:nvPr>
            <p:ph type="ftr" sz="quarter" idx="11"/>
          </p:nvPr>
        </p:nvSpPr>
        <p:spPr/>
        <p:txBody>
          <a:bodyPr/>
          <a:lstStyle/>
          <a:p>
            <a:pPr>
              <a:defRPr/>
            </a:pPr>
            <a:r>
              <a:rPr lang="en-IN"/>
              <a:t>Dept.Of ISE,RNSIT</a:t>
            </a:r>
          </a:p>
        </p:txBody>
      </p:sp>
      <p:sp>
        <p:nvSpPr>
          <p:cNvPr id="7" name="Slide Number Placeholder 6">
            <a:extLst>
              <a:ext uri="{FF2B5EF4-FFF2-40B4-BE49-F238E27FC236}">
                <a16:creationId xmlns:a16="http://schemas.microsoft.com/office/drawing/2014/main" id="{9BC1557D-5A81-BFED-CD39-769135CD0D86}"/>
              </a:ext>
            </a:extLst>
          </p:cNvPr>
          <p:cNvSpPr>
            <a:spLocks noGrp="1"/>
          </p:cNvSpPr>
          <p:nvPr>
            <p:ph type="sldNum" sz="quarter" idx="12"/>
          </p:nvPr>
        </p:nvSpPr>
        <p:spPr/>
        <p:txBody>
          <a:bodyPr/>
          <a:lstStyle/>
          <a:p>
            <a:pPr>
              <a:defRPr/>
            </a:pPr>
            <a:fld id="{E5210DBB-A58C-497D-92C8-3D6ACEABBFC4}" type="slidenum">
              <a:rPr lang="en-IN" altLang="en-US" smtClean="0"/>
              <a:pPr>
                <a:defRPr/>
              </a:pPr>
              <a:t>‹#›</a:t>
            </a:fld>
            <a:endParaRPr lang="en-IN" altLang="en-US"/>
          </a:p>
        </p:txBody>
      </p:sp>
    </p:spTree>
    <p:extLst>
      <p:ext uri="{BB962C8B-B14F-4D97-AF65-F5344CB8AC3E}">
        <p14:creationId xmlns:p14="http://schemas.microsoft.com/office/powerpoint/2010/main" val="37687032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211BE-0CD7-7291-D898-DA343A7147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9B0F7D-1237-BE68-A786-4738D40840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73FF4B-C9D5-72E5-2968-773378C99E94}"/>
              </a:ext>
            </a:extLst>
          </p:cNvPr>
          <p:cNvSpPr>
            <a:spLocks noGrp="1"/>
          </p:cNvSpPr>
          <p:nvPr>
            <p:ph type="dt" sz="half" idx="10"/>
          </p:nvPr>
        </p:nvSpPr>
        <p:spPr/>
        <p:txBody>
          <a:bodyPr/>
          <a:lstStyle/>
          <a:p>
            <a:pPr>
              <a:defRPr/>
            </a:pPr>
            <a:fld id="{373B715E-8FBF-4CCA-8440-F0AF71BD0535}"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8B123741-3023-1EDE-1A8F-14AB986D8FC8}"/>
              </a:ext>
            </a:extLst>
          </p:cNvPr>
          <p:cNvSpPr>
            <a:spLocks noGrp="1"/>
          </p:cNvSpPr>
          <p:nvPr>
            <p:ph type="ftr" sz="quarter" idx="11"/>
          </p:nvPr>
        </p:nvSpPr>
        <p:spPr/>
        <p:txBody>
          <a:bodyPr/>
          <a:lstStyle/>
          <a:p>
            <a:pPr>
              <a:defRPr/>
            </a:pPr>
            <a:r>
              <a:rPr lang="en-IN"/>
              <a:t>Dept.Of ISE,RNSIT</a:t>
            </a:r>
          </a:p>
        </p:txBody>
      </p:sp>
      <p:sp>
        <p:nvSpPr>
          <p:cNvPr id="6" name="Slide Number Placeholder 5">
            <a:extLst>
              <a:ext uri="{FF2B5EF4-FFF2-40B4-BE49-F238E27FC236}">
                <a16:creationId xmlns:a16="http://schemas.microsoft.com/office/drawing/2014/main" id="{042119D6-5CEE-D567-F74F-F90B2F3344C8}"/>
              </a:ext>
            </a:extLst>
          </p:cNvPr>
          <p:cNvSpPr>
            <a:spLocks noGrp="1"/>
          </p:cNvSpPr>
          <p:nvPr>
            <p:ph type="sldNum" sz="quarter" idx="12"/>
          </p:nvPr>
        </p:nvSpPr>
        <p:spPr/>
        <p:txBody>
          <a:bodyPr/>
          <a:lstStyle/>
          <a:p>
            <a:pPr>
              <a:defRPr/>
            </a:pPr>
            <a:fld id="{D6AC286A-03E6-47CD-AD9A-59B838066843}" type="slidenum">
              <a:rPr lang="en-IN" altLang="en-US" smtClean="0"/>
              <a:pPr>
                <a:defRPr/>
              </a:pPr>
              <a:t>‹#›</a:t>
            </a:fld>
            <a:endParaRPr lang="en-IN" altLang="en-US"/>
          </a:p>
        </p:txBody>
      </p:sp>
    </p:spTree>
    <p:extLst>
      <p:ext uri="{BB962C8B-B14F-4D97-AF65-F5344CB8AC3E}">
        <p14:creationId xmlns:p14="http://schemas.microsoft.com/office/powerpoint/2010/main" val="1709005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9E4F6D-3BC3-E325-73E1-BF6AE603778D}"/>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10954B-FD6A-1A75-115E-30CDFD2230C9}"/>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6D7B6D-8761-8780-907C-D5CAF9F739DC}"/>
              </a:ext>
            </a:extLst>
          </p:cNvPr>
          <p:cNvSpPr>
            <a:spLocks noGrp="1"/>
          </p:cNvSpPr>
          <p:nvPr>
            <p:ph type="dt" sz="half" idx="10"/>
          </p:nvPr>
        </p:nvSpPr>
        <p:spPr/>
        <p:txBody>
          <a:bodyPr/>
          <a:lstStyle/>
          <a:p>
            <a:pPr>
              <a:defRPr/>
            </a:pPr>
            <a:fld id="{B3C8D0B0-984F-400C-9491-085CF2AE0ECB}"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14A86790-57B7-D8EC-DA0A-33862DAD761B}"/>
              </a:ext>
            </a:extLst>
          </p:cNvPr>
          <p:cNvSpPr>
            <a:spLocks noGrp="1"/>
          </p:cNvSpPr>
          <p:nvPr>
            <p:ph type="ftr" sz="quarter" idx="11"/>
          </p:nvPr>
        </p:nvSpPr>
        <p:spPr/>
        <p:txBody>
          <a:bodyPr/>
          <a:lstStyle/>
          <a:p>
            <a:pPr>
              <a:defRPr/>
            </a:pPr>
            <a:r>
              <a:rPr lang="en-IN"/>
              <a:t>Dept.Of ISE,RNSIT</a:t>
            </a:r>
          </a:p>
        </p:txBody>
      </p:sp>
      <p:sp>
        <p:nvSpPr>
          <p:cNvPr id="6" name="Slide Number Placeholder 5">
            <a:extLst>
              <a:ext uri="{FF2B5EF4-FFF2-40B4-BE49-F238E27FC236}">
                <a16:creationId xmlns:a16="http://schemas.microsoft.com/office/drawing/2014/main" id="{413678A5-A6B8-33CC-7EC2-0C2CCB68518C}"/>
              </a:ext>
            </a:extLst>
          </p:cNvPr>
          <p:cNvSpPr>
            <a:spLocks noGrp="1"/>
          </p:cNvSpPr>
          <p:nvPr>
            <p:ph type="sldNum" sz="quarter" idx="12"/>
          </p:nvPr>
        </p:nvSpPr>
        <p:spPr/>
        <p:txBody>
          <a:bodyPr/>
          <a:lstStyle/>
          <a:p>
            <a:pPr>
              <a:defRPr/>
            </a:pPr>
            <a:fld id="{207F4CFB-33BE-4DF8-9A9C-705C8E1A6182}" type="slidenum">
              <a:rPr lang="en-IN" altLang="en-US" smtClean="0"/>
              <a:pPr>
                <a:defRPr/>
              </a:pPr>
              <a:t>‹#›</a:t>
            </a:fld>
            <a:endParaRPr lang="en-IN" altLang="en-US"/>
          </a:p>
        </p:txBody>
      </p:sp>
    </p:spTree>
    <p:extLst>
      <p:ext uri="{BB962C8B-B14F-4D97-AF65-F5344CB8AC3E}">
        <p14:creationId xmlns:p14="http://schemas.microsoft.com/office/powerpoint/2010/main" val="15153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941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190898"/>
            <a:ext cx="10515600" cy="50338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3200400" cy="365125"/>
          </a:xfrm>
          <a:prstGeom prst="rect">
            <a:avLst/>
          </a:prstGeom>
        </p:spPr>
        <p:txBody>
          <a:bodyPr vert="horz" lIns="91440" tIns="45720" rIns="91440" bIns="45720" rtlCol="0" anchor="ctr"/>
          <a:lstStyle>
            <a:lvl1pPr algn="l">
              <a:defRPr sz="1200" b="1">
                <a:solidFill>
                  <a:srgbClr val="2B5FF3"/>
                </a:solidFill>
              </a:defRPr>
            </a:lvl1pPr>
          </a:lstStyle>
          <a:p>
            <a:r>
              <a:rPr lang="en-US" dirty="0"/>
              <a:t>VII Semester, Department of ISE, RNSIT</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rgbClr val="2B5FF3"/>
                </a:solidFill>
              </a:defRPr>
            </a:lvl1pPr>
          </a:lstStyle>
          <a:p>
            <a:r>
              <a:rPr lang="en-US" dirty="0"/>
              <a:t>2022 - 2023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rgbClr val="2B5FF3"/>
                </a:solidFill>
              </a:defRPr>
            </a:lvl1pPr>
          </a:lstStyle>
          <a:p>
            <a:fld id="{5B4F5413-E548-45A8-B9DD-11B71454D5CA}"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AFC93F2D-9111-4E77-98B1-F1ACD37A82C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838094" cy="548680"/>
          </a:xfrm>
          <a:prstGeom prst="rect">
            <a:avLst/>
          </a:prstGeom>
        </p:spPr>
      </p:pic>
      <p:pic>
        <p:nvPicPr>
          <p:cNvPr id="8" name="Picture 7" descr="A picture containing calendar&#10;&#10;Description automatically generated">
            <a:extLst>
              <a:ext uri="{FF2B5EF4-FFF2-40B4-BE49-F238E27FC236}">
                <a16:creationId xmlns:a16="http://schemas.microsoft.com/office/drawing/2014/main" id="{937059C3-335C-47D5-99C1-8813DA15D672}"/>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1476139" y="18044"/>
            <a:ext cx="693483" cy="694162"/>
          </a:xfrm>
          <a:prstGeom prst="rect">
            <a:avLst/>
          </a:prstGeom>
        </p:spPr>
      </p:pic>
    </p:spTree>
    <p:extLst>
      <p:ext uri="{BB962C8B-B14F-4D97-AF65-F5344CB8AC3E}">
        <p14:creationId xmlns:p14="http://schemas.microsoft.com/office/powerpoint/2010/main" val="9545565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90000"/>
        </a:lnSpc>
        <a:spcBef>
          <a:spcPct val="0"/>
        </a:spcBef>
        <a:buNone/>
        <a:defRPr sz="4400" b="1"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9112BF-5450-A6E0-3F9D-95B130321C7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BC3CDF-B07B-92B2-18C3-0BF3341847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ED648E-8768-BA94-D05E-C6B52C4D31A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DF5DC539-7A4D-40B2-AE22-87BEA69C64FE}" type="datetime3">
              <a:rPr lang="en-US" smtClean="0"/>
              <a:pPr>
                <a:defRPr/>
              </a:pPr>
              <a:t>26 December 2022</a:t>
            </a:fld>
            <a:endParaRPr lang="en-IN"/>
          </a:p>
        </p:txBody>
      </p:sp>
      <p:sp>
        <p:nvSpPr>
          <p:cNvPr id="5" name="Footer Placeholder 4">
            <a:extLst>
              <a:ext uri="{FF2B5EF4-FFF2-40B4-BE49-F238E27FC236}">
                <a16:creationId xmlns:a16="http://schemas.microsoft.com/office/drawing/2014/main" id="{E3D7E63F-D0F9-4933-5C7D-6F3F3DE618C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IN"/>
              <a:t>Dept.Of ISE,RNSIT</a:t>
            </a:r>
          </a:p>
        </p:txBody>
      </p:sp>
      <p:sp>
        <p:nvSpPr>
          <p:cNvPr id="6" name="Slide Number Placeholder 5">
            <a:extLst>
              <a:ext uri="{FF2B5EF4-FFF2-40B4-BE49-F238E27FC236}">
                <a16:creationId xmlns:a16="http://schemas.microsoft.com/office/drawing/2014/main" id="{39021FC0-71AC-BD14-8109-CA99C8EEE74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4384768-4BCB-4C15-9412-556FD638DA0E}" type="slidenum">
              <a:rPr lang="en-IN" altLang="en-US" smtClean="0"/>
              <a:pPr>
                <a:defRPr/>
              </a:pPr>
              <a:t>‹#›</a:t>
            </a:fld>
            <a:endParaRPr lang="en-IN" altLang="en-US"/>
          </a:p>
        </p:txBody>
      </p:sp>
    </p:spTree>
    <p:extLst>
      <p:ext uri="{BB962C8B-B14F-4D97-AF65-F5344CB8AC3E}">
        <p14:creationId xmlns:p14="http://schemas.microsoft.com/office/powerpoint/2010/main" val="202273244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ieeexplore.ieee.org/author/37086288384" TargetMode="External"/><Relationship Id="rId3" Type="http://schemas.openxmlformats.org/officeDocument/2006/relationships/hyperlink" Target="https://ieeexplore.ieee.org/author/37087590463" TargetMode="External"/><Relationship Id="rId7" Type="http://schemas.openxmlformats.org/officeDocument/2006/relationships/hyperlink" Target="https://ieeexplore.ieee.org/author/37086294717" TargetMode="External"/><Relationship Id="rId2"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hyperlink" Target="https://ieeexplore.ieee.org/author/37085872096" TargetMode="External"/><Relationship Id="rId5" Type="http://schemas.openxmlformats.org/officeDocument/2006/relationships/hyperlink" Target="https://ieeexplore.ieee.org/author/37064767800" TargetMode="External"/><Relationship Id="rId4" Type="http://schemas.openxmlformats.org/officeDocument/2006/relationships/hyperlink" Target="https://ieeexplore.ieee.org/author/37086304164" TargetMode="External"/><Relationship Id="rId9" Type="http://schemas.openxmlformats.org/officeDocument/2006/relationships/hyperlink" Target="https://ieeexplore.ieee.org/author/37086291288"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ieeexplore.ieee.org/author/37670993300" TargetMode="External"/><Relationship Id="rId3" Type="http://schemas.openxmlformats.org/officeDocument/2006/relationships/hyperlink" Target="https://ieeexplore.ieee.org/author/37086238807" TargetMode="External"/><Relationship Id="rId7" Type="http://schemas.openxmlformats.org/officeDocument/2006/relationships/hyperlink" Target="https://ieeexplore.ieee.org/author/37088562447" TargetMode="External"/><Relationship Id="rId2"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hyperlink" Target="https://ieeexplore.ieee.org/author/37077371500" TargetMode="External"/><Relationship Id="rId11" Type="http://schemas.openxmlformats.org/officeDocument/2006/relationships/hyperlink" Target="https://ieeexplore.ieee.org/author/37085424285" TargetMode="External"/><Relationship Id="rId5" Type="http://schemas.openxmlformats.org/officeDocument/2006/relationships/hyperlink" Target="https://ieeexplore.ieee.org/author/37077598300" TargetMode="External"/><Relationship Id="rId10" Type="http://schemas.openxmlformats.org/officeDocument/2006/relationships/hyperlink" Target="https://ieeexplore.ieee.org/author/37088594737" TargetMode="External"/><Relationship Id="rId4" Type="http://schemas.openxmlformats.org/officeDocument/2006/relationships/hyperlink" Target="https://ieeexplore.ieee.org/author/37077329900" TargetMode="External"/><Relationship Id="rId9" Type="http://schemas.openxmlformats.org/officeDocument/2006/relationships/hyperlink" Target="https://ieeexplore.ieee.org/author/37088594482"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ieeexplore.ieee.org/author/37086445752" TargetMode="External"/><Relationship Id="rId3" Type="http://schemas.openxmlformats.org/officeDocument/2006/relationships/hyperlink" Target="https://ieeexplore.ieee.org/author/37706525100" TargetMode="External"/><Relationship Id="rId7" Type="http://schemas.openxmlformats.org/officeDocument/2006/relationships/hyperlink" Target="https://ieeexplore.ieee.org/author/37086445145" TargetMode="External"/><Relationship Id="rId2"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hyperlink" Target="https://ieeexplore.ieee.org/author/37086445055" TargetMode="External"/><Relationship Id="rId11" Type="http://schemas.openxmlformats.org/officeDocument/2006/relationships/hyperlink" Target="https://ieeexplore.ieee.org/author/37086470855" TargetMode="External"/><Relationship Id="rId5" Type="http://schemas.openxmlformats.org/officeDocument/2006/relationships/hyperlink" Target="https://ieeexplore.ieee.org/author/37088326815" TargetMode="External"/><Relationship Id="rId10" Type="http://schemas.openxmlformats.org/officeDocument/2006/relationships/hyperlink" Target="https://ieeexplore.ieee.org/author/37086470452" TargetMode="External"/><Relationship Id="rId4" Type="http://schemas.openxmlformats.org/officeDocument/2006/relationships/hyperlink" Target="https://ieeexplore.ieee.org/author/37088317847" TargetMode="External"/><Relationship Id="rId9" Type="http://schemas.openxmlformats.org/officeDocument/2006/relationships/hyperlink" Target="https://ieeexplore.ieee.org/author/37085507639"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ieeexplore.ieee.org/document/9213796" TargetMode="External"/><Relationship Id="rId13" Type="http://schemas.openxmlformats.org/officeDocument/2006/relationships/hyperlink" Target="https://ieeexplore.ieee.org/document/8479427" TargetMode="External"/><Relationship Id="rId3" Type="http://schemas.openxmlformats.org/officeDocument/2006/relationships/hyperlink" Target="https://ieeexplore.ieee.org/document/6936857" TargetMode="External"/><Relationship Id="rId7" Type="http://schemas.openxmlformats.org/officeDocument/2006/relationships/hyperlink" Target="https://ieeexplore.ieee.org/document/6634030" TargetMode="External"/><Relationship Id="rId12" Type="http://schemas.openxmlformats.org/officeDocument/2006/relationships/hyperlink" Target="https://ieeexplore.ieee.org/document/8450245" TargetMode="External"/><Relationship Id="rId17" Type="http://schemas.openxmlformats.org/officeDocument/2006/relationships/hyperlink" Target="https://www.youtube.com/watch?v=iHWIZsIBj3Q&amp;ab_channel=TED" TargetMode="External"/><Relationship Id="rId2" Type="http://schemas.openxmlformats.org/officeDocument/2006/relationships/hyperlink" Target="https://ieeexplore.ieee.org/document/7824811" TargetMode="External"/><Relationship Id="rId16" Type="http://schemas.openxmlformats.org/officeDocument/2006/relationships/hyperlink" Target="https://www.semanticscholar.org/paper/Intelligent-traffic-signal-control-system-for-using-Saradha-Vijayshri/070d54df9226739015d3a109250285db1cf0cfb4" TargetMode="External"/><Relationship Id="rId1" Type="http://schemas.openxmlformats.org/officeDocument/2006/relationships/slideLayout" Target="../slideLayouts/slideLayout2.xml"/><Relationship Id="rId6" Type="http://schemas.openxmlformats.org/officeDocument/2006/relationships/hyperlink" Target="https://ieeexplore.ieee.org/document/6649290" TargetMode="External"/><Relationship Id="rId11" Type="http://schemas.openxmlformats.org/officeDocument/2006/relationships/hyperlink" Target="https://ieeexplore.ieee.org/document/8024976" TargetMode="External"/><Relationship Id="rId5" Type="http://schemas.openxmlformats.org/officeDocument/2006/relationships/hyperlink" Target="https://ieeexplore.ieee.org/document/8284579" TargetMode="External"/><Relationship Id="rId15" Type="http://schemas.openxmlformats.org/officeDocument/2006/relationships/hyperlink" Target="https://www.researchgate.net/publication/318332312_Li-Fi_technology_in_traffic_light" TargetMode="External"/><Relationship Id="rId10" Type="http://schemas.openxmlformats.org/officeDocument/2006/relationships/hyperlink" Target="https://ieeexplore.ieee.org/document/7972307" TargetMode="External"/><Relationship Id="rId4" Type="http://schemas.openxmlformats.org/officeDocument/2006/relationships/hyperlink" Target="https://ieeexplore.ieee.org/document/8261399" TargetMode="External"/><Relationship Id="rId9" Type="http://schemas.openxmlformats.org/officeDocument/2006/relationships/hyperlink" Target="https://ieeexplore.ieee.org/document/9299175" TargetMode="External"/><Relationship Id="rId14" Type="http://schemas.openxmlformats.org/officeDocument/2006/relationships/hyperlink" Target="https://ijiset.com/vol2/v2s4/IJISET_V2_I4_209.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2489292"/>
            <a:ext cx="12192000" cy="461666"/>
          </a:xfrm>
        </p:spPr>
        <p:txBody>
          <a:bodyPr>
            <a:normAutofit/>
          </a:bodyPr>
          <a:lstStyle/>
          <a:p>
            <a:pPr marL="457200" marR="421005" algn="ctr">
              <a:lnSpc>
                <a:spcPct val="120000"/>
              </a:lnSpc>
              <a:spcBef>
                <a:spcPts val="1500"/>
              </a:spcBef>
              <a:spcAft>
                <a:spcPts val="0"/>
              </a:spcAft>
            </a:pPr>
            <a:r>
              <a:rPr lang="en-US" sz="2000" i="1">
                <a:solidFill>
                  <a:srgbClr val="FF0000"/>
                </a:solidFill>
                <a:effectLst/>
                <a:latin typeface="Times New Roman" panose="02020603050405020304" pitchFamily="18" charset="0"/>
                <a:ea typeface="Times New Roman" panose="02020603050405020304" pitchFamily="18" charset="0"/>
              </a:rPr>
              <a:t>Li-Fi Based Automatic Traffic Signal Control for Emergency Vehicles</a:t>
            </a:r>
            <a:endParaRPr lang="en-IN" sz="2000" i="1" dirty="0">
              <a:solidFill>
                <a:srgbClr val="FF0000"/>
              </a:solidFill>
              <a:effectLst/>
              <a:latin typeface="Times New Roman" panose="02020603050405020304" pitchFamily="18" charset="0"/>
              <a:ea typeface="Times New Roman" panose="02020603050405020304" pitchFamily="18" charset="0"/>
            </a:endParaRPr>
          </a:p>
        </p:txBody>
      </p:sp>
      <p:sp>
        <p:nvSpPr>
          <p:cNvPr id="11" name="Subtitle 10"/>
          <p:cNvSpPr>
            <a:spLocks noGrp="1"/>
          </p:cNvSpPr>
          <p:nvPr>
            <p:ph type="subTitle" idx="1"/>
          </p:nvPr>
        </p:nvSpPr>
        <p:spPr>
          <a:xfrm>
            <a:off x="3287688" y="3192658"/>
            <a:ext cx="5037164" cy="1748510"/>
          </a:xfrm>
        </p:spPr>
        <p:txBody>
          <a:bodyPr>
            <a:noAutofit/>
          </a:bodyPr>
          <a:lstStyle/>
          <a:p>
            <a:pPr lvl="0" algn="ctr" fontAlgn="base">
              <a:spcBef>
                <a:spcPct val="0"/>
              </a:spcBef>
              <a:spcAft>
                <a:spcPct val="0"/>
              </a:spcAft>
            </a:pPr>
            <a:r>
              <a:rPr lang="en-US" sz="2400" b="1" dirty="0">
                <a:solidFill>
                  <a:srgbClr val="C00000"/>
                </a:solidFill>
                <a:latin typeface="Times New Roman" pitchFamily="18" charset="0"/>
                <a:cs typeface="Times New Roman" pitchFamily="18" charset="0"/>
              </a:rPr>
              <a:t>Candidate Names</a:t>
            </a:r>
          </a:p>
          <a:p>
            <a:pPr lvl="0" algn="just" fontAlgn="base">
              <a:spcBef>
                <a:spcPct val="0"/>
              </a:spcBef>
              <a:spcAft>
                <a:spcPct val="0"/>
              </a:spcAft>
            </a:pPr>
            <a:r>
              <a:rPr lang="en-US" b="1">
                <a:solidFill>
                  <a:srgbClr val="000066"/>
                </a:solidFill>
                <a:latin typeface="Times New Roman" pitchFamily="18" charset="0"/>
                <a:cs typeface="Times New Roman" pitchFamily="18" charset="0"/>
              </a:rPr>
              <a:t>     Amardeep Kumar </a:t>
            </a:r>
            <a:r>
              <a:rPr lang="en-US" sz="2400" b="1">
                <a:solidFill>
                  <a:srgbClr val="000066"/>
                </a:solidFill>
                <a:latin typeface="Times New Roman" pitchFamily="18" charset="0"/>
                <a:cs typeface="Times New Roman" pitchFamily="18" charset="0"/>
              </a:rPr>
              <a:t>: 1RN19IS020</a:t>
            </a:r>
            <a:endParaRPr lang="en-US" sz="2400" b="1" dirty="0">
              <a:solidFill>
                <a:srgbClr val="000066"/>
              </a:solidFill>
              <a:latin typeface="Times New Roman" pitchFamily="18" charset="0"/>
              <a:cs typeface="Times New Roman" pitchFamily="18" charset="0"/>
            </a:endParaRPr>
          </a:p>
          <a:p>
            <a:pPr algn="just" fontAlgn="base">
              <a:spcBef>
                <a:spcPct val="0"/>
              </a:spcBef>
              <a:spcAft>
                <a:spcPct val="0"/>
              </a:spcAft>
            </a:pPr>
            <a:r>
              <a:rPr lang="en-US" b="1">
                <a:solidFill>
                  <a:srgbClr val="000066"/>
                </a:solidFill>
                <a:latin typeface="Times New Roman" pitchFamily="18" charset="0"/>
                <a:cs typeface="Times New Roman" pitchFamily="18" charset="0"/>
              </a:rPr>
              <a:t>             Amartya : </a:t>
            </a:r>
            <a:r>
              <a:rPr lang="en-US" sz="2400" b="1">
                <a:solidFill>
                  <a:srgbClr val="000066"/>
                </a:solidFill>
                <a:latin typeface="Times New Roman" pitchFamily="18" charset="0"/>
                <a:cs typeface="Times New Roman" pitchFamily="18" charset="0"/>
              </a:rPr>
              <a:t>1RN19IS021</a:t>
            </a:r>
            <a:endParaRPr lang="en-US" b="1" dirty="0">
              <a:solidFill>
                <a:srgbClr val="000066"/>
              </a:solidFill>
              <a:latin typeface="Times New Roman" pitchFamily="18" charset="0"/>
              <a:cs typeface="Times New Roman" pitchFamily="18" charset="0"/>
            </a:endParaRPr>
          </a:p>
          <a:p>
            <a:pPr lvl="0" algn="just" fontAlgn="base">
              <a:spcBef>
                <a:spcPct val="0"/>
              </a:spcBef>
              <a:spcAft>
                <a:spcPct val="0"/>
              </a:spcAft>
            </a:pPr>
            <a:r>
              <a:rPr lang="en-US" b="1">
                <a:solidFill>
                  <a:srgbClr val="000066"/>
                </a:solidFill>
                <a:latin typeface="Times New Roman" pitchFamily="18" charset="0"/>
                <a:cs typeface="Times New Roman" pitchFamily="18" charset="0"/>
              </a:rPr>
              <a:t>     Anushka Jaiswal : </a:t>
            </a:r>
            <a:r>
              <a:rPr lang="en-US" sz="2400" b="1">
                <a:solidFill>
                  <a:srgbClr val="000066"/>
                </a:solidFill>
                <a:latin typeface="Times New Roman" pitchFamily="18" charset="0"/>
                <a:cs typeface="Times New Roman" pitchFamily="18" charset="0"/>
              </a:rPr>
              <a:t>1RN19IS035</a:t>
            </a:r>
            <a:endParaRPr lang="en-US" b="1" dirty="0">
              <a:solidFill>
                <a:srgbClr val="000066"/>
              </a:solidFill>
              <a:latin typeface="Times New Roman" pitchFamily="18" charset="0"/>
              <a:cs typeface="Times New Roman" pitchFamily="18" charset="0"/>
            </a:endParaRPr>
          </a:p>
          <a:p>
            <a:pPr algn="just" fontAlgn="base">
              <a:spcBef>
                <a:spcPct val="0"/>
              </a:spcBef>
              <a:spcAft>
                <a:spcPct val="0"/>
              </a:spcAft>
            </a:pPr>
            <a:r>
              <a:rPr lang="en-US" b="1">
                <a:solidFill>
                  <a:srgbClr val="000066"/>
                </a:solidFill>
                <a:latin typeface="Times New Roman" pitchFamily="18" charset="0"/>
                <a:cs typeface="Times New Roman" pitchFamily="18" charset="0"/>
              </a:rPr>
              <a:t> Devendra Upadhyay  : </a:t>
            </a:r>
            <a:r>
              <a:rPr lang="en-US" sz="2400" b="1">
                <a:solidFill>
                  <a:srgbClr val="000066"/>
                </a:solidFill>
                <a:latin typeface="Times New Roman" pitchFamily="18" charset="0"/>
                <a:cs typeface="Times New Roman" pitchFamily="18" charset="0"/>
              </a:rPr>
              <a:t>1RN19IS056</a:t>
            </a:r>
            <a:endParaRPr lang="en-US" b="1" dirty="0">
              <a:solidFill>
                <a:srgbClr val="000066"/>
              </a:solidFill>
              <a:latin typeface="Times New Roman" pitchFamily="18" charset="0"/>
              <a:cs typeface="Times New Roman" pitchFamily="18" charset="0"/>
            </a:endParaRPr>
          </a:p>
          <a:p>
            <a:pPr lvl="0"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fontAlgn="base">
              <a:spcBef>
                <a:spcPct val="0"/>
              </a:spcBef>
              <a:spcAft>
                <a:spcPct val="0"/>
              </a:spcAft>
            </a:pPr>
            <a:endParaRPr lang="en-US"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US" sz="2400" b="1" dirty="0">
              <a:solidFill>
                <a:srgbClr val="000066"/>
              </a:solidFill>
              <a:latin typeface="Times New Roman" pitchFamily="18" charset="0"/>
              <a:cs typeface="Times New Roman" pitchFamily="18" charset="0"/>
            </a:endParaRPr>
          </a:p>
          <a:p>
            <a:pPr lvl="0" algn="ctr" fontAlgn="base">
              <a:spcBef>
                <a:spcPct val="0"/>
              </a:spcBef>
              <a:spcAft>
                <a:spcPct val="0"/>
              </a:spcAft>
            </a:pPr>
            <a:endParaRPr lang="en-IN" sz="2400" b="1" dirty="0">
              <a:solidFill>
                <a:srgbClr val="000066"/>
              </a:solidFill>
            </a:endParaRPr>
          </a:p>
        </p:txBody>
      </p:sp>
      <p:sp>
        <p:nvSpPr>
          <p:cNvPr id="7" name="Rectangle 6"/>
          <p:cNvSpPr/>
          <p:nvPr/>
        </p:nvSpPr>
        <p:spPr>
          <a:xfrm>
            <a:off x="0" y="-24735"/>
            <a:ext cx="12192000" cy="1015663"/>
          </a:xfrm>
          <a:prstGeom prst="rect">
            <a:avLst/>
          </a:prstGeom>
        </p:spPr>
        <p:txBody>
          <a:bodyPr wrap="square">
            <a:spAutoFit/>
          </a:bodyPr>
          <a:lstStyle/>
          <a:p>
            <a:pPr algn="ctr">
              <a:defRPr/>
            </a:pPr>
            <a:r>
              <a:rPr lang="en-US" sz="3600" b="1" dirty="0">
                <a:solidFill>
                  <a:srgbClr val="000066"/>
                </a:solidFill>
                <a:latin typeface="Times New Roman" pitchFamily="18" charset="0"/>
                <a:cs typeface="Times New Roman" pitchFamily="18" charset="0"/>
              </a:rPr>
              <a:t>RNS INSTITUTE OF TECHNOLOGY</a:t>
            </a:r>
          </a:p>
          <a:p>
            <a:pPr algn="ctr">
              <a:defRPr/>
            </a:pPr>
            <a:r>
              <a:rPr lang="en-US" sz="2400" b="1" cap="all" dirty="0">
                <a:solidFill>
                  <a:srgbClr val="000066"/>
                </a:solidFill>
                <a:latin typeface="Times New Roman" pitchFamily="18" charset="0"/>
                <a:cs typeface="Times New Roman" pitchFamily="18" charset="0"/>
              </a:rPr>
              <a:t>BENGALURU - 98</a:t>
            </a:r>
            <a:endParaRPr lang="en-US" sz="2400" b="1" dirty="0">
              <a:solidFill>
                <a:srgbClr val="000066"/>
              </a:solidFill>
              <a:latin typeface="Times New Roman" pitchFamily="18" charset="0"/>
              <a:cs typeface="Times New Roman" pitchFamily="18" charset="0"/>
            </a:endParaRPr>
          </a:p>
        </p:txBody>
      </p:sp>
      <p:sp>
        <p:nvSpPr>
          <p:cNvPr id="8" name="Rectangle 7"/>
          <p:cNvSpPr/>
          <p:nvPr/>
        </p:nvSpPr>
        <p:spPr>
          <a:xfrm>
            <a:off x="0" y="983917"/>
            <a:ext cx="12192000" cy="523220"/>
          </a:xfrm>
          <a:prstGeom prst="rect">
            <a:avLst/>
          </a:prstGeom>
        </p:spPr>
        <p:txBody>
          <a:bodyPr wrap="square">
            <a:spAutoFit/>
          </a:bodyPr>
          <a:lstStyle/>
          <a:p>
            <a:pPr algn="ctr"/>
            <a:r>
              <a:rPr lang="en-US" sz="2800" b="1" dirty="0">
                <a:solidFill>
                  <a:srgbClr val="C00000"/>
                </a:solidFill>
                <a:latin typeface="Times New Roman" pitchFamily="18" charset="0"/>
                <a:cs typeface="Times New Roman" pitchFamily="18" charset="0"/>
              </a:rPr>
              <a:t>DEPARTMENT OF INFORMATION SCIENCE &amp; ENGINEERING</a:t>
            </a:r>
          </a:p>
        </p:txBody>
      </p:sp>
      <p:sp>
        <p:nvSpPr>
          <p:cNvPr id="9" name="Rectangle 8"/>
          <p:cNvSpPr/>
          <p:nvPr/>
        </p:nvSpPr>
        <p:spPr>
          <a:xfrm>
            <a:off x="2279576" y="1785927"/>
            <a:ext cx="6768752" cy="461665"/>
          </a:xfrm>
          <a:prstGeom prst="rect">
            <a:avLst/>
          </a:prstGeom>
        </p:spPr>
        <p:txBody>
          <a:bodyPr wrap="square">
            <a:spAutoFit/>
          </a:bodyPr>
          <a:lstStyle/>
          <a:p>
            <a:pPr algn="ctr"/>
            <a:r>
              <a:rPr lang="en-US" sz="2400" b="1" dirty="0">
                <a:solidFill>
                  <a:srgbClr val="002060"/>
                </a:solidFill>
                <a:latin typeface="Times New Roman" pitchFamily="18" charset="0"/>
                <a:cs typeface="Times New Roman" pitchFamily="18" charset="0"/>
              </a:rPr>
              <a:t>            Final Year Project Work Presentation</a:t>
            </a:r>
          </a:p>
        </p:txBody>
      </p:sp>
      <p:sp>
        <p:nvSpPr>
          <p:cNvPr id="10" name="Rectangle 9"/>
          <p:cNvSpPr/>
          <p:nvPr/>
        </p:nvSpPr>
        <p:spPr>
          <a:xfrm>
            <a:off x="1351773" y="5438191"/>
            <a:ext cx="3376075" cy="1231106"/>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 Internal Guide</a:t>
            </a:r>
          </a:p>
          <a:p>
            <a:pPr lvl="0" algn="ctr" fontAlgn="base">
              <a:spcBef>
                <a:spcPct val="0"/>
              </a:spcBef>
              <a:spcAft>
                <a:spcPct val="0"/>
              </a:spcAft>
            </a:pPr>
            <a:r>
              <a:rPr lang="en-IN" sz="2000" b="1" dirty="0" err="1">
                <a:solidFill>
                  <a:srgbClr val="000066"/>
                </a:solidFill>
                <a:latin typeface="Times New Roman" pitchFamily="18" charset="0"/>
                <a:cs typeface="Times New Roman" pitchFamily="18" charset="0"/>
              </a:rPr>
              <a:t>Ms</a:t>
            </a:r>
            <a:r>
              <a:rPr lang="en-IN" sz="2000" b="1" err="1">
                <a:solidFill>
                  <a:srgbClr val="000066"/>
                </a:solidFill>
                <a:latin typeface="Times New Roman" pitchFamily="18" charset="0"/>
                <a:cs typeface="Times New Roman" pitchFamily="18" charset="0"/>
              </a:rPr>
              <a:t>.</a:t>
            </a:r>
            <a:r>
              <a:rPr lang="en-IN" sz="2000" b="1">
                <a:solidFill>
                  <a:srgbClr val="000066"/>
                </a:solidFill>
                <a:latin typeface="Times New Roman" pitchFamily="18" charset="0"/>
                <a:cs typeface="Times New Roman" pitchFamily="18" charset="0"/>
              </a:rPr>
              <a:t> Vanishri V</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Assistant Professor</a:t>
            </a:r>
            <a:endParaRPr lang="en-US" dirty="0">
              <a:solidFill>
                <a:schemeClr val="tx1">
                  <a:lumMod val="85000"/>
                  <a:lumOff val="15000"/>
                </a:schemeClr>
              </a:solidFill>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en-US" dirty="0">
                <a:solidFill>
                  <a:schemeClr val="tx1">
                    <a:lumMod val="85000"/>
                    <a:lumOff val="15000"/>
                  </a:schemeClr>
                </a:solidFill>
                <a:latin typeface="Times New Roman" pitchFamily="18" charset="0"/>
                <a:ea typeface="Times New Roman" pitchFamily="18" charset="0"/>
                <a:cs typeface="Times New Roman" pitchFamily="18" charset="0"/>
              </a:rPr>
              <a:t>Dept of  ISE, RNSIT</a:t>
            </a:r>
            <a:endParaRPr lang="en-US" dirty="0">
              <a:solidFill>
                <a:schemeClr val="tx1">
                  <a:lumMod val="85000"/>
                  <a:lumOff val="15000"/>
                </a:schemeClr>
              </a:solidFill>
              <a:latin typeface="Times New Roman" pitchFamily="18" charset="0"/>
              <a:cs typeface="Times New Roman" pitchFamily="18" charset="0"/>
            </a:endParaRPr>
          </a:p>
        </p:txBody>
      </p:sp>
      <p:sp>
        <p:nvSpPr>
          <p:cNvPr id="12" name="Rectangle 11"/>
          <p:cNvSpPr/>
          <p:nvPr/>
        </p:nvSpPr>
        <p:spPr>
          <a:xfrm>
            <a:off x="7248128" y="5302997"/>
            <a:ext cx="2999890" cy="1231106"/>
          </a:xfrm>
          <a:prstGeom prst="rect">
            <a:avLst/>
          </a:prstGeom>
        </p:spPr>
        <p:txBody>
          <a:bodyPr wrap="square">
            <a:spAutoFit/>
          </a:bodyPr>
          <a:lstStyle/>
          <a:p>
            <a:pPr lvl="0" algn="ctr" fontAlgn="base">
              <a:spcBef>
                <a:spcPct val="0"/>
              </a:spcBef>
              <a:spcAft>
                <a:spcPct val="0"/>
              </a:spcAft>
            </a:pPr>
            <a:r>
              <a:rPr lang="en-US" b="1" dirty="0">
                <a:solidFill>
                  <a:schemeClr val="tx1">
                    <a:lumMod val="85000"/>
                    <a:lumOff val="15000"/>
                  </a:schemeClr>
                </a:solidFill>
                <a:latin typeface="Times New Roman" pitchFamily="18" charset="0"/>
                <a:cs typeface="Times New Roman" pitchFamily="18" charset="0"/>
              </a:rPr>
              <a:t>Panel Member</a:t>
            </a:r>
          </a:p>
          <a:p>
            <a:pPr lvl="0" algn="ctr" fontAlgn="base">
              <a:spcBef>
                <a:spcPct val="0"/>
              </a:spcBef>
              <a:spcAft>
                <a:spcPct val="0"/>
              </a:spcAft>
            </a:pPr>
            <a:r>
              <a:rPr lang="en-US" sz="2000" b="1">
                <a:solidFill>
                  <a:srgbClr val="000066"/>
                </a:solidFill>
                <a:latin typeface="Times New Roman" pitchFamily="18" charset="0"/>
                <a:cs typeface="Times New Roman" pitchFamily="18" charset="0"/>
              </a:rPr>
              <a:t>Mr. T S Bhagavath Singh</a:t>
            </a:r>
            <a:endParaRPr lang="pt-BR" sz="2000" b="1" dirty="0">
              <a:solidFill>
                <a:srgbClr val="000066"/>
              </a:solidFill>
              <a:latin typeface="Times New Roman" pitchFamily="18" charset="0"/>
              <a:cs typeface="Times New Roman" pitchFamily="18" charset="0"/>
            </a:endParaRPr>
          </a:p>
          <a:p>
            <a:pPr lvl="0" algn="ctr" eaLnBrk="0" fontAlgn="base" hangingPunct="0">
              <a:spcBef>
                <a:spcPct val="0"/>
              </a:spcBef>
              <a:spcAft>
                <a:spcPct val="0"/>
              </a:spcAft>
            </a:pPr>
            <a:r>
              <a:rPr lang="en-US">
                <a:solidFill>
                  <a:schemeClr val="tx1">
                    <a:lumMod val="85000"/>
                    <a:lumOff val="15000"/>
                  </a:schemeClr>
                </a:solidFill>
                <a:latin typeface="Times New Roman" pitchFamily="18" charset="0"/>
                <a:ea typeface="Times New Roman" pitchFamily="18" charset="0"/>
                <a:cs typeface="Times New Roman" pitchFamily="18" charset="0"/>
              </a:rPr>
              <a:t>Associate Professor</a:t>
            </a:r>
            <a:endParaRPr lang="en-US" dirty="0">
              <a:solidFill>
                <a:schemeClr val="tx1">
                  <a:lumMod val="85000"/>
                  <a:lumOff val="15000"/>
                </a:schemeClr>
              </a:solidFill>
              <a:latin typeface="Times New Roman" pitchFamily="18" charset="0"/>
              <a:ea typeface="Times New Roman" pitchFamily="18" charset="0"/>
              <a:cs typeface="Times New Roman" pitchFamily="18" charset="0"/>
            </a:endParaRPr>
          </a:p>
          <a:p>
            <a:pPr lvl="0" algn="ctr" eaLnBrk="0" fontAlgn="base" hangingPunct="0">
              <a:spcBef>
                <a:spcPct val="0"/>
              </a:spcBef>
              <a:spcAft>
                <a:spcPct val="0"/>
              </a:spcAft>
            </a:pPr>
            <a:r>
              <a:rPr lang="en-US" dirty="0">
                <a:solidFill>
                  <a:schemeClr val="tx1">
                    <a:lumMod val="85000"/>
                    <a:lumOff val="15000"/>
                  </a:schemeClr>
                </a:solidFill>
                <a:latin typeface="Times New Roman" pitchFamily="18" charset="0"/>
                <a:ea typeface="Times New Roman" pitchFamily="18" charset="0"/>
                <a:cs typeface="Times New Roman" pitchFamily="18" charset="0"/>
              </a:rPr>
              <a:t>Dept of  ISE, RNSIT</a:t>
            </a:r>
            <a:endParaRPr lang="en-US" dirty="0">
              <a:solidFill>
                <a:schemeClr val="tx1">
                  <a:lumMod val="85000"/>
                  <a:lumOff val="15000"/>
                </a:schemeClr>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53752"/>
            <a:ext cx="7467600" cy="1143000"/>
          </a:xfrm>
        </p:spPr>
        <p:txBody>
          <a:bodyPr>
            <a:normAutofit/>
          </a:bodyPr>
          <a:lstStyle/>
          <a:p>
            <a:pPr algn="ctr"/>
            <a:r>
              <a:rPr lang="en-IN" sz="3200" b="1" dirty="0">
                <a:solidFill>
                  <a:schemeClr val="accent1">
                    <a:lumMod val="75000"/>
                  </a:schemeClr>
                </a:solidFill>
                <a:latin typeface="Times New Roman" pitchFamily="18" charset="0"/>
                <a:cs typeface="Times New Roman" pitchFamily="18" charset="0"/>
              </a:rPr>
              <a:t>AGENDA</a:t>
            </a:r>
          </a:p>
        </p:txBody>
      </p:sp>
      <p:sp>
        <p:nvSpPr>
          <p:cNvPr id="3" name="Content Placeholder 2"/>
          <p:cNvSpPr>
            <a:spLocks noGrp="1"/>
          </p:cNvSpPr>
          <p:nvPr>
            <p:ph idx="1"/>
          </p:nvPr>
        </p:nvSpPr>
        <p:spPr>
          <a:xfrm>
            <a:off x="1199456" y="908720"/>
            <a:ext cx="9505056" cy="5540052"/>
          </a:xfrm>
        </p:spPr>
        <p:txBody>
          <a:bodyPr>
            <a:normAutofit/>
          </a:bodyPr>
          <a:lstStyle/>
          <a:p>
            <a:pPr marL="355600" indent="-355600">
              <a:buFont typeface="Wingdings" pitchFamily="2" charset="2"/>
              <a:buChar char="q"/>
            </a:pPr>
            <a:r>
              <a:rPr lang="en-IN" sz="3400" dirty="0">
                <a:latin typeface="Times New Roman" pitchFamily="18" charset="0"/>
                <a:cs typeface="Times New Roman" pitchFamily="18" charset="0"/>
              </a:rPr>
              <a:t>Abstract</a:t>
            </a:r>
          </a:p>
          <a:p>
            <a:pPr marL="355600" indent="-355600">
              <a:buFont typeface="Wingdings" pitchFamily="2" charset="2"/>
              <a:buChar char="q"/>
            </a:pPr>
            <a:r>
              <a:rPr lang="en-IN" sz="3400" dirty="0">
                <a:latin typeface="Times New Roman" pitchFamily="18" charset="0"/>
                <a:cs typeface="Times New Roman" pitchFamily="18" charset="0"/>
              </a:rPr>
              <a:t>Introduction</a:t>
            </a:r>
          </a:p>
          <a:p>
            <a:pPr marL="355600" indent="-355600">
              <a:buFont typeface="Wingdings" pitchFamily="2" charset="2"/>
              <a:buChar char="q"/>
            </a:pPr>
            <a:r>
              <a:rPr lang="en-IN" sz="3400" dirty="0">
                <a:latin typeface="Times New Roman" pitchFamily="18" charset="0"/>
                <a:cs typeface="Times New Roman" pitchFamily="18" charset="0"/>
              </a:rPr>
              <a:t>Literature Review</a:t>
            </a:r>
          </a:p>
          <a:p>
            <a:pPr marL="355600" indent="-355600">
              <a:buFont typeface="Wingdings" pitchFamily="2" charset="2"/>
              <a:buChar char="q"/>
            </a:pPr>
            <a:r>
              <a:rPr lang="en-US" sz="3400" dirty="0">
                <a:latin typeface="Times New Roman" pitchFamily="18" charset="0"/>
                <a:cs typeface="Times New Roman" pitchFamily="18" charset="0"/>
              </a:rPr>
              <a:t>Problem identification</a:t>
            </a:r>
          </a:p>
          <a:p>
            <a:pPr marL="355600" indent="-355600">
              <a:buFont typeface="Wingdings" pitchFamily="2" charset="2"/>
              <a:buChar char="q"/>
            </a:pPr>
            <a:r>
              <a:rPr lang="en-US" sz="3400" dirty="0">
                <a:latin typeface="Times New Roman" pitchFamily="18" charset="0"/>
                <a:cs typeface="Times New Roman" pitchFamily="18" charset="0"/>
              </a:rPr>
              <a:t>Objectives</a:t>
            </a:r>
            <a:endParaRPr lang="en-IN" sz="3400" dirty="0">
              <a:latin typeface="Times New Roman" pitchFamily="18" charset="0"/>
              <a:cs typeface="Times New Roman" pitchFamily="18" charset="0"/>
            </a:endParaRPr>
          </a:p>
          <a:p>
            <a:pPr marL="355600" indent="-355600">
              <a:buFont typeface="Wingdings" pitchFamily="2" charset="2"/>
              <a:buChar char="q"/>
            </a:pPr>
            <a:r>
              <a:rPr lang="en-IN" sz="3400" dirty="0">
                <a:latin typeface="Times New Roman" pitchFamily="18" charset="0"/>
                <a:cs typeface="Times New Roman" pitchFamily="18" charset="0"/>
              </a:rPr>
              <a:t>System Design</a:t>
            </a:r>
          </a:p>
          <a:p>
            <a:pPr marL="355600" indent="-355600">
              <a:buFont typeface="Wingdings" pitchFamily="2" charset="2"/>
              <a:buChar char="q"/>
            </a:pPr>
            <a:r>
              <a:rPr lang="en-IN" sz="3400" dirty="0">
                <a:latin typeface="Times New Roman" pitchFamily="18" charset="0"/>
                <a:cs typeface="Times New Roman" pitchFamily="18" charset="0"/>
              </a:rPr>
              <a:t>Conclusion</a:t>
            </a:r>
          </a:p>
          <a:p>
            <a:pPr marL="355600" indent="-355600">
              <a:buFont typeface="Wingdings" pitchFamily="2" charset="2"/>
              <a:buChar char="q"/>
            </a:pPr>
            <a:r>
              <a:rPr lang="en-IN" sz="3400" dirty="0">
                <a:latin typeface="Times New Roman" pitchFamily="18" charset="0"/>
                <a:cs typeface="Times New Roman" pitchFamily="18" charset="0"/>
              </a:rPr>
              <a:t>References</a:t>
            </a:r>
            <a:endParaRPr lang="en-IN" dirty="0">
              <a:solidFill>
                <a:schemeClr val="tx1">
                  <a:lumMod val="75000"/>
                  <a:lumOff val="25000"/>
                </a:schemeClr>
              </a:solidFill>
            </a:endParaRPr>
          </a:p>
        </p:txBody>
      </p:sp>
      <p:sp>
        <p:nvSpPr>
          <p:cNvPr id="5" name="Date Placeholder 4">
            <a:extLst>
              <a:ext uri="{FF2B5EF4-FFF2-40B4-BE49-F238E27FC236}">
                <a16:creationId xmlns:a16="http://schemas.microsoft.com/office/drawing/2014/main" id="{F3107C6F-CCDB-468C-A092-047170622C85}"/>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DF95553B-50BC-4DC2-A8CE-4336C1382E65}"/>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EE09E886-641A-4621-AEA2-BB64918E960D}"/>
              </a:ext>
            </a:extLst>
          </p:cNvPr>
          <p:cNvSpPr>
            <a:spLocks noGrp="1"/>
          </p:cNvSpPr>
          <p:nvPr>
            <p:ph type="sldNum" sz="quarter" idx="12"/>
          </p:nvPr>
        </p:nvSpPr>
        <p:spPr/>
        <p:txBody>
          <a:bodyPr/>
          <a:lstStyle/>
          <a:p>
            <a:fld id="{5B4F5413-E548-45A8-B9DD-11B71454D5C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792088"/>
          </a:xfrm>
        </p:spPr>
        <p:txBody>
          <a:bodyPr>
            <a:noAutofit/>
          </a:bodyPr>
          <a:lstStyle/>
          <a:p>
            <a:pPr algn="ctr"/>
            <a:r>
              <a:rPr lang="en-US" sz="3200" b="1" dirty="0">
                <a:solidFill>
                  <a:srgbClr val="000066"/>
                </a:solidFill>
                <a:latin typeface="+mn-lt"/>
                <a:cs typeface="Times New Roman" pitchFamily="18" charset="0"/>
              </a:rPr>
              <a:t>ABSTRACT</a:t>
            </a:r>
            <a:br>
              <a:rPr lang="en-US" sz="3200" b="1" u="sng" dirty="0">
                <a:solidFill>
                  <a:srgbClr val="000066"/>
                </a:solidFill>
                <a:latin typeface="+mn-lt"/>
                <a:cs typeface="Times New Roman" pitchFamily="18" charset="0"/>
              </a:rPr>
            </a:br>
            <a:endParaRPr lang="en-US" sz="3200" b="1" u="sng" dirty="0">
              <a:solidFill>
                <a:srgbClr val="000066"/>
              </a:solidFill>
              <a:latin typeface="+mn-lt"/>
              <a:cs typeface="Times New Roman" pitchFamily="18" charset="0"/>
            </a:endParaRPr>
          </a:p>
        </p:txBody>
      </p:sp>
      <p:sp>
        <p:nvSpPr>
          <p:cNvPr id="3" name="Content Placeholder 2"/>
          <p:cNvSpPr>
            <a:spLocks noGrp="1"/>
          </p:cNvSpPr>
          <p:nvPr>
            <p:ph idx="1"/>
          </p:nvPr>
        </p:nvSpPr>
        <p:spPr>
          <a:xfrm>
            <a:off x="551384" y="1357298"/>
            <a:ext cx="11161240" cy="4591982"/>
          </a:xfrm>
        </p:spPr>
        <p:txBody>
          <a:bodyPr>
            <a:noAutofit/>
          </a:bodyPr>
          <a:lstStyle/>
          <a:p>
            <a:pPr indent="-226695" algn="just">
              <a:lnSpc>
                <a:spcPct val="150000"/>
              </a:lnSpc>
              <a:spcAft>
                <a:spcPts val="1800"/>
              </a:spcAft>
            </a:pPr>
            <a:r>
              <a:rPr lang="en-US" sz="2400">
                <a:solidFill>
                  <a:srgbClr val="202020"/>
                </a:solidFill>
                <a:effectLst/>
                <a:latin typeface="Times New Roman" panose="02020603050405020304" pitchFamily="18" charset="0"/>
                <a:ea typeface="Calibri" panose="020F0502020204030204" pitchFamily="34" charset="0"/>
                <a:cs typeface="Mangal" panose="02040503050203030202" pitchFamily="18" charset="0"/>
              </a:rPr>
              <a:t>India is one of the fastest developing country in the world. One of the disadvantages of this unprecedented growth is the ineffective traffic management.</a:t>
            </a:r>
          </a:p>
          <a:p>
            <a:pPr indent="-226695" algn="just">
              <a:lnSpc>
                <a:spcPct val="150000"/>
              </a:lnSpc>
              <a:spcAft>
                <a:spcPts val="1800"/>
              </a:spcAft>
            </a:pPr>
            <a:r>
              <a:rPr lang="en-US" sz="2400">
                <a:solidFill>
                  <a:srgbClr val="202020"/>
                </a:solidFill>
                <a:effectLst/>
                <a:latin typeface="Times New Roman" panose="02020603050405020304" pitchFamily="18" charset="0"/>
                <a:ea typeface="Calibri" panose="020F0502020204030204" pitchFamily="34" charset="0"/>
                <a:cs typeface="Mangal" panose="02040503050203030202" pitchFamily="18" charset="0"/>
              </a:rPr>
              <a:t>Light Fidelity (Li-Fi) is a form of bi-directional Visible Light Communication (VLC) in which light is modulated at speeds greater than a human eye can follow.</a:t>
            </a:r>
          </a:p>
          <a:p>
            <a:pPr indent="-226695" algn="just">
              <a:lnSpc>
                <a:spcPct val="150000"/>
              </a:lnSpc>
              <a:spcAft>
                <a:spcPts val="1800"/>
              </a:spcAft>
            </a:pPr>
            <a:r>
              <a:rPr lang="en-US" sz="2400">
                <a:solidFill>
                  <a:srgbClr val="202020"/>
                </a:solidFill>
                <a:latin typeface="Times New Roman" panose="02020603050405020304" pitchFamily="18" charset="0"/>
                <a:ea typeface="Calibri" panose="020F0502020204030204" pitchFamily="34" charset="0"/>
                <a:cs typeface="Mangal" panose="02040503050203030202" pitchFamily="18" charset="0"/>
              </a:rPr>
              <a:t>This Li-fi technology can be used to automate traffic signal control and thus can help emergency vehicles like ambulance to reach the hospital fastly and save the patient life.</a:t>
            </a:r>
            <a:endParaRPr lang="en-IN" sz="2400">
              <a:solidFill>
                <a:srgbClr val="202020"/>
              </a:solidFill>
              <a:effectLst/>
              <a:latin typeface="Times New Roman" panose="02020603050405020304" pitchFamily="18" charset="0"/>
              <a:ea typeface="Calibri" panose="020F0502020204030204" pitchFamily="34" charset="0"/>
              <a:cs typeface="Mangal" panose="02040503050203030202" pitchFamily="18" charset="0"/>
            </a:endParaRPr>
          </a:p>
        </p:txBody>
      </p:sp>
      <p:sp>
        <p:nvSpPr>
          <p:cNvPr id="5" name="Date Placeholder 4">
            <a:extLst>
              <a:ext uri="{FF2B5EF4-FFF2-40B4-BE49-F238E27FC236}">
                <a16:creationId xmlns:a16="http://schemas.microsoft.com/office/drawing/2014/main" id="{9218EC12-73AA-4416-AB80-CFE95158E424}"/>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5CD64878-040F-43D3-8C50-5126F2C2CDC1}"/>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B251B2EA-778B-412E-9857-F89F9B20D7C5}"/>
              </a:ext>
            </a:extLst>
          </p:cNvPr>
          <p:cNvSpPr>
            <a:spLocks noGrp="1"/>
          </p:cNvSpPr>
          <p:nvPr>
            <p:ph type="sldNum" sz="quarter" idx="12"/>
          </p:nvPr>
        </p:nvSpPr>
        <p:spPr/>
        <p:txBody>
          <a:bodyPr/>
          <a:lstStyle/>
          <a:p>
            <a:fld id="{5B4F5413-E548-45A8-B9DD-11B71454D5C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374340"/>
            <a:ext cx="7467600" cy="540060"/>
          </a:xfrm>
        </p:spPr>
        <p:txBody>
          <a:bodyPr>
            <a:normAutofit fontScale="90000"/>
          </a:bodyPr>
          <a:lstStyle/>
          <a:p>
            <a:pPr algn="ctr"/>
            <a:r>
              <a:rPr lang="en-US" sz="3600" dirty="0">
                <a:solidFill>
                  <a:srgbClr val="000066"/>
                </a:solidFill>
                <a:latin typeface="+mn-lt"/>
                <a:cs typeface="Times New Roman" pitchFamily="18" charset="0"/>
              </a:rPr>
              <a:t>INTRODUCTION</a:t>
            </a:r>
            <a:br>
              <a:rPr lang="en-US" sz="3200" b="1" u="sng" dirty="0">
                <a:solidFill>
                  <a:schemeClr val="accent1">
                    <a:lumMod val="75000"/>
                  </a:schemeClr>
                </a:solidFill>
                <a:latin typeface="Times New Roman" pitchFamily="18" charset="0"/>
                <a:cs typeface="Times New Roman" pitchFamily="18" charset="0"/>
              </a:rPr>
            </a:br>
            <a:endParaRPr lang="en-US" sz="3200" b="1" u="sng" dirty="0">
              <a:solidFill>
                <a:schemeClr val="accent1">
                  <a:lumMod val="75000"/>
                </a:schemeClr>
              </a:solidFill>
              <a:latin typeface="Times New Roman" pitchFamily="18" charset="0"/>
              <a:cs typeface="Times New Roman" pitchFamily="18" charset="0"/>
            </a:endParaRPr>
          </a:p>
        </p:txBody>
      </p:sp>
      <p:sp>
        <p:nvSpPr>
          <p:cNvPr id="3" name="Content Placeholder 2"/>
          <p:cNvSpPr>
            <a:spLocks noGrp="1"/>
          </p:cNvSpPr>
          <p:nvPr>
            <p:ph idx="1"/>
          </p:nvPr>
        </p:nvSpPr>
        <p:spPr>
          <a:xfrm>
            <a:off x="695400" y="973919"/>
            <a:ext cx="10801200" cy="5322912"/>
          </a:xfrm>
        </p:spPr>
        <p:txBody>
          <a:bodyPr>
            <a:normAutofit/>
          </a:bodyPr>
          <a:lstStyle/>
          <a:p>
            <a:pPr lvl="1" algn="just">
              <a:lnSpc>
                <a:spcPct val="150000"/>
              </a:lnSpc>
              <a:buFont typeface="Wingdings" pitchFamily="2" charset="2"/>
              <a:buChar char="Ø"/>
            </a:pPr>
            <a:r>
              <a:rPr lang="en-US">
                <a:latin typeface="Times New Roman" pitchFamily="18" charset="0"/>
                <a:cs typeface="Times New Roman" pitchFamily="18" charset="0"/>
              </a:rPr>
              <a:t>Wireless communication has been solely based on radio waves. Due to technological developments, this spectrum has become congested.</a:t>
            </a:r>
            <a:endParaRPr lang="en-IN">
              <a:latin typeface="Times New Roman" pitchFamily="18" charset="0"/>
              <a:cs typeface="Times New Roman" pitchFamily="18" charset="0"/>
            </a:endParaRPr>
          </a:p>
          <a:p>
            <a:pPr lvl="1" algn="just">
              <a:lnSpc>
                <a:spcPct val="150000"/>
              </a:lnSpc>
              <a:buFont typeface="Wingdings" pitchFamily="2" charset="2"/>
              <a:buChar char="Ø"/>
            </a:pPr>
            <a:r>
              <a:rPr lang="en-US">
                <a:latin typeface="Times New Roman" pitchFamily="18" charset="0"/>
                <a:cs typeface="Times New Roman" pitchFamily="18" charset="0"/>
              </a:rPr>
              <a:t>Similarly, the traffic density has also increased many folds. To have an efficient traffic management, we need reliable wireless V2V communication system.</a:t>
            </a:r>
            <a:endParaRPr lang="en-IN">
              <a:latin typeface="Times New Roman" pitchFamily="18" charset="0"/>
              <a:cs typeface="Times New Roman" pitchFamily="18" charset="0"/>
            </a:endParaRPr>
          </a:p>
          <a:p>
            <a:pPr lvl="1" algn="just">
              <a:lnSpc>
                <a:spcPct val="150000"/>
              </a:lnSpc>
              <a:buFont typeface="Wingdings" pitchFamily="2" charset="2"/>
              <a:buChar char="Ø"/>
            </a:pPr>
            <a:r>
              <a:rPr lang="en-IN">
                <a:latin typeface="Times New Roman" pitchFamily="18" charset="0"/>
                <a:cs typeface="Times New Roman" pitchFamily="18" charset="0"/>
              </a:rPr>
              <a:t> </a:t>
            </a:r>
            <a:r>
              <a:rPr lang="en-US">
                <a:latin typeface="Times New Roman" pitchFamily="18" charset="0"/>
                <a:cs typeface="Times New Roman" pitchFamily="18" charset="0"/>
              </a:rPr>
              <a:t>Li-Fi is a VLC protocol, which is like the Wi-Fi protocol but more fast, secure, safe for living organisms and cheap.</a:t>
            </a:r>
          </a:p>
          <a:p>
            <a:pPr lvl="1" algn="just">
              <a:lnSpc>
                <a:spcPct val="150000"/>
              </a:lnSpc>
              <a:buFont typeface="Wingdings" pitchFamily="2" charset="2"/>
              <a:buChar char="Ø"/>
            </a:pPr>
            <a:r>
              <a:rPr lang="en-US">
                <a:latin typeface="Times New Roman" pitchFamily="18" charset="0"/>
                <a:cs typeface="Times New Roman" pitchFamily="18" charset="0"/>
              </a:rPr>
              <a:t>LED intensity can be modulated at very high speeds. This property is exploited in Li-Fi technology. Li-Fi also enables transmission of thousands of data streams in parallel at high speeds.</a:t>
            </a:r>
          </a:p>
          <a:p>
            <a:pPr lvl="1" algn="just">
              <a:lnSpc>
                <a:spcPct val="150000"/>
              </a:lnSpc>
              <a:buFont typeface="Wingdings" pitchFamily="2" charset="2"/>
              <a:buChar char="Ø"/>
            </a:pPr>
            <a:endParaRPr lang="en-IN">
              <a:latin typeface="Times New Roman" pitchFamily="18" charset="0"/>
              <a:cs typeface="Times New Roman" pitchFamily="18" charset="0"/>
            </a:endParaRPr>
          </a:p>
        </p:txBody>
      </p:sp>
      <p:sp>
        <p:nvSpPr>
          <p:cNvPr id="5" name="Date Placeholder 4">
            <a:extLst>
              <a:ext uri="{FF2B5EF4-FFF2-40B4-BE49-F238E27FC236}">
                <a16:creationId xmlns:a16="http://schemas.microsoft.com/office/drawing/2014/main" id="{78ED1BB5-76F5-4CA3-B1FE-B05B9614B44F}"/>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B33CD455-262C-407F-89E6-1DBDF19B952E}"/>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A398D7C1-FF9A-4118-8448-A4F79609E2B4}"/>
              </a:ext>
            </a:extLst>
          </p:cNvPr>
          <p:cNvSpPr>
            <a:spLocks noGrp="1"/>
          </p:cNvSpPr>
          <p:nvPr>
            <p:ph type="sldNum" sz="quarter" idx="12"/>
          </p:nvPr>
        </p:nvSpPr>
        <p:spPr/>
        <p:txBody>
          <a:bodyPr/>
          <a:lstStyle/>
          <a:p>
            <a:fld id="{5B4F5413-E548-45A8-B9DD-11B71454D5CA}" type="slidenum">
              <a:rPr lang="en-US" smtClean="0"/>
              <a:pPr/>
              <a:t>4</a:t>
            </a:fld>
            <a:endParaRPr lang="en-US" dirty="0"/>
          </a:p>
        </p:txBody>
      </p:sp>
    </p:spTree>
    <p:extLst>
      <p:ext uri="{BB962C8B-B14F-4D97-AF65-F5344CB8AC3E}">
        <p14:creationId xmlns:p14="http://schemas.microsoft.com/office/powerpoint/2010/main" val="269066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AF41-1FE2-4281-BC67-D1FD246F0915}"/>
              </a:ext>
            </a:extLst>
          </p:cNvPr>
          <p:cNvSpPr>
            <a:spLocks noGrp="1"/>
          </p:cNvSpPr>
          <p:nvPr>
            <p:ph type="title"/>
          </p:nvPr>
        </p:nvSpPr>
        <p:spPr/>
        <p:txBody>
          <a:bodyPr>
            <a:normAutofit fontScale="90000"/>
          </a:bodyPr>
          <a:lstStyle/>
          <a:p>
            <a:pPr algn="ctr"/>
            <a:r>
              <a:rPr lang="en-US" dirty="0"/>
              <a:t>Objectives</a:t>
            </a:r>
            <a:endParaRPr lang="en-IN" dirty="0"/>
          </a:p>
        </p:txBody>
      </p:sp>
      <p:sp>
        <p:nvSpPr>
          <p:cNvPr id="3" name="Content Placeholder 2">
            <a:extLst>
              <a:ext uri="{FF2B5EF4-FFF2-40B4-BE49-F238E27FC236}">
                <a16:creationId xmlns:a16="http://schemas.microsoft.com/office/drawing/2014/main" id="{1308AE09-3125-EA43-5FE1-44869F5E834C}"/>
              </a:ext>
            </a:extLst>
          </p:cNvPr>
          <p:cNvSpPr>
            <a:spLocks noGrp="1"/>
          </p:cNvSpPr>
          <p:nvPr>
            <p:ph idx="1"/>
          </p:nvPr>
        </p:nvSpPr>
        <p:spPr>
          <a:xfrm>
            <a:off x="479376" y="1190898"/>
            <a:ext cx="10441160" cy="5033842"/>
          </a:xfrm>
        </p:spPr>
        <p:txBody>
          <a:bodyPr>
            <a:normAutofit/>
          </a:bodyPr>
          <a:lstStyle/>
          <a:p>
            <a:pPr marL="0" indent="0" algn="l">
              <a:lnSpc>
                <a:spcPct val="150000"/>
              </a:lnSpc>
              <a:buNone/>
            </a:pPr>
            <a:r>
              <a:rPr lang="en-US" sz="2400" b="0" i="0">
                <a:solidFill>
                  <a:srgbClr val="292929"/>
                </a:solidFill>
                <a:effectLst/>
                <a:latin typeface="Times New Roman" panose="02020603050405020304" pitchFamily="18" charset="0"/>
                <a:cs typeface="Times New Roman" panose="02020603050405020304" pitchFamily="18" charset="0"/>
              </a:rPr>
              <a:t>1.To provide maximum communication for ambulance from environment and hospitals. </a:t>
            </a:r>
          </a:p>
          <a:p>
            <a:pPr marL="0" indent="0" algn="l">
              <a:lnSpc>
                <a:spcPct val="150000"/>
              </a:lnSpc>
              <a:buNone/>
            </a:pPr>
            <a:r>
              <a:rPr lang="en-US" sz="2400" b="0" i="0">
                <a:solidFill>
                  <a:srgbClr val="292929"/>
                </a:solidFill>
                <a:effectLst/>
                <a:latin typeface="Times New Roman" panose="02020603050405020304" pitchFamily="18" charset="0"/>
                <a:cs typeface="Times New Roman" panose="02020603050405020304" pitchFamily="18" charset="0"/>
              </a:rPr>
              <a:t>2. To provide immediate response from the hospital side for emergency vehicle. </a:t>
            </a:r>
          </a:p>
          <a:p>
            <a:pPr marL="0" indent="0" algn="l">
              <a:lnSpc>
                <a:spcPct val="150000"/>
              </a:lnSpc>
              <a:buNone/>
            </a:pPr>
            <a:r>
              <a:rPr lang="en-US" sz="2400" b="0" i="0">
                <a:solidFill>
                  <a:srgbClr val="292929"/>
                </a:solidFill>
                <a:effectLst/>
                <a:latin typeface="Times New Roman" panose="02020603050405020304" pitchFamily="18" charset="0"/>
                <a:cs typeface="Times New Roman" panose="02020603050405020304" pitchFamily="18" charset="0"/>
              </a:rPr>
              <a:t>3.To connect all hospital to one </a:t>
            </a:r>
            <a:r>
              <a:rPr lang="en-US" sz="2400">
                <a:solidFill>
                  <a:srgbClr val="292929"/>
                </a:solidFill>
                <a:latin typeface="Times New Roman" panose="02020603050405020304" pitchFamily="18" charset="0"/>
                <a:cs typeface="Times New Roman" panose="02020603050405020304" pitchFamily="18" charset="0"/>
              </a:rPr>
              <a:t>p</a:t>
            </a:r>
            <a:r>
              <a:rPr lang="en-US" sz="2400" b="0" i="0">
                <a:solidFill>
                  <a:srgbClr val="292929"/>
                </a:solidFill>
                <a:effectLst/>
                <a:latin typeface="Times New Roman" panose="02020603050405020304" pitchFamily="18" charset="0"/>
                <a:cs typeface="Times New Roman" panose="02020603050405020304" pitchFamily="18" charset="0"/>
              </a:rPr>
              <a:t>latform using IOT.</a:t>
            </a:r>
          </a:p>
          <a:p>
            <a:pPr marL="0" indent="0" algn="l">
              <a:lnSpc>
                <a:spcPct val="150000"/>
              </a:lnSpc>
              <a:buNone/>
            </a:pPr>
            <a:r>
              <a:rPr lang="en-US" sz="2400" b="0" i="0">
                <a:solidFill>
                  <a:srgbClr val="292929"/>
                </a:solidFill>
                <a:effectLst/>
                <a:latin typeface="Times New Roman" panose="02020603050405020304" pitchFamily="18" charset="0"/>
                <a:cs typeface="Times New Roman" panose="02020603050405020304" pitchFamily="18" charset="0"/>
              </a:rPr>
              <a:t>4.The ambulance get the near by hospital indication availability of emergency or in service for patient.</a:t>
            </a:r>
          </a:p>
          <a:p>
            <a:pPr marL="0" indent="0" algn="l">
              <a:lnSpc>
                <a:spcPct val="150000"/>
              </a:lnSpc>
              <a:buNone/>
            </a:pPr>
            <a:r>
              <a:rPr lang="en-US" sz="2400" b="0" i="0">
                <a:solidFill>
                  <a:srgbClr val="292929"/>
                </a:solidFill>
                <a:effectLst/>
                <a:latin typeface="Times New Roman" panose="02020603050405020304" pitchFamily="18" charset="0"/>
                <a:cs typeface="Times New Roman" panose="02020603050405020304" pitchFamily="18" charset="0"/>
              </a:rPr>
              <a:t>5. To provide the traffic clearance for emergency vehicles ambulance. </a:t>
            </a:r>
          </a:p>
        </p:txBody>
      </p:sp>
      <p:sp>
        <p:nvSpPr>
          <p:cNvPr id="4" name="Date Placeholder 3">
            <a:extLst>
              <a:ext uri="{FF2B5EF4-FFF2-40B4-BE49-F238E27FC236}">
                <a16:creationId xmlns:a16="http://schemas.microsoft.com/office/drawing/2014/main" id="{F121248C-89F7-9790-8CE0-77C71CB76BBA}"/>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238CD845-FCB3-6829-F25C-FDD0D4ADFCEE}"/>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EB2B2D6F-F520-F06D-680D-D6EBD32F5A0B}"/>
              </a:ext>
            </a:extLst>
          </p:cNvPr>
          <p:cNvSpPr>
            <a:spLocks noGrp="1"/>
          </p:cNvSpPr>
          <p:nvPr>
            <p:ph type="sldNum" sz="quarter" idx="12"/>
          </p:nvPr>
        </p:nvSpPr>
        <p:spPr/>
        <p:txBody>
          <a:bodyPr/>
          <a:lstStyle/>
          <a:p>
            <a:fld id="{5B4F5413-E548-45A8-B9DD-11B71454D5CA}" type="slidenum">
              <a:rPr lang="en-US" smtClean="0"/>
              <a:pPr/>
              <a:t>5</a:t>
            </a:fld>
            <a:endParaRPr lang="en-US" dirty="0"/>
          </a:p>
        </p:txBody>
      </p:sp>
    </p:spTree>
    <p:extLst>
      <p:ext uri="{BB962C8B-B14F-4D97-AF65-F5344CB8AC3E}">
        <p14:creationId xmlns:p14="http://schemas.microsoft.com/office/powerpoint/2010/main" val="2732959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1124744"/>
            <a:ext cx="11521280" cy="5184576"/>
          </a:xfrm>
        </p:spPr>
        <p:txBody>
          <a:bodyPr>
            <a:normAutofit/>
          </a:bodyPr>
          <a:lstStyle/>
          <a:p>
            <a:pPr marL="0" indent="0" algn="l">
              <a:lnSpc>
                <a:spcPct val="150000"/>
              </a:lnSpc>
              <a:buNone/>
            </a:pPr>
            <a:r>
              <a:rPr lang="en-US" sz="2400" b="1" i="0">
                <a:effectLst/>
                <a:latin typeface="Times New Roman" panose="02020603050405020304" pitchFamily="18" charset="0"/>
                <a:cs typeface="Times New Roman" panose="02020603050405020304" pitchFamily="18" charset="0"/>
              </a:rPr>
              <a:t>“</a:t>
            </a:r>
            <a:r>
              <a:rPr lang="en-US" sz="2400" b="0" i="0">
                <a:solidFill>
                  <a:srgbClr val="333333"/>
                </a:solidFill>
                <a:effectLst/>
                <a:latin typeface="Times New Roman" panose="02020603050405020304" pitchFamily="18" charset="0"/>
                <a:cs typeface="Times New Roman" panose="02020603050405020304" pitchFamily="18" charset="0"/>
              </a:rPr>
              <a:t>In our day to day life we witness an increase in population thereby a sudden increase of vehicles on roads causing major traffic jams and delays. There always exists an emergency situation where we require the movement of ambulances and fire engines to reach its destination on time. Due to bad traffic situations this event fails to happen.</a:t>
            </a:r>
            <a:r>
              <a:rPr lang="en-US" sz="2400" b="1" i="0">
                <a:effectLst/>
                <a:latin typeface="Times New Roman" panose="02020603050405020304" pitchFamily="18" charset="0"/>
                <a:cs typeface="Times New Roman" panose="02020603050405020304" pitchFamily="18" charset="0"/>
              </a:rPr>
              <a:t>”</a:t>
            </a:r>
          </a:p>
          <a:p>
            <a:pPr marL="0" indent="0" algn="l">
              <a:buNone/>
            </a:pPr>
            <a:r>
              <a:rPr lang="en-US" sz="2400" b="1" i="0">
                <a:effectLst/>
                <a:latin typeface="Times New Roman" panose="02020603050405020304" pitchFamily="18" charset="0"/>
                <a:cs typeface="Times New Roman" panose="02020603050405020304" pitchFamily="18" charset="0"/>
              </a:rPr>
              <a:t>Problems with the exisiting sytem?</a:t>
            </a:r>
            <a:endParaRPr lang="en-US" sz="2400" b="0" i="0">
              <a:effectLst/>
              <a:latin typeface="Times New Roman" panose="02020603050405020304" pitchFamily="18" charset="0"/>
              <a:cs typeface="Times New Roman" panose="02020603050405020304" pitchFamily="18" charset="0"/>
            </a:endParaRPr>
          </a:p>
          <a:p>
            <a:pPr marL="1905" indent="0" algn="just" fontAlgn="base">
              <a:lnSpc>
                <a:spcPct val="150000"/>
              </a:lnSpc>
              <a:spcAft>
                <a:spcPts val="1800"/>
              </a:spcAft>
              <a:buNone/>
            </a:pPr>
            <a:r>
              <a:rPr lang="en-IN" sz="2400">
                <a:solidFill>
                  <a:srgbClr val="000000"/>
                </a:solidFill>
                <a:effectLst/>
                <a:latin typeface="Times New Roman" panose="02020603050405020304" pitchFamily="18" charset="0"/>
                <a:ea typeface="Calibri" panose="020F0502020204030204" pitchFamily="34" charset="0"/>
              </a:rPr>
              <a:t>Research on traffic management, V2V communication, Ambulance based traffic control have been carried out since 1990s. Various communication protocols like GSM, RFID, IR, ZigBee etc. have been considered to implement emergency vehicle based traffic control. However, the above methods cannot be used in today’s world for various reasons.</a:t>
            </a:r>
          </a:p>
        </p:txBody>
      </p:sp>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p:txBody>
          <a:bodyPr/>
          <a:lstStyle/>
          <a:p>
            <a:r>
              <a:rPr lang="en-US" dirty="0"/>
              <a:t>VII Semester, Department of ISE, RNSIT</a:t>
            </a:r>
          </a:p>
        </p:txBody>
      </p:sp>
      <p:sp>
        <p:nvSpPr>
          <p:cNvPr id="7"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p:txBody>
          <a:bodyPr/>
          <a:lstStyle/>
          <a:p>
            <a:r>
              <a:rPr lang="en-US" dirty="0"/>
              <a:t>2022 - 2023</a:t>
            </a:r>
          </a:p>
        </p:txBody>
      </p:sp>
      <p:sp>
        <p:nvSpPr>
          <p:cNvPr id="2" name="Slide Number Placeholder 1">
            <a:extLst>
              <a:ext uri="{FF2B5EF4-FFF2-40B4-BE49-F238E27FC236}">
                <a16:creationId xmlns:a16="http://schemas.microsoft.com/office/drawing/2014/main" id="{A10D85D3-EAD9-4C96-869F-7DA3C3441C3B}"/>
              </a:ext>
            </a:extLst>
          </p:cNvPr>
          <p:cNvSpPr>
            <a:spLocks noGrp="1"/>
          </p:cNvSpPr>
          <p:nvPr>
            <p:ph type="sldNum" sz="quarter" idx="12"/>
          </p:nvPr>
        </p:nvSpPr>
        <p:spPr/>
        <p:txBody>
          <a:bodyPr/>
          <a:lstStyle/>
          <a:p>
            <a:fld id="{5B4F5413-E548-45A8-B9DD-11B71454D5CA}" type="slidenum">
              <a:rPr lang="en-US" smtClean="0"/>
              <a:pPr/>
              <a:t>6</a:t>
            </a:fld>
            <a:endParaRPr lang="en-US" dirty="0"/>
          </a:p>
        </p:txBody>
      </p:sp>
      <p:sp>
        <p:nvSpPr>
          <p:cNvPr id="9" name="Title 1">
            <a:extLst>
              <a:ext uri="{FF2B5EF4-FFF2-40B4-BE49-F238E27FC236}">
                <a16:creationId xmlns:a16="http://schemas.microsoft.com/office/drawing/2014/main" id="{2F08AF41-1FE2-4281-BC67-D1FD246F0915}"/>
              </a:ext>
            </a:extLst>
          </p:cNvPr>
          <p:cNvSpPr>
            <a:spLocks noGrp="1"/>
          </p:cNvSpPr>
          <p:nvPr>
            <p:ph type="title"/>
          </p:nvPr>
        </p:nvSpPr>
        <p:spPr>
          <a:xfrm>
            <a:off x="838200" y="365126"/>
            <a:ext cx="10515600" cy="694162"/>
          </a:xfrm>
        </p:spPr>
        <p:txBody>
          <a:bodyPr>
            <a:normAutofit fontScale="90000"/>
          </a:bodyPr>
          <a:lstStyle/>
          <a:p>
            <a:pPr algn="ctr"/>
            <a:r>
              <a:rPr lang="en-US" dirty="0"/>
              <a:t>Problem Statement</a:t>
            </a:r>
            <a:endParaRPr lang="en-IN" dirty="0"/>
          </a:p>
        </p:txBody>
      </p:sp>
    </p:spTree>
    <p:extLst>
      <p:ext uri="{BB962C8B-B14F-4D97-AF65-F5344CB8AC3E}">
        <p14:creationId xmlns:p14="http://schemas.microsoft.com/office/powerpoint/2010/main" val="2803053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3">
            <a:extLst>
              <a:ext uri="{FF2B5EF4-FFF2-40B4-BE49-F238E27FC236}">
                <a16:creationId xmlns:a16="http://schemas.microsoft.com/office/drawing/2014/main" id="{1DC9B973-113B-4125-B4C9-48F0753D1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a:fld id="{DA94BC52-74DA-418C-BC07-9D97ED980F53}" type="slidenum">
              <a:rPr lang="en-IN" altLang="en-US">
                <a:solidFill>
                  <a:srgbClr val="045C75"/>
                </a:solidFill>
              </a:rPr>
              <a:pPr defTabSz="914400"/>
              <a:t>7</a:t>
            </a:fld>
            <a:endParaRPr lang="en-IN" altLang="en-US" dirty="0">
              <a:solidFill>
                <a:srgbClr val="045C75"/>
              </a:solidFill>
            </a:endParaRPr>
          </a:p>
        </p:txBody>
      </p:sp>
      <p:pic>
        <p:nvPicPr>
          <p:cNvPr id="14367" name="Picture 2" descr="C:\Users\Divya\Pictures\extras\rns.png">
            <a:extLst>
              <a:ext uri="{FF2B5EF4-FFF2-40B4-BE49-F238E27FC236}">
                <a16:creationId xmlns:a16="http://schemas.microsoft.com/office/drawing/2014/main" id="{5300C36B-AFFB-4467-A987-6FCA8C866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5138" y="141289"/>
            <a:ext cx="990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8" name="Title 1">
            <a:extLst>
              <a:ext uri="{FF2B5EF4-FFF2-40B4-BE49-F238E27FC236}">
                <a16:creationId xmlns:a16="http://schemas.microsoft.com/office/drawing/2014/main" id="{2844700C-93C8-4433-8AAC-AA66EA7EF833}"/>
              </a:ext>
            </a:extLst>
          </p:cNvPr>
          <p:cNvSpPr txBox="1">
            <a:spLocks/>
          </p:cNvSpPr>
          <p:nvPr/>
        </p:nvSpPr>
        <p:spPr bwMode="auto">
          <a:xfrm>
            <a:off x="1703389" y="620714"/>
            <a:ext cx="86375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a:r>
              <a:rPr lang="en-US" altLang="en-US" sz="3200" b="1" dirty="0">
                <a:solidFill>
                  <a:srgbClr val="44546A"/>
                </a:solidFill>
                <a:latin typeface="+mn-lt"/>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923E919C-16CF-4360-8B39-5DACF0141948}"/>
              </a:ext>
            </a:extLst>
          </p:cNvPr>
          <p:cNvGraphicFramePr>
            <a:graphicFrameLocks noGrp="1"/>
          </p:cNvGraphicFramePr>
          <p:nvPr>
            <p:extLst>
              <p:ext uri="{D42A27DB-BD31-4B8C-83A1-F6EECF244321}">
                <p14:modId xmlns:p14="http://schemas.microsoft.com/office/powerpoint/2010/main" val="4116653110"/>
              </p:ext>
            </p:extLst>
          </p:nvPr>
        </p:nvGraphicFramePr>
        <p:xfrm>
          <a:off x="863643" y="1177547"/>
          <a:ext cx="10515599" cy="5218609"/>
        </p:xfrm>
        <a:graphic>
          <a:graphicData uri="http://schemas.openxmlformats.org/drawingml/2006/table">
            <a:tbl>
              <a:tblPr firstRow="1" firstCol="1" bandRow="1">
                <a:tableStyleId>{5C22544A-7EE6-4342-B048-85BDC9FD1C3A}</a:tableStyleId>
              </a:tblPr>
              <a:tblGrid>
                <a:gridCol w="577840">
                  <a:extLst>
                    <a:ext uri="{9D8B030D-6E8A-4147-A177-3AD203B41FA5}">
                      <a16:colId xmlns:a16="http://schemas.microsoft.com/office/drawing/2014/main" val="3455939076"/>
                    </a:ext>
                  </a:extLst>
                </a:gridCol>
                <a:gridCol w="1799640">
                  <a:extLst>
                    <a:ext uri="{9D8B030D-6E8A-4147-A177-3AD203B41FA5}">
                      <a16:colId xmlns:a16="http://schemas.microsoft.com/office/drawing/2014/main" val="3664863432"/>
                    </a:ext>
                  </a:extLst>
                </a:gridCol>
                <a:gridCol w="1989668">
                  <a:extLst>
                    <a:ext uri="{9D8B030D-6E8A-4147-A177-3AD203B41FA5}">
                      <a16:colId xmlns:a16="http://schemas.microsoft.com/office/drawing/2014/main" val="84136682"/>
                    </a:ext>
                  </a:extLst>
                </a:gridCol>
                <a:gridCol w="1052430">
                  <a:extLst>
                    <a:ext uri="{9D8B030D-6E8A-4147-A177-3AD203B41FA5}">
                      <a16:colId xmlns:a16="http://schemas.microsoft.com/office/drawing/2014/main" val="2910473014"/>
                    </a:ext>
                  </a:extLst>
                </a:gridCol>
                <a:gridCol w="3154679">
                  <a:extLst>
                    <a:ext uri="{9D8B030D-6E8A-4147-A177-3AD203B41FA5}">
                      <a16:colId xmlns:a16="http://schemas.microsoft.com/office/drawing/2014/main" val="4204408496"/>
                    </a:ext>
                  </a:extLst>
                </a:gridCol>
                <a:gridCol w="1941342">
                  <a:extLst>
                    <a:ext uri="{9D8B030D-6E8A-4147-A177-3AD203B41FA5}">
                      <a16:colId xmlns:a16="http://schemas.microsoft.com/office/drawing/2014/main" val="3500314042"/>
                    </a:ext>
                  </a:extLst>
                </a:gridCol>
              </a:tblGrid>
              <a:tr h="262068">
                <a:tc>
                  <a:txBody>
                    <a:bodyPr/>
                    <a:lstStyle/>
                    <a:p>
                      <a:pPr indent="428625" algn="l">
                        <a:lnSpc>
                          <a:spcPct val="107000"/>
                        </a:lnSpc>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dirty="0">
                          <a:effectLst/>
                        </a:rPr>
                        <a:t>Heading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Author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Year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Summary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rPr>
                        <a:t>Future enhancements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extLst>
                  <a:ext uri="{0D108BD9-81ED-4DB2-BD59-A6C34878D82A}">
                    <a16:rowId xmlns:a16="http://schemas.microsoft.com/office/drawing/2014/main" val="3985748112"/>
                  </a:ext>
                </a:extLst>
              </a:tr>
              <a:tr h="734388">
                <a:tc>
                  <a:txBody>
                    <a:bodyPr/>
                    <a:lstStyle/>
                    <a:p>
                      <a:pPr algn="l">
                        <a:lnSpc>
                          <a:spcPct val="107000"/>
                        </a:lnSpc>
                        <a:spcAft>
                          <a:spcPts val="800"/>
                        </a:spcAft>
                      </a:pPr>
                      <a:r>
                        <a:rPr lang="en-IN" sz="1200">
                          <a:effectLst/>
                        </a:rPr>
                        <a:t>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US" sz="1200" b="0">
                          <a:latin typeface="+mj-lt"/>
                          <a:cs typeface="Times New Roman" panose="02020603050405020304" pitchFamily="18" charset="0"/>
                        </a:rPr>
                        <a:t>GPS and ZigBee Based Traffic Signal Preemption </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latin typeface="+mj-lt"/>
                          <a:cs typeface="Times New Roman" panose="02020603050405020304" pitchFamily="18" charset="0"/>
                        </a:rPr>
                        <a:t>Vineeth Kodire, Sreebha Bhaskaran, Vishwas H.N. </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effectLst/>
                          <a:latin typeface="+mj-lt"/>
                          <a:ea typeface="Calibri" panose="020F0502020204030204" pitchFamily="34" charset="0"/>
                          <a:cs typeface="Times New Roman" panose="02020603050405020304" pitchFamily="18" charset="0"/>
                        </a:rPr>
                        <a:t>2016</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i="0" kern="1200">
                          <a:solidFill>
                            <a:schemeClr val="dk1"/>
                          </a:solidFill>
                          <a:effectLst/>
                          <a:latin typeface="+mj-lt"/>
                          <a:ea typeface="+mn-ea"/>
                          <a:cs typeface="Times New Roman" panose="02020603050405020304" pitchFamily="18" charset="0"/>
                        </a:rPr>
                        <a:t>The proposed system uses GPS method to get the location data and employs ZigBee for communicating efficiently with the intersection module. </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i="0" kern="1200">
                          <a:solidFill>
                            <a:schemeClr val="dk1"/>
                          </a:solidFill>
                          <a:effectLst/>
                          <a:latin typeface="+mj-lt"/>
                          <a:ea typeface="+mn-ea"/>
                          <a:cs typeface="Times New Roman" panose="02020603050405020304" pitchFamily="18" charset="0"/>
                        </a:rPr>
                        <a:t>Since the technology used in Zigbee is of low bit rate, the transmission rate of this technology is also low.</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1688732735"/>
                  </a:ext>
                </a:extLst>
              </a:tr>
              <a:tr h="1276499">
                <a:tc>
                  <a:txBody>
                    <a:bodyPr/>
                    <a:lstStyle/>
                    <a:p>
                      <a:pPr algn="l">
                        <a:lnSpc>
                          <a:spcPct val="107000"/>
                        </a:lnSpc>
                        <a:spcAft>
                          <a:spcPts val="800"/>
                        </a:spcAft>
                      </a:pPr>
                      <a:r>
                        <a:rPr lang="en-IN" sz="1200" dirty="0">
                          <a:effectLst/>
                        </a:rPr>
                        <a:t>2</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US" sz="1200" b="0">
                          <a:latin typeface="+mj-lt"/>
                          <a:cs typeface="Times New Roman" panose="02020603050405020304" pitchFamily="18" charset="0"/>
                        </a:rPr>
                        <a:t>Implementing Intelligent Traffic Control System for Congestion Control, Ambulance Clearance and Stolen Vehicle Detection</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latin typeface="+mj-lt"/>
                          <a:cs typeface="Times New Roman" panose="02020603050405020304" pitchFamily="18" charset="0"/>
                        </a:rPr>
                        <a:t>Rajeshwari S., Santhoshs Hebbar, Varaprasad Golla</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effectLst/>
                          <a:latin typeface="+mj-lt"/>
                          <a:ea typeface="Calibri" panose="020F0502020204030204" pitchFamily="34" charset="0"/>
                          <a:cs typeface="Times New Roman" panose="02020603050405020304" pitchFamily="18" charset="0"/>
                        </a:rPr>
                        <a:t>2015</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i="0" kern="1200">
                          <a:solidFill>
                            <a:schemeClr val="dk1"/>
                          </a:solidFill>
                          <a:effectLst/>
                          <a:latin typeface="+mj-lt"/>
                          <a:ea typeface="+mn-ea"/>
                          <a:cs typeface="Times New Roman" panose="02020603050405020304" pitchFamily="18" charset="0"/>
                        </a:rPr>
                        <a:t>Each individual vehicle is equipped with special radio frequency identification (RFID) tag (placed at a strategic location).They used RFID reader, NSK EDK-125-TTL, and PIC16F877A system-on-chip to read the RFID tags attached to the vehicle. </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a:latin typeface="+mj-lt"/>
                          <a:cs typeface="Times New Roman" panose="02020603050405020304" pitchFamily="18" charset="0"/>
                        </a:rPr>
                        <a:t>low security offered where RFID messages are prone to unauthorized access.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465780901"/>
                  </a:ext>
                </a:extLst>
              </a:tr>
              <a:tr h="1490360">
                <a:tc>
                  <a:txBody>
                    <a:bodyPr/>
                    <a:lstStyle/>
                    <a:p>
                      <a:pPr algn="l">
                        <a:lnSpc>
                          <a:spcPct val="107000"/>
                        </a:lnSpc>
                        <a:spcAft>
                          <a:spcPts val="800"/>
                        </a:spcAft>
                      </a:pPr>
                      <a:r>
                        <a:rPr lang="en-IN" sz="1200">
                          <a:effectLst/>
                        </a:rPr>
                        <a:t>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US" sz="1200" b="0">
                          <a:latin typeface="+mj-lt"/>
                          <a:cs typeface="Times New Roman" panose="02020603050405020304" pitchFamily="18" charset="0"/>
                        </a:rPr>
                        <a:t>Advanced Automation Control in an Ambulance under Emergency Condition </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fi-FI" sz="1200" b="0" i="0" u="none" strike="noStrike" kern="1200">
                          <a:solidFill>
                            <a:schemeClr val="dk1"/>
                          </a:solidFill>
                          <a:effectLst/>
                          <a:latin typeface="+mj-lt"/>
                          <a:ea typeface="+mn-ea"/>
                          <a:cs typeface="Times New Roman" panose="02020603050405020304" pitchFamily="18" charset="0"/>
                          <a:hlinkClick r:id="rId3"/>
                        </a:rPr>
                        <a:t>Leila Sai Krishna</a:t>
                      </a:r>
                      <a:r>
                        <a:rPr lang="fi-FI" sz="1200" b="0" i="0" kern="1200">
                          <a:solidFill>
                            <a:schemeClr val="dk1"/>
                          </a:solidFill>
                          <a:effectLst/>
                          <a:latin typeface="+mj-lt"/>
                          <a:ea typeface="+mn-ea"/>
                          <a:cs typeface="Times New Roman" panose="02020603050405020304" pitchFamily="18" charset="0"/>
                        </a:rPr>
                        <a:t>; </a:t>
                      </a:r>
                      <a:r>
                        <a:rPr lang="fi-FI" sz="1200" b="0" i="0" u="none" strike="noStrike" kern="1200">
                          <a:solidFill>
                            <a:schemeClr val="dk1"/>
                          </a:solidFill>
                          <a:effectLst/>
                          <a:latin typeface="+mj-lt"/>
                          <a:ea typeface="+mn-ea"/>
                          <a:cs typeface="Times New Roman" panose="02020603050405020304" pitchFamily="18" charset="0"/>
                          <a:hlinkClick r:id="rId4"/>
                        </a:rPr>
                        <a:t>Samineni Vijay Chowdary</a:t>
                      </a:r>
                      <a:r>
                        <a:rPr lang="fi-FI" sz="1200" b="0" i="0" kern="1200">
                          <a:solidFill>
                            <a:schemeClr val="dk1"/>
                          </a:solidFill>
                          <a:effectLst/>
                          <a:latin typeface="+mj-lt"/>
                          <a:ea typeface="+mn-ea"/>
                          <a:cs typeface="Times New Roman" panose="02020603050405020304" pitchFamily="18" charset="0"/>
                        </a:rPr>
                        <a:t>; </a:t>
                      </a:r>
                      <a:r>
                        <a:rPr lang="fi-FI" sz="1200" b="0" i="0" u="none" strike="noStrike" kern="1200">
                          <a:solidFill>
                            <a:schemeClr val="dk1"/>
                          </a:solidFill>
                          <a:effectLst/>
                          <a:latin typeface="+mj-lt"/>
                          <a:ea typeface="+mn-ea"/>
                          <a:cs typeface="Times New Roman" panose="02020603050405020304" pitchFamily="18" charset="0"/>
                          <a:hlinkClick r:id="rId5"/>
                        </a:rPr>
                        <a:t>M. Pushpavalli</a:t>
                      </a:r>
                      <a:r>
                        <a:rPr lang="fi-FI" sz="1200" b="0" i="0" kern="1200">
                          <a:solidFill>
                            <a:schemeClr val="dk1"/>
                          </a:solidFill>
                          <a:effectLst/>
                          <a:latin typeface="+mj-lt"/>
                          <a:ea typeface="+mn-ea"/>
                          <a:cs typeface="Times New Roman" panose="02020603050405020304" pitchFamily="18" charset="0"/>
                        </a:rPr>
                        <a:t>; </a:t>
                      </a:r>
                      <a:r>
                        <a:rPr lang="fi-FI" sz="1200" b="0" i="0" u="none" strike="noStrike" kern="1200">
                          <a:solidFill>
                            <a:schemeClr val="dk1"/>
                          </a:solidFill>
                          <a:effectLst/>
                          <a:latin typeface="+mj-lt"/>
                          <a:ea typeface="+mn-ea"/>
                          <a:cs typeface="Times New Roman" panose="02020603050405020304" pitchFamily="18" charset="0"/>
                          <a:hlinkClick r:id="rId6"/>
                        </a:rPr>
                        <a:t>P. Sivagami</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a:effectLst/>
                          <a:latin typeface="+mj-lt"/>
                          <a:ea typeface="Calibri" panose="020F0502020204030204" pitchFamily="34" charset="0"/>
                          <a:cs typeface="Times New Roman" panose="02020603050405020304" pitchFamily="18" charset="0"/>
                        </a:rPr>
                        <a:t>2017</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a:latin typeface="+mj-lt"/>
                          <a:cs typeface="Times New Roman" panose="02020603050405020304" pitchFamily="18" charset="0"/>
                        </a:rPr>
                        <a:t>The ambulance is implemented with embedded system units, which finds the accident spot and delivers the spot to the close by ambulance through GSM.The ambulance guides the traffic lights in the roadway to the hospital and it also checks the next consecutive signal to shorten the time loss.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latin typeface="+mj-lt"/>
                          <a:cs typeface="Times New Roman" panose="02020603050405020304" pitchFamily="18" charset="0"/>
                        </a:rPr>
                        <a:t>Gsm is congested and requires high bandwidth</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2620505964"/>
                  </a:ext>
                </a:extLst>
              </a:tr>
              <a:tr h="1415490">
                <a:tc>
                  <a:txBody>
                    <a:bodyPr/>
                    <a:lstStyle/>
                    <a:p>
                      <a:pPr algn="l">
                        <a:lnSpc>
                          <a:spcPct val="107000"/>
                        </a:lnSpc>
                        <a:spcAft>
                          <a:spcPts val="800"/>
                        </a:spcAft>
                      </a:pPr>
                      <a:r>
                        <a:rPr lang="en-IN" sz="1200">
                          <a:effectLst/>
                        </a:rPr>
                        <a:t>4</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marL="0" marR="0" lvl="0" indent="0" algn="l" defTabSz="685800" rtl="0" eaLnBrk="1" fontAlgn="auto" latinLnBrk="0" hangingPunct="1">
                        <a:lnSpc>
                          <a:spcPct val="107000"/>
                        </a:lnSpc>
                        <a:spcBef>
                          <a:spcPts val="0"/>
                        </a:spcBef>
                        <a:spcAft>
                          <a:spcPts val="800"/>
                        </a:spcAft>
                        <a:buClrTx/>
                        <a:buSzTx/>
                        <a:buFontTx/>
                        <a:buNone/>
                        <a:tabLst/>
                        <a:defRPr/>
                      </a:pPr>
                      <a:r>
                        <a:rPr lang="en-US" sz="1200" b="0" i="0" kern="1200">
                          <a:solidFill>
                            <a:schemeClr val="dk1"/>
                          </a:solidFill>
                          <a:effectLst/>
                          <a:latin typeface="+mj-lt"/>
                          <a:ea typeface="+mn-ea"/>
                          <a:cs typeface="Times New Roman" panose="02020603050405020304" pitchFamily="18" charset="0"/>
                        </a:rPr>
                        <a:t>Emergent vehicle tracking system using IR sensor</a:t>
                      </a:r>
                    </a:p>
                    <a:p>
                      <a:pPr algn="l">
                        <a:lnSpc>
                          <a:spcPct val="107000"/>
                        </a:lnSpc>
                        <a:spcAft>
                          <a:spcPts val="800"/>
                        </a:spcAft>
                      </a:pP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i="0" u="none" strike="noStrike" kern="1200">
                          <a:solidFill>
                            <a:schemeClr val="dk1"/>
                          </a:solidFill>
                          <a:effectLst/>
                          <a:latin typeface="+mj-lt"/>
                          <a:ea typeface="+mn-ea"/>
                          <a:cs typeface="Times New Roman" panose="02020603050405020304" pitchFamily="18" charset="0"/>
                          <a:hlinkClick r:id="rId7"/>
                        </a:rPr>
                        <a:t>Manjunath Managuli</a:t>
                      </a:r>
                      <a:r>
                        <a:rPr lang="en-IN" sz="1200" b="0" i="0" kern="1200">
                          <a:solidFill>
                            <a:schemeClr val="dk1"/>
                          </a:solidFill>
                          <a:effectLst/>
                          <a:latin typeface="+mj-lt"/>
                          <a:ea typeface="+mn-ea"/>
                          <a:cs typeface="Times New Roman" panose="02020603050405020304" pitchFamily="18" charset="0"/>
                        </a:rPr>
                        <a:t>; </a:t>
                      </a:r>
                      <a:r>
                        <a:rPr lang="en-IN" sz="1200" b="0" i="0" u="none" strike="noStrike" kern="1200">
                          <a:solidFill>
                            <a:schemeClr val="dk1"/>
                          </a:solidFill>
                          <a:effectLst/>
                          <a:latin typeface="+mj-lt"/>
                          <a:ea typeface="+mn-ea"/>
                          <a:cs typeface="Times New Roman" panose="02020603050405020304" pitchFamily="18" charset="0"/>
                          <a:hlinkClick r:id="rId8"/>
                        </a:rPr>
                        <a:t>Abhaya Deshpande</a:t>
                      </a:r>
                      <a:r>
                        <a:rPr lang="en-IN" sz="1200" b="0" i="0" kern="1200">
                          <a:solidFill>
                            <a:schemeClr val="dk1"/>
                          </a:solidFill>
                          <a:effectLst/>
                          <a:latin typeface="+mj-lt"/>
                          <a:ea typeface="+mn-ea"/>
                          <a:cs typeface="Times New Roman" panose="02020603050405020304" pitchFamily="18" charset="0"/>
                        </a:rPr>
                        <a:t>; </a:t>
                      </a:r>
                      <a:r>
                        <a:rPr lang="en-IN" sz="1200" b="0" i="0" u="sng" kern="1200">
                          <a:solidFill>
                            <a:schemeClr val="dk1"/>
                          </a:solidFill>
                          <a:effectLst/>
                          <a:latin typeface="+mj-lt"/>
                          <a:ea typeface="+mn-ea"/>
                          <a:cs typeface="Times New Roman" panose="02020603050405020304" pitchFamily="18" charset="0"/>
                          <a:hlinkClick r:id="rId9"/>
                        </a:rPr>
                        <a:t>Sudha H Ayatti</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effectLst/>
                          <a:latin typeface="+mj-lt"/>
                          <a:ea typeface="Calibri" panose="020F0502020204030204" pitchFamily="34" charset="0"/>
                          <a:cs typeface="Times New Roman" panose="02020603050405020304" pitchFamily="18" charset="0"/>
                        </a:rPr>
                        <a:t>2017</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IN" sz="1200" b="0">
                          <a:effectLst/>
                          <a:latin typeface="+mj-lt"/>
                          <a:cs typeface="Times New Roman" panose="02020603050405020304" pitchFamily="18" charset="0"/>
                        </a:rPr>
                        <a:t> </a:t>
                      </a:r>
                      <a:r>
                        <a:rPr lang="en-US" sz="1200" b="0" i="0" kern="1200">
                          <a:solidFill>
                            <a:schemeClr val="dk1"/>
                          </a:solidFill>
                          <a:effectLst/>
                          <a:latin typeface="+mj-lt"/>
                          <a:ea typeface="+mn-ea"/>
                          <a:cs typeface="Times New Roman" panose="02020603050405020304" pitchFamily="18" charset="0"/>
                        </a:rPr>
                        <a:t>During object motion IR sensors detect the ambulance, pass the message to main controller which reflects the LED bulb to glow leading to closing of all the signals track, and immediately the emergent vehicle pass the signal track.</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7000"/>
                        </a:lnSpc>
                        <a:spcAft>
                          <a:spcPts val="800"/>
                        </a:spcAft>
                      </a:pPr>
                      <a:r>
                        <a:rPr lang="en-US" sz="1200" b="0">
                          <a:latin typeface="+mj-lt"/>
                          <a:cs typeface="Times New Roman" panose="02020603050405020304" pitchFamily="18" charset="0"/>
                        </a:rPr>
                        <a:t>sunlight can cause interference with IR signals.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3843904478"/>
                  </a:ext>
                </a:extLst>
              </a:tr>
            </a:tbl>
          </a:graphicData>
        </a:graphic>
      </p:graphicFrame>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a:xfrm>
            <a:off x="838200" y="6356350"/>
            <a:ext cx="3200400" cy="365125"/>
          </a:xfrm>
        </p:spPr>
        <p:txBody>
          <a:bodyPr/>
          <a:lstStyle/>
          <a:p>
            <a:r>
              <a:rPr lang="en-US" dirty="0"/>
              <a:t>VII Semester, Department of ISE, RNSIT</a:t>
            </a:r>
          </a:p>
        </p:txBody>
      </p:sp>
      <p:sp>
        <p:nvSpPr>
          <p:cNvPr id="9"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a:xfrm>
            <a:off x="4038600" y="6356350"/>
            <a:ext cx="4114800" cy="365125"/>
          </a:xfrm>
        </p:spPr>
        <p:txBody>
          <a:bodyPr/>
          <a:lstStyle/>
          <a:p>
            <a:r>
              <a:rPr lang="en-US" dirty="0"/>
              <a:t>2022 - 2023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3">
            <a:extLst>
              <a:ext uri="{FF2B5EF4-FFF2-40B4-BE49-F238E27FC236}">
                <a16:creationId xmlns:a16="http://schemas.microsoft.com/office/drawing/2014/main" id="{1DC9B973-113B-4125-B4C9-48F0753D1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a:fld id="{DA94BC52-74DA-418C-BC07-9D97ED980F53}" type="slidenum">
              <a:rPr lang="en-IN" altLang="en-US">
                <a:solidFill>
                  <a:srgbClr val="045C75"/>
                </a:solidFill>
              </a:rPr>
              <a:pPr defTabSz="914400"/>
              <a:t>8</a:t>
            </a:fld>
            <a:endParaRPr lang="en-IN" altLang="en-US" dirty="0">
              <a:solidFill>
                <a:srgbClr val="045C75"/>
              </a:solidFill>
            </a:endParaRPr>
          </a:p>
        </p:txBody>
      </p:sp>
      <p:pic>
        <p:nvPicPr>
          <p:cNvPr id="14367" name="Picture 2" descr="C:\Users\Divya\Pictures\extras\rns.png">
            <a:extLst>
              <a:ext uri="{FF2B5EF4-FFF2-40B4-BE49-F238E27FC236}">
                <a16:creationId xmlns:a16="http://schemas.microsoft.com/office/drawing/2014/main" id="{5300C36B-AFFB-4467-A987-6FCA8C866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5138" y="141289"/>
            <a:ext cx="990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8" name="Title 1">
            <a:extLst>
              <a:ext uri="{FF2B5EF4-FFF2-40B4-BE49-F238E27FC236}">
                <a16:creationId xmlns:a16="http://schemas.microsoft.com/office/drawing/2014/main" id="{2844700C-93C8-4433-8AAC-AA66EA7EF833}"/>
              </a:ext>
            </a:extLst>
          </p:cNvPr>
          <p:cNvSpPr txBox="1">
            <a:spLocks/>
          </p:cNvSpPr>
          <p:nvPr/>
        </p:nvSpPr>
        <p:spPr bwMode="auto">
          <a:xfrm>
            <a:off x="1703389" y="620714"/>
            <a:ext cx="86375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a:r>
              <a:rPr lang="en-US" altLang="en-US" sz="3200" b="1" dirty="0">
                <a:solidFill>
                  <a:srgbClr val="44546A"/>
                </a:solidFill>
                <a:latin typeface="+mn-lt"/>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923E919C-16CF-4360-8B39-5DACF0141948}"/>
              </a:ext>
            </a:extLst>
          </p:cNvPr>
          <p:cNvGraphicFramePr>
            <a:graphicFrameLocks noGrp="1"/>
          </p:cNvGraphicFramePr>
          <p:nvPr>
            <p:extLst>
              <p:ext uri="{D42A27DB-BD31-4B8C-83A1-F6EECF244321}">
                <p14:modId xmlns:p14="http://schemas.microsoft.com/office/powerpoint/2010/main" val="3114284451"/>
              </p:ext>
            </p:extLst>
          </p:nvPr>
        </p:nvGraphicFramePr>
        <p:xfrm>
          <a:off x="838200" y="1341147"/>
          <a:ext cx="10515599" cy="4880640"/>
        </p:xfrm>
        <a:graphic>
          <a:graphicData uri="http://schemas.openxmlformats.org/drawingml/2006/table">
            <a:tbl>
              <a:tblPr firstRow="1" firstCol="1" bandRow="1">
                <a:tableStyleId>{5C22544A-7EE6-4342-B048-85BDC9FD1C3A}</a:tableStyleId>
              </a:tblPr>
              <a:tblGrid>
                <a:gridCol w="577840">
                  <a:extLst>
                    <a:ext uri="{9D8B030D-6E8A-4147-A177-3AD203B41FA5}">
                      <a16:colId xmlns:a16="http://schemas.microsoft.com/office/drawing/2014/main" val="3455939076"/>
                    </a:ext>
                  </a:extLst>
                </a:gridCol>
                <a:gridCol w="1799640">
                  <a:extLst>
                    <a:ext uri="{9D8B030D-6E8A-4147-A177-3AD203B41FA5}">
                      <a16:colId xmlns:a16="http://schemas.microsoft.com/office/drawing/2014/main" val="3664863432"/>
                    </a:ext>
                  </a:extLst>
                </a:gridCol>
                <a:gridCol w="1989668">
                  <a:extLst>
                    <a:ext uri="{9D8B030D-6E8A-4147-A177-3AD203B41FA5}">
                      <a16:colId xmlns:a16="http://schemas.microsoft.com/office/drawing/2014/main" val="84136682"/>
                    </a:ext>
                  </a:extLst>
                </a:gridCol>
                <a:gridCol w="1052430">
                  <a:extLst>
                    <a:ext uri="{9D8B030D-6E8A-4147-A177-3AD203B41FA5}">
                      <a16:colId xmlns:a16="http://schemas.microsoft.com/office/drawing/2014/main" val="2910473014"/>
                    </a:ext>
                  </a:extLst>
                </a:gridCol>
                <a:gridCol w="3154679">
                  <a:extLst>
                    <a:ext uri="{9D8B030D-6E8A-4147-A177-3AD203B41FA5}">
                      <a16:colId xmlns:a16="http://schemas.microsoft.com/office/drawing/2014/main" val="4204408496"/>
                    </a:ext>
                  </a:extLst>
                </a:gridCol>
                <a:gridCol w="1941342">
                  <a:extLst>
                    <a:ext uri="{9D8B030D-6E8A-4147-A177-3AD203B41FA5}">
                      <a16:colId xmlns:a16="http://schemas.microsoft.com/office/drawing/2014/main" val="3500314042"/>
                    </a:ext>
                  </a:extLst>
                </a:gridCol>
              </a:tblGrid>
              <a:tr h="426048">
                <a:tc>
                  <a:txBody>
                    <a:bodyPr/>
                    <a:lstStyle/>
                    <a:p>
                      <a:pPr indent="428625" algn="l">
                        <a:lnSpc>
                          <a:spcPct val="107000"/>
                        </a:lnSpc>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dirty="0">
                          <a:effectLst/>
                        </a:rPr>
                        <a:t>Heading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Author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Year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Summary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rPr>
                        <a:t>Future enhancements</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extLst>
                  <a:ext uri="{0D108BD9-81ED-4DB2-BD59-A6C34878D82A}">
                    <a16:rowId xmlns:a16="http://schemas.microsoft.com/office/drawing/2014/main" val="3985748112"/>
                  </a:ext>
                </a:extLst>
              </a:tr>
              <a:tr h="1171056">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5</a:t>
                      </a:r>
                    </a:p>
                  </a:txBody>
                  <a:tcPr marL="35135" marR="35135" marT="0" marB="0"/>
                </a:tc>
                <a:tc>
                  <a:txBody>
                    <a:bodyPr/>
                    <a:lstStyle/>
                    <a:p>
                      <a:pPr algn="l">
                        <a:lnSpc>
                          <a:spcPct val="100000"/>
                        </a:lnSpc>
                      </a:pPr>
                      <a:r>
                        <a:rPr lang="en-US" sz="1200" b="0" i="0" kern="1200">
                          <a:solidFill>
                            <a:schemeClr val="dk1"/>
                          </a:solidFill>
                          <a:effectLst/>
                          <a:latin typeface="+mj-lt"/>
                          <a:ea typeface="+mn-ea"/>
                          <a:cs typeface="+mn-cs"/>
                        </a:rPr>
                        <a:t>Modeling the impact of VANET-enabled traffic lights control on the response time of emergency vehicles in realistic large-scale urban area</a:t>
                      </a:r>
                    </a:p>
                  </a:txBody>
                  <a:tcPr marL="35135" marR="35135" marT="0" marB="0">
                    <a:solidFill>
                      <a:schemeClr val="bg1">
                        <a:lumMod val="85000"/>
                      </a:schemeClr>
                    </a:solidFill>
                  </a:tcPr>
                </a:tc>
                <a:tc>
                  <a:txBody>
                    <a:bodyPr/>
                    <a:lstStyle/>
                    <a:p>
                      <a:pPr algn="l">
                        <a:lnSpc>
                          <a:spcPct val="100000"/>
                        </a:lnSpc>
                        <a:spcAft>
                          <a:spcPts val="800"/>
                        </a:spcAft>
                      </a:pPr>
                      <a:r>
                        <a:rPr lang="en-IN" sz="1200" b="0" i="0" u="none" strike="noStrike" kern="1200">
                          <a:solidFill>
                            <a:schemeClr val="dk1"/>
                          </a:solidFill>
                          <a:effectLst/>
                          <a:latin typeface="+mj-lt"/>
                          <a:ea typeface="+mn-ea"/>
                          <a:cs typeface="+mn-cs"/>
                          <a:hlinkClick r:id="rId3"/>
                        </a:rPr>
                        <a:t>Hamed Noori</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200" b="0">
                          <a:effectLst/>
                          <a:latin typeface="+mj-lt"/>
                          <a:ea typeface="Calibri" panose="020F0502020204030204" pitchFamily="34" charset="0"/>
                          <a:cs typeface="Times New Roman" panose="02020603050405020304" pitchFamily="18" charset="0"/>
                        </a:rPr>
                        <a:t>2013</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This study has developed the Veins framework by adding a new module to OMNET++ to consider the traffic lights which are simulated in SUMO. Moreover this study has developed a new program written in Python which is connected to SUMO and controls the traffic simulation.</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Future work includes simulating traffic of the city with intelligent traffic lights with network simulators by using another wireless technologies such as WiMAX.</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1688732735"/>
                  </a:ext>
                </a:extLst>
              </a:tr>
              <a:tr h="850789">
                <a:tc>
                  <a:txBody>
                    <a:bodyPr/>
                    <a:lstStyle/>
                    <a:p>
                      <a:pPr algn="l">
                        <a:lnSpc>
                          <a:spcPct val="107000"/>
                        </a:lnSpc>
                        <a:spcAft>
                          <a:spcPts val="800"/>
                        </a:spcAft>
                      </a:pPr>
                      <a:r>
                        <a:rPr lang="en-IN" sz="1200" dirty="0">
                          <a:effectLst/>
                          <a:latin typeface="Calibri" panose="020F0502020204030204" pitchFamily="34" charset="0"/>
                          <a:ea typeface="Calibri" panose="020F0502020204030204" pitchFamily="34" charset="0"/>
                          <a:cs typeface="Times New Roman" panose="02020603050405020304" pitchFamily="18" charset="0"/>
                        </a:rPr>
                        <a:t>6</a:t>
                      </a:r>
                    </a:p>
                  </a:txBody>
                  <a:tcPr marL="35135" marR="35135" marT="0" marB="0"/>
                </a:tc>
                <a:tc>
                  <a:txBody>
                    <a:bodyPr/>
                    <a:lstStyle/>
                    <a:p>
                      <a:pPr algn="l">
                        <a:lnSpc>
                          <a:spcPct val="100000"/>
                        </a:lnSpc>
                      </a:pPr>
                      <a:r>
                        <a:rPr lang="en-US" sz="1200" b="0" i="0" kern="1200">
                          <a:solidFill>
                            <a:schemeClr val="dk1"/>
                          </a:solidFill>
                          <a:effectLst/>
                          <a:latin typeface="+mj-lt"/>
                          <a:ea typeface="+mn-ea"/>
                          <a:cs typeface="+mn-cs"/>
                        </a:rPr>
                        <a:t>A GPS based traffic light pre-emption control system for emergency vehicles</a:t>
                      </a:r>
                    </a:p>
                  </a:txBody>
                  <a:tcPr marL="35135" marR="35135" marT="0" marB="0">
                    <a:solidFill>
                      <a:schemeClr val="bg1">
                        <a:lumMod val="85000"/>
                      </a:schemeClr>
                    </a:solidFill>
                  </a:tcPr>
                </a:tc>
                <a:tc>
                  <a:txBody>
                    <a:bodyPr/>
                    <a:lstStyle/>
                    <a:p>
                      <a:pPr algn="l">
                        <a:lnSpc>
                          <a:spcPct val="100000"/>
                        </a:lnSpc>
                        <a:spcAft>
                          <a:spcPts val="800"/>
                        </a:spcAft>
                      </a:pPr>
                      <a:r>
                        <a:rPr lang="en-IN" sz="1200" b="0" i="0" u="none" strike="noStrike" kern="1200">
                          <a:solidFill>
                            <a:schemeClr val="dk1"/>
                          </a:solidFill>
                          <a:effectLst/>
                          <a:latin typeface="+mj-lt"/>
                          <a:ea typeface="+mn-ea"/>
                          <a:cs typeface="+mn-cs"/>
                          <a:hlinkClick r:id="rId4"/>
                        </a:rPr>
                        <a:t>Abubakr S. Eltayeb</a:t>
                      </a:r>
                      <a:r>
                        <a:rPr lang="en-IN" sz="1200" b="0" i="0" kern="1200">
                          <a:solidFill>
                            <a:schemeClr val="dk1"/>
                          </a:solidFill>
                          <a:effectLst/>
                          <a:latin typeface="+mj-lt"/>
                          <a:ea typeface="+mn-ea"/>
                          <a:cs typeface="+mn-cs"/>
                        </a:rPr>
                        <a:t>; </a:t>
                      </a:r>
                      <a:r>
                        <a:rPr lang="en-IN" sz="1200" b="0" i="0" u="none" strike="noStrike" kern="1200">
                          <a:solidFill>
                            <a:schemeClr val="dk1"/>
                          </a:solidFill>
                          <a:effectLst/>
                          <a:latin typeface="+mj-lt"/>
                          <a:ea typeface="+mn-ea"/>
                          <a:cs typeface="+mn-cs"/>
                          <a:hlinkClick r:id="rId5"/>
                        </a:rPr>
                        <a:t>Halla O. Almubarak</a:t>
                      </a:r>
                      <a:r>
                        <a:rPr lang="en-IN" sz="1200" b="0" i="0" kern="1200">
                          <a:solidFill>
                            <a:schemeClr val="dk1"/>
                          </a:solidFill>
                          <a:effectLst/>
                          <a:latin typeface="+mj-lt"/>
                          <a:ea typeface="+mn-ea"/>
                          <a:cs typeface="+mn-cs"/>
                        </a:rPr>
                        <a:t>; </a:t>
                      </a:r>
                      <a:r>
                        <a:rPr lang="en-IN" sz="1200" b="0" i="0" u="sng" kern="1200">
                          <a:solidFill>
                            <a:schemeClr val="dk1"/>
                          </a:solidFill>
                          <a:effectLst/>
                          <a:latin typeface="+mj-lt"/>
                          <a:ea typeface="+mn-ea"/>
                          <a:cs typeface="+mn-cs"/>
                          <a:hlinkClick r:id="rId6"/>
                        </a:rPr>
                        <a:t>Tahani Abdalla Attia</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200" b="0">
                          <a:effectLst/>
                          <a:latin typeface="+mj-lt"/>
                          <a:ea typeface="Calibri" panose="020F0502020204030204" pitchFamily="34" charset="0"/>
                          <a:cs typeface="Times New Roman" panose="02020603050405020304" pitchFamily="18" charset="0"/>
                        </a:rPr>
                        <a:t>2013</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The design and implementation of an automatic preemption traffic control system, based on the global positioning system satellites.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200" b="0">
                          <a:effectLst/>
                          <a:latin typeface="+mj-lt"/>
                          <a:ea typeface="Calibri" panose="020F0502020204030204" pitchFamily="34" charset="0"/>
                          <a:cs typeface="Times New Roman" panose="02020603050405020304" pitchFamily="18" charset="0"/>
                        </a:rPr>
                        <a:t>Gps requires a lot of energy</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465780901"/>
                  </a:ext>
                </a:extLst>
              </a:tr>
              <a:tr h="969707">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7</a:t>
                      </a:r>
                    </a:p>
                  </a:txBody>
                  <a:tcPr marL="35135" marR="35135" marT="0" marB="0"/>
                </a:tc>
                <a:tc>
                  <a:txBody>
                    <a:bodyPr/>
                    <a:lstStyle/>
                    <a:p>
                      <a:pPr algn="l">
                        <a:lnSpc>
                          <a:spcPct val="100000"/>
                        </a:lnSpc>
                      </a:pPr>
                      <a:r>
                        <a:rPr lang="en-US" sz="1200" b="0" i="0" kern="1200">
                          <a:solidFill>
                            <a:schemeClr val="dk1"/>
                          </a:solidFill>
                          <a:effectLst/>
                          <a:latin typeface="+mj-lt"/>
                          <a:ea typeface="+mn-ea"/>
                          <a:cs typeface="+mn-cs"/>
                        </a:rPr>
                        <a:t>Intelligent Ambulance with Automatic Traffic Control</a:t>
                      </a:r>
                    </a:p>
                  </a:txBody>
                  <a:tcPr marL="35135" marR="35135" marT="0" marB="0">
                    <a:solidFill>
                      <a:schemeClr val="bg1">
                        <a:lumMod val="85000"/>
                      </a:schemeClr>
                    </a:solidFill>
                  </a:tcPr>
                </a:tc>
                <a:tc>
                  <a:txBody>
                    <a:bodyPr/>
                    <a:lstStyle/>
                    <a:p>
                      <a:pPr algn="l">
                        <a:lnSpc>
                          <a:spcPct val="100000"/>
                        </a:lnSpc>
                        <a:spcAft>
                          <a:spcPts val="800"/>
                        </a:spcAft>
                      </a:pPr>
                      <a:r>
                        <a:rPr lang="en-IN" sz="1200" b="0" i="0" u="none" strike="noStrike" kern="1200">
                          <a:solidFill>
                            <a:schemeClr val="dk1"/>
                          </a:solidFill>
                          <a:effectLst/>
                          <a:latin typeface="+mj-lt"/>
                          <a:ea typeface="+mn-ea"/>
                          <a:cs typeface="+mn-cs"/>
                          <a:hlinkClick r:id="rId7"/>
                        </a:rPr>
                        <a:t>P. Devi</a:t>
                      </a:r>
                      <a:r>
                        <a:rPr lang="en-IN" sz="1200" b="0" i="0" kern="1200">
                          <a:solidFill>
                            <a:schemeClr val="dk1"/>
                          </a:solidFill>
                          <a:effectLst/>
                          <a:latin typeface="+mj-lt"/>
                          <a:ea typeface="+mn-ea"/>
                          <a:cs typeface="+mn-cs"/>
                        </a:rPr>
                        <a:t>; </a:t>
                      </a:r>
                      <a:r>
                        <a:rPr lang="en-IN" sz="1200" b="0" i="0" u="none" strike="noStrike" kern="1200">
                          <a:solidFill>
                            <a:schemeClr val="dk1"/>
                          </a:solidFill>
                          <a:effectLst/>
                          <a:latin typeface="+mj-lt"/>
                          <a:ea typeface="+mn-ea"/>
                          <a:cs typeface="+mn-cs"/>
                          <a:hlinkClick r:id="rId8"/>
                        </a:rPr>
                        <a:t>S. Anila</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effectLst/>
                          <a:latin typeface="+mj-lt"/>
                          <a:ea typeface="Calibri" panose="020F0502020204030204" pitchFamily="34" charset="0"/>
                          <a:cs typeface="Times New Roman" panose="02020603050405020304" pitchFamily="18" charset="0"/>
                        </a:rPr>
                        <a:t>2020</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For each individual vehicle the tag has been placed at a spot for making it impossible to eliminate or destroy. The tag which is attached to vehicles has been read by RFID readers with Arduino.</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RFID tag are not secure and can be tempered with.</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2620505964"/>
                  </a:ext>
                </a:extLst>
              </a:tr>
              <a:tr h="834508">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8</a:t>
                      </a:r>
                    </a:p>
                  </a:txBody>
                  <a:tcPr marL="35135" marR="35135" marT="0" marB="0"/>
                </a:tc>
                <a:tc>
                  <a:txBody>
                    <a:bodyPr/>
                    <a:lstStyle/>
                    <a:p>
                      <a:pPr algn="l">
                        <a:lnSpc>
                          <a:spcPct val="100000"/>
                        </a:lnSpc>
                        <a:spcAft>
                          <a:spcPts val="800"/>
                        </a:spcAft>
                      </a:pPr>
                      <a:r>
                        <a:rPr lang="en-US" sz="1200" b="0">
                          <a:latin typeface="+mj-lt"/>
                        </a:rPr>
                        <a:t>Leveraging Emergency Response System Using the Internet of Things. A Preliminary Approach</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200" b="0" i="0" u="none" strike="noStrike" kern="1200">
                          <a:solidFill>
                            <a:schemeClr val="dk1"/>
                          </a:solidFill>
                          <a:effectLst/>
                          <a:latin typeface="+mj-lt"/>
                          <a:ea typeface="+mn-ea"/>
                          <a:cs typeface="+mn-cs"/>
                          <a:hlinkClick r:id="rId9"/>
                        </a:rPr>
                        <a:t>Luz A. Magre Colorado</a:t>
                      </a:r>
                      <a:r>
                        <a:rPr lang="en-IN" sz="1200" b="0" i="0" kern="1200">
                          <a:solidFill>
                            <a:schemeClr val="dk1"/>
                          </a:solidFill>
                          <a:effectLst/>
                          <a:latin typeface="+mj-lt"/>
                          <a:ea typeface="+mn-ea"/>
                          <a:cs typeface="+mn-cs"/>
                        </a:rPr>
                        <a:t>; </a:t>
                      </a:r>
                      <a:r>
                        <a:rPr lang="en-IN" sz="1200" b="0" i="0" u="none" strike="noStrike" kern="1200">
                          <a:solidFill>
                            <a:schemeClr val="dk1"/>
                          </a:solidFill>
                          <a:effectLst/>
                          <a:latin typeface="+mj-lt"/>
                          <a:ea typeface="+mn-ea"/>
                          <a:cs typeface="+mn-cs"/>
                          <a:hlinkClick r:id="rId10"/>
                        </a:rPr>
                        <a:t>Jorge Franco Ibañez</a:t>
                      </a:r>
                      <a:r>
                        <a:rPr lang="en-IN" sz="1200" b="0" i="0" kern="1200">
                          <a:solidFill>
                            <a:schemeClr val="dk1"/>
                          </a:solidFill>
                          <a:effectLst/>
                          <a:latin typeface="+mj-lt"/>
                          <a:ea typeface="+mn-ea"/>
                          <a:cs typeface="+mn-cs"/>
                        </a:rPr>
                        <a:t>; </a:t>
                      </a:r>
                      <a:r>
                        <a:rPr lang="en-IN" sz="1200" b="0" i="0" u="none" strike="noStrike" kern="1200">
                          <a:solidFill>
                            <a:schemeClr val="dk1"/>
                          </a:solidFill>
                          <a:effectLst/>
                          <a:latin typeface="+mj-lt"/>
                          <a:ea typeface="+mn-ea"/>
                          <a:cs typeface="+mn-cs"/>
                          <a:hlinkClick r:id="rId11"/>
                        </a:rPr>
                        <a:t>Juan Carlos Martinez-Santos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200" b="0">
                          <a:effectLst/>
                          <a:latin typeface="+mj-lt"/>
                          <a:ea typeface="Calibri" panose="020F0502020204030204" pitchFamily="34" charset="0"/>
                          <a:cs typeface="Times New Roman" panose="02020603050405020304" pitchFamily="18" charset="0"/>
                        </a:rPr>
                        <a:t>2020</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hybrid system that uses both QR code detection and a GPS/GPRS tracking system. With this mixed implementation we are trying to lower the chances of getting errors when detecting the current location and improve the times of response of the emergency vehicle</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200" b="0">
                          <a:latin typeface="+mj-lt"/>
                        </a:rPr>
                        <a:t>At the moment, a simple test over an intersection of the city is ongoing, but not finished. For future experiments, we expect to include more extensive areas and integrate MATLAB to the simulation to measure times.</a:t>
                      </a:r>
                      <a:endParaRPr lang="en-IN" sz="12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3843904478"/>
                  </a:ext>
                </a:extLst>
              </a:tr>
            </a:tbl>
          </a:graphicData>
        </a:graphic>
      </p:graphicFrame>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a:xfrm>
            <a:off x="838200" y="6356350"/>
            <a:ext cx="3200400" cy="365125"/>
          </a:xfrm>
        </p:spPr>
        <p:txBody>
          <a:bodyPr/>
          <a:lstStyle/>
          <a:p>
            <a:r>
              <a:rPr lang="en-US" dirty="0"/>
              <a:t>VII Semester, Department of ISE, RNSIT</a:t>
            </a:r>
          </a:p>
        </p:txBody>
      </p:sp>
      <p:sp>
        <p:nvSpPr>
          <p:cNvPr id="9"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a:xfrm>
            <a:off x="4038600" y="6356350"/>
            <a:ext cx="4114800" cy="365125"/>
          </a:xfrm>
        </p:spPr>
        <p:txBody>
          <a:bodyPr/>
          <a:lstStyle/>
          <a:p>
            <a:r>
              <a:rPr lang="en-US" dirty="0"/>
              <a:t>2022 - 2023</a:t>
            </a:r>
          </a:p>
        </p:txBody>
      </p:sp>
    </p:spTree>
    <p:extLst>
      <p:ext uri="{BB962C8B-B14F-4D97-AF65-F5344CB8AC3E}">
        <p14:creationId xmlns:p14="http://schemas.microsoft.com/office/powerpoint/2010/main" val="3322135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3">
            <a:extLst>
              <a:ext uri="{FF2B5EF4-FFF2-40B4-BE49-F238E27FC236}">
                <a16:creationId xmlns:a16="http://schemas.microsoft.com/office/drawing/2014/main" id="{1DC9B973-113B-4125-B4C9-48F0753D1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a:fld id="{DA94BC52-74DA-418C-BC07-9D97ED980F53}" type="slidenum">
              <a:rPr lang="en-IN" altLang="en-US">
                <a:solidFill>
                  <a:srgbClr val="045C75"/>
                </a:solidFill>
              </a:rPr>
              <a:pPr defTabSz="914400"/>
              <a:t>9</a:t>
            </a:fld>
            <a:endParaRPr lang="en-IN" altLang="en-US" dirty="0">
              <a:solidFill>
                <a:srgbClr val="045C75"/>
              </a:solidFill>
            </a:endParaRPr>
          </a:p>
        </p:txBody>
      </p:sp>
      <p:pic>
        <p:nvPicPr>
          <p:cNvPr id="14367" name="Picture 2" descr="C:\Users\Divya\Pictures\extras\rns.png">
            <a:extLst>
              <a:ext uri="{FF2B5EF4-FFF2-40B4-BE49-F238E27FC236}">
                <a16:creationId xmlns:a16="http://schemas.microsoft.com/office/drawing/2014/main" id="{5300C36B-AFFB-4467-A987-6FCA8C866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5138" y="141289"/>
            <a:ext cx="990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8" name="Title 1">
            <a:extLst>
              <a:ext uri="{FF2B5EF4-FFF2-40B4-BE49-F238E27FC236}">
                <a16:creationId xmlns:a16="http://schemas.microsoft.com/office/drawing/2014/main" id="{2844700C-93C8-4433-8AAC-AA66EA7EF833}"/>
              </a:ext>
            </a:extLst>
          </p:cNvPr>
          <p:cNvSpPr txBox="1">
            <a:spLocks/>
          </p:cNvSpPr>
          <p:nvPr/>
        </p:nvSpPr>
        <p:spPr bwMode="auto">
          <a:xfrm>
            <a:off x="1703389" y="620714"/>
            <a:ext cx="86375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a:r>
              <a:rPr lang="en-US" altLang="en-US" sz="3200" b="1" dirty="0">
                <a:solidFill>
                  <a:srgbClr val="44546A"/>
                </a:solidFill>
                <a:latin typeface="+mn-lt"/>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id="{923E919C-16CF-4360-8B39-5DACF0141948}"/>
              </a:ext>
            </a:extLst>
          </p:cNvPr>
          <p:cNvGraphicFramePr>
            <a:graphicFrameLocks noGrp="1"/>
          </p:cNvGraphicFramePr>
          <p:nvPr>
            <p:extLst>
              <p:ext uri="{D42A27DB-BD31-4B8C-83A1-F6EECF244321}">
                <p14:modId xmlns:p14="http://schemas.microsoft.com/office/powerpoint/2010/main" val="584778439"/>
              </p:ext>
            </p:extLst>
          </p:nvPr>
        </p:nvGraphicFramePr>
        <p:xfrm>
          <a:off x="838200" y="1171577"/>
          <a:ext cx="10658399" cy="4978561"/>
        </p:xfrm>
        <a:graphic>
          <a:graphicData uri="http://schemas.openxmlformats.org/drawingml/2006/table">
            <a:tbl>
              <a:tblPr firstRow="1" firstCol="1" bandRow="1">
                <a:tableStyleId>{5C22544A-7EE6-4342-B048-85BDC9FD1C3A}</a:tableStyleId>
              </a:tblPr>
              <a:tblGrid>
                <a:gridCol w="718295">
                  <a:extLst>
                    <a:ext uri="{9D8B030D-6E8A-4147-A177-3AD203B41FA5}">
                      <a16:colId xmlns:a16="http://schemas.microsoft.com/office/drawing/2014/main" val="3455939076"/>
                    </a:ext>
                  </a:extLst>
                </a:gridCol>
                <a:gridCol w="2237078">
                  <a:extLst>
                    <a:ext uri="{9D8B030D-6E8A-4147-A177-3AD203B41FA5}">
                      <a16:colId xmlns:a16="http://schemas.microsoft.com/office/drawing/2014/main" val="3664863432"/>
                    </a:ext>
                  </a:extLst>
                </a:gridCol>
                <a:gridCol w="2473296">
                  <a:extLst>
                    <a:ext uri="{9D8B030D-6E8A-4147-A177-3AD203B41FA5}">
                      <a16:colId xmlns:a16="http://schemas.microsoft.com/office/drawing/2014/main" val="84136682"/>
                    </a:ext>
                  </a:extLst>
                </a:gridCol>
                <a:gridCol w="1308244">
                  <a:extLst>
                    <a:ext uri="{9D8B030D-6E8A-4147-A177-3AD203B41FA5}">
                      <a16:colId xmlns:a16="http://schemas.microsoft.com/office/drawing/2014/main" val="2910473014"/>
                    </a:ext>
                  </a:extLst>
                </a:gridCol>
                <a:gridCol w="3921486">
                  <a:extLst>
                    <a:ext uri="{9D8B030D-6E8A-4147-A177-3AD203B41FA5}">
                      <a16:colId xmlns:a16="http://schemas.microsoft.com/office/drawing/2014/main" val="4204408496"/>
                    </a:ext>
                  </a:extLst>
                </a:gridCol>
              </a:tblGrid>
              <a:tr h="387762">
                <a:tc>
                  <a:txBody>
                    <a:bodyPr/>
                    <a:lstStyle/>
                    <a:p>
                      <a:pPr indent="428625" algn="l">
                        <a:lnSpc>
                          <a:spcPct val="107000"/>
                        </a:lnSpc>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dirty="0">
                          <a:effectLst/>
                        </a:rPr>
                        <a:t>Heading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Author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Year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Summary</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extLst>
                  <a:ext uri="{0D108BD9-81ED-4DB2-BD59-A6C34878D82A}">
                    <a16:rowId xmlns:a16="http://schemas.microsoft.com/office/drawing/2014/main" val="3985748112"/>
                  </a:ext>
                </a:extLst>
              </a:tr>
              <a:tr h="1195504">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9</a:t>
                      </a:r>
                    </a:p>
                  </a:txBody>
                  <a:tcPr marL="35135" marR="35135" marT="0" marB="0"/>
                </a:tc>
                <a:tc>
                  <a:txBody>
                    <a:bodyPr/>
                    <a:lstStyle/>
                    <a:p>
                      <a:pPr>
                        <a:lnSpc>
                          <a:spcPct val="100000"/>
                        </a:lnSpc>
                      </a:pPr>
                      <a:r>
                        <a:rPr lang="en-US" sz="1100" b="0" i="0" kern="1200">
                          <a:solidFill>
                            <a:schemeClr val="dk1"/>
                          </a:solidFill>
                          <a:effectLst/>
                          <a:latin typeface="+mj-lt"/>
                          <a:ea typeface="+mn-ea"/>
                          <a:cs typeface="+mn-cs"/>
                        </a:rPr>
                        <a:t>Li-Fi technology in traffic light</a:t>
                      </a:r>
                    </a:p>
                  </a:txBody>
                  <a:tcPr marL="35135" marR="35135" marT="0" marB="0">
                    <a:solidFill>
                      <a:schemeClr val="bg1">
                        <a:lumMod val="85000"/>
                      </a:schemeClr>
                    </a:solidFill>
                  </a:tcPr>
                </a:tc>
                <a:tc>
                  <a:txBody>
                    <a:bodyPr/>
                    <a:lstStyle/>
                    <a:p>
                      <a:pPr algn="l">
                        <a:lnSpc>
                          <a:spcPct val="100000"/>
                        </a:lnSpc>
                        <a:spcAft>
                          <a:spcPts val="800"/>
                        </a:spcAft>
                      </a:pPr>
                      <a:r>
                        <a:rPr lang="fi-FI" sz="1100" b="0" i="0" u="none" strike="noStrike" kern="1200">
                          <a:solidFill>
                            <a:schemeClr val="dk1"/>
                          </a:solidFill>
                          <a:effectLst/>
                          <a:latin typeface="+mj-lt"/>
                          <a:ea typeface="+mn-ea"/>
                          <a:cs typeface="+mn-cs"/>
                          <a:hlinkClick r:id="rId3"/>
                        </a:rPr>
                        <a:t>V.K.G. Kalaiselvi</a:t>
                      </a:r>
                      <a:r>
                        <a:rPr lang="fi-FI" sz="1100" b="0" i="0" kern="1200">
                          <a:solidFill>
                            <a:schemeClr val="dk1"/>
                          </a:solidFill>
                          <a:effectLst/>
                          <a:latin typeface="+mj-lt"/>
                          <a:ea typeface="+mn-ea"/>
                          <a:cs typeface="+mn-cs"/>
                        </a:rPr>
                        <a:t>; </a:t>
                      </a:r>
                      <a:r>
                        <a:rPr lang="fi-FI" sz="1100" b="0" i="0" u="none" strike="noStrike" kern="1200">
                          <a:solidFill>
                            <a:schemeClr val="dk1"/>
                          </a:solidFill>
                          <a:effectLst/>
                          <a:latin typeface="+mj-lt"/>
                          <a:ea typeface="+mn-ea"/>
                          <a:cs typeface="+mn-cs"/>
                          <a:hlinkClick r:id="rId4"/>
                        </a:rPr>
                        <a:t>A. Sangavi</a:t>
                      </a:r>
                      <a:r>
                        <a:rPr lang="fi-FI" sz="1100" b="0" i="0" kern="1200">
                          <a:solidFill>
                            <a:schemeClr val="dk1"/>
                          </a:solidFill>
                          <a:effectLst/>
                          <a:latin typeface="+mj-lt"/>
                          <a:ea typeface="+mn-ea"/>
                          <a:cs typeface="+mn-cs"/>
                        </a:rPr>
                        <a:t>; </a:t>
                      </a:r>
                      <a:r>
                        <a:rPr lang="fi-FI" sz="1100" b="0" i="0" u="sng" kern="1200">
                          <a:solidFill>
                            <a:schemeClr val="dk1"/>
                          </a:solidFill>
                          <a:effectLst/>
                          <a:latin typeface="+mj-lt"/>
                          <a:ea typeface="+mn-ea"/>
                          <a:cs typeface="+mn-cs"/>
                          <a:hlinkClick r:id="rId5"/>
                        </a:rPr>
                        <a:t>Dhivya</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100" b="0">
                          <a:effectLst/>
                          <a:latin typeface="+mj-lt"/>
                          <a:ea typeface="Calibri" panose="020F0502020204030204" pitchFamily="34" charset="0"/>
                          <a:cs typeface="Times New Roman" panose="02020603050405020304" pitchFamily="18" charset="0"/>
                        </a:rPr>
                        <a:t>2017</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100" b="0" i="0" kern="1200">
                          <a:solidFill>
                            <a:schemeClr val="dk1"/>
                          </a:solidFill>
                          <a:effectLst/>
                          <a:latin typeface="+mj-lt"/>
                          <a:ea typeface="+mn-ea"/>
                          <a:cs typeface="+mn-cs"/>
                        </a:rPr>
                        <a:t>The proposed paper aims in using the Wi-Fi technology and enabling communication of vehicles with the traffic light system in order to prioritize the vehicles and change the signals accordingly rather than by a process of pre-defined order or by manual order.</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1688732735"/>
                  </a:ext>
                </a:extLst>
              </a:tr>
              <a:tr h="1178213">
                <a:tc>
                  <a:txBody>
                    <a:bodyPr/>
                    <a:lstStyle/>
                    <a:p>
                      <a:pPr algn="l">
                        <a:lnSpc>
                          <a:spcPct val="107000"/>
                        </a:lnSpc>
                        <a:spcAft>
                          <a:spcPts val="800"/>
                        </a:spcAft>
                      </a:pPr>
                      <a:r>
                        <a:rPr lang="en-IN" sz="1200">
                          <a:effectLst/>
                          <a:latin typeface="Calibri" panose="020F0502020204030204" pitchFamily="34" charset="0"/>
                          <a:ea typeface="Calibri" panose="020F0502020204030204" pitchFamily="34" charset="0"/>
                          <a:cs typeface="Times New Roman" panose="02020603050405020304" pitchFamily="18" charset="0"/>
                        </a:rPr>
                        <a:t>10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nSpc>
                          <a:spcPct val="100000"/>
                        </a:lnSpc>
                      </a:pPr>
                      <a:r>
                        <a:rPr lang="en-US" sz="1100" b="0" i="0" kern="1200">
                          <a:solidFill>
                            <a:schemeClr val="dk1"/>
                          </a:solidFill>
                          <a:effectLst/>
                          <a:latin typeface="+mj-lt"/>
                          <a:ea typeface="+mn-ea"/>
                          <a:cs typeface="+mn-cs"/>
                        </a:rPr>
                        <a:t>Efficiency of opportunistic cellular/LiFi traffic offloading</a:t>
                      </a:r>
                    </a:p>
                  </a:txBody>
                  <a:tcPr marL="35135" marR="35135" marT="0" marB="0">
                    <a:solidFill>
                      <a:schemeClr val="bg1">
                        <a:lumMod val="85000"/>
                      </a:schemeClr>
                    </a:solidFill>
                  </a:tcPr>
                </a:tc>
                <a:tc>
                  <a:txBody>
                    <a:bodyPr/>
                    <a:lstStyle/>
                    <a:p>
                      <a:pPr algn="l">
                        <a:lnSpc>
                          <a:spcPct val="100000"/>
                        </a:lnSpc>
                        <a:spcAft>
                          <a:spcPts val="800"/>
                        </a:spcAft>
                      </a:pPr>
                      <a:r>
                        <a:rPr lang="en-IN" sz="1100" b="0">
                          <a:effectLst/>
                          <a:latin typeface="+mj-lt"/>
                          <a:ea typeface="Calibri" panose="020F0502020204030204" pitchFamily="34" charset="0"/>
                          <a:cs typeface="Times New Roman" panose="02020603050405020304" pitchFamily="18" charset="0"/>
                        </a:rPr>
                        <a:t>Vishnu Raj RS,Athi Narayanan  S,Kamal Bijlani</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100" b="0">
                          <a:effectLst/>
                          <a:latin typeface="+mj-lt"/>
                          <a:ea typeface="Calibri" panose="020F0502020204030204" pitchFamily="34" charset="0"/>
                          <a:cs typeface="Times New Roman" panose="02020603050405020304" pitchFamily="18" charset="0"/>
                        </a:rPr>
                        <a:t>2016</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100" b="0" i="0" kern="1200">
                          <a:solidFill>
                            <a:schemeClr val="dk1"/>
                          </a:solidFill>
                          <a:effectLst/>
                          <a:latin typeface="+mj-lt"/>
                          <a:ea typeface="+mn-ea"/>
                          <a:cs typeface="+mn-cs"/>
                        </a:rPr>
                        <a:t> This offloading efficiency is a measure of the ratio of traffic carried by light fidelity (LiFi) network to total traffic carried by both LiFi and cellular networks. The effect of LiFi-signal blocking and channel characteristics are considered. Different LiFi offloading timing cases are discussed. </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465780901"/>
                  </a:ext>
                </a:extLst>
              </a:tr>
              <a:tr h="1080120">
                <a:tc>
                  <a:txBody>
                    <a:bodyPr/>
                    <a:lstStyle/>
                    <a:p>
                      <a:pPr algn="l">
                        <a:lnSpc>
                          <a:spcPct val="107000"/>
                        </a:lnSpc>
                        <a:spcAft>
                          <a:spcPts val="800"/>
                        </a:spcAft>
                      </a:pPr>
                      <a:r>
                        <a:rPr lang="en-IN" sz="1200">
                          <a:effectLst/>
                        </a:rPr>
                        <a:t>11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nSpc>
                          <a:spcPct val="100000"/>
                        </a:lnSpc>
                      </a:pPr>
                      <a:r>
                        <a:rPr lang="en-IN" sz="1100" b="0" i="0" kern="1200">
                          <a:solidFill>
                            <a:schemeClr val="dk1"/>
                          </a:solidFill>
                          <a:effectLst/>
                          <a:latin typeface="+mj-lt"/>
                          <a:ea typeface="+mn-ea"/>
                          <a:cs typeface="+mn-cs"/>
                        </a:rPr>
                        <a:t>Li-Fi Based Smart Traffic Network</a:t>
                      </a:r>
                    </a:p>
                  </a:txBody>
                  <a:tcPr marL="35135" marR="35135" marT="0" marB="0">
                    <a:solidFill>
                      <a:schemeClr val="bg1">
                        <a:lumMod val="85000"/>
                      </a:schemeClr>
                    </a:solidFill>
                  </a:tcPr>
                </a:tc>
                <a:tc>
                  <a:txBody>
                    <a:bodyPr/>
                    <a:lstStyle/>
                    <a:p>
                      <a:pPr>
                        <a:lnSpc>
                          <a:spcPct val="100000"/>
                        </a:lnSpc>
                      </a:pPr>
                      <a:r>
                        <a:rPr lang="en-US" sz="1100" b="0" i="0" u="sng" kern="1200">
                          <a:solidFill>
                            <a:schemeClr val="dk1"/>
                          </a:solidFill>
                          <a:effectLst/>
                          <a:latin typeface="+mj-lt"/>
                          <a:ea typeface="+mn-ea"/>
                          <a:cs typeface="+mn-cs"/>
                          <a:hlinkClick r:id="rId6"/>
                        </a:rPr>
                        <a:t>A. Correa</a:t>
                      </a:r>
                      <a:r>
                        <a:rPr lang="en-US" sz="1100" b="0" i="0" kern="1200">
                          <a:solidFill>
                            <a:schemeClr val="dk1"/>
                          </a:solidFill>
                          <a:effectLst/>
                          <a:latin typeface="+mj-lt"/>
                          <a:ea typeface="+mn-ea"/>
                          <a:cs typeface="+mn-cs"/>
                        </a:rPr>
                        <a:t>; </a:t>
                      </a:r>
                      <a:r>
                        <a:rPr lang="en-US" sz="1100" b="0" i="0" u="none" strike="noStrike" kern="1200">
                          <a:solidFill>
                            <a:schemeClr val="dk1"/>
                          </a:solidFill>
                          <a:effectLst/>
                          <a:latin typeface="+mj-lt"/>
                          <a:ea typeface="+mn-ea"/>
                          <a:cs typeface="+mn-cs"/>
                          <a:hlinkClick r:id="rId7"/>
                        </a:rPr>
                        <a:t>A. Hamid</a:t>
                      </a:r>
                      <a:r>
                        <a:rPr lang="en-US" sz="1100" b="0" i="0" kern="1200">
                          <a:solidFill>
                            <a:schemeClr val="dk1"/>
                          </a:solidFill>
                          <a:effectLst/>
                          <a:latin typeface="+mj-lt"/>
                          <a:ea typeface="+mn-ea"/>
                          <a:cs typeface="+mn-cs"/>
                        </a:rPr>
                        <a:t>; </a:t>
                      </a:r>
                      <a:r>
                        <a:rPr lang="en-US" sz="1100" b="0" i="0" u="none" strike="noStrike" kern="1200">
                          <a:solidFill>
                            <a:schemeClr val="dk1"/>
                          </a:solidFill>
                          <a:effectLst/>
                          <a:latin typeface="+mj-lt"/>
                          <a:ea typeface="+mn-ea"/>
                          <a:cs typeface="+mn-cs"/>
                          <a:hlinkClick r:id="rId8"/>
                        </a:rPr>
                        <a:t>E. Sparks</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100" b="0">
                          <a:effectLst/>
                          <a:latin typeface="+mj-lt"/>
                          <a:ea typeface="Calibri" panose="020F0502020204030204" pitchFamily="34" charset="0"/>
                          <a:cs typeface="Times New Roman" panose="02020603050405020304" pitchFamily="18" charset="0"/>
                        </a:rPr>
                        <a:t>2018</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US" sz="1100" b="0">
                          <a:latin typeface="+mj-lt"/>
                        </a:rPr>
                        <a:t>Using Li-Fi, a visible light communications system, autonomous cars will be able to communicate with each other and with the traffic network to eradicate any human error that might occur while driving today. </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2620505964"/>
                  </a:ext>
                </a:extLst>
              </a:tr>
              <a:tr h="1136962">
                <a:tc>
                  <a:txBody>
                    <a:bodyPr/>
                    <a:lstStyle/>
                    <a:p>
                      <a:pPr algn="l">
                        <a:lnSpc>
                          <a:spcPct val="107000"/>
                        </a:lnSpc>
                        <a:spcAft>
                          <a:spcPts val="800"/>
                        </a:spcAft>
                      </a:pPr>
                      <a:r>
                        <a:rPr lang="en-IN" sz="1200">
                          <a:effectLst/>
                        </a:rPr>
                        <a:t>12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35135" marR="35135" marT="0" marB="0"/>
                </a:tc>
                <a:tc>
                  <a:txBody>
                    <a:bodyPr/>
                    <a:lstStyle/>
                    <a:p>
                      <a:pPr>
                        <a:lnSpc>
                          <a:spcPct val="100000"/>
                        </a:lnSpc>
                      </a:pPr>
                      <a:r>
                        <a:rPr lang="en-US" sz="1100" b="0" i="0" kern="1200">
                          <a:solidFill>
                            <a:schemeClr val="dk1"/>
                          </a:solidFill>
                          <a:effectLst/>
                          <a:latin typeface="+mj-lt"/>
                          <a:ea typeface="+mn-ea"/>
                          <a:cs typeface="+mn-cs"/>
                        </a:rPr>
                        <a:t>Li-Fi Based Automatic Traffic Signal Control for Emergency Vehicles</a:t>
                      </a:r>
                    </a:p>
                  </a:txBody>
                  <a:tcPr marL="35135" marR="35135" marT="0" marB="0">
                    <a:solidFill>
                      <a:schemeClr val="bg1">
                        <a:lumMod val="85000"/>
                      </a:schemeClr>
                    </a:solidFill>
                  </a:tcPr>
                </a:tc>
                <a:tc>
                  <a:txBody>
                    <a:bodyPr/>
                    <a:lstStyle/>
                    <a:p>
                      <a:pPr algn="l">
                        <a:lnSpc>
                          <a:spcPct val="100000"/>
                        </a:lnSpc>
                        <a:spcAft>
                          <a:spcPts val="800"/>
                        </a:spcAft>
                      </a:pPr>
                      <a:r>
                        <a:rPr lang="en-IN" sz="1100" b="0" i="0" u="none" strike="noStrike" kern="1200">
                          <a:solidFill>
                            <a:schemeClr val="dk1"/>
                          </a:solidFill>
                          <a:effectLst/>
                          <a:latin typeface="+mj-lt"/>
                          <a:ea typeface="+mn-ea"/>
                          <a:cs typeface="+mn-cs"/>
                          <a:hlinkClick r:id="rId9"/>
                        </a:rPr>
                        <a:t>R Shanmughasundaram</a:t>
                      </a:r>
                      <a:r>
                        <a:rPr lang="en-IN" sz="1100" b="0" i="0" kern="1200">
                          <a:solidFill>
                            <a:schemeClr val="dk1"/>
                          </a:solidFill>
                          <a:effectLst/>
                          <a:latin typeface="+mj-lt"/>
                          <a:ea typeface="+mn-ea"/>
                          <a:cs typeface="+mn-cs"/>
                        </a:rPr>
                        <a:t>; </a:t>
                      </a:r>
                      <a:r>
                        <a:rPr lang="en-IN" sz="1100" b="0" i="0" u="none" strike="noStrike" kern="1200">
                          <a:solidFill>
                            <a:schemeClr val="dk1"/>
                          </a:solidFill>
                          <a:effectLst/>
                          <a:latin typeface="+mj-lt"/>
                          <a:ea typeface="+mn-ea"/>
                          <a:cs typeface="+mn-cs"/>
                          <a:hlinkClick r:id="rId10"/>
                        </a:rPr>
                        <a:t>S Prasanna Vadanan</a:t>
                      </a:r>
                      <a:r>
                        <a:rPr lang="en-IN" sz="1100" b="0" i="0" kern="1200">
                          <a:solidFill>
                            <a:schemeClr val="dk1"/>
                          </a:solidFill>
                          <a:effectLst/>
                          <a:latin typeface="+mj-lt"/>
                          <a:ea typeface="+mn-ea"/>
                          <a:cs typeface="+mn-cs"/>
                        </a:rPr>
                        <a:t>; </a:t>
                      </a:r>
                      <a:r>
                        <a:rPr lang="en-IN" sz="1100" b="0" i="0" u="sng" kern="1200">
                          <a:solidFill>
                            <a:schemeClr val="dk1"/>
                          </a:solidFill>
                          <a:effectLst/>
                          <a:latin typeface="+mj-lt"/>
                          <a:ea typeface="+mn-ea"/>
                          <a:cs typeface="+mn-cs"/>
                          <a:hlinkClick r:id="rId11"/>
                        </a:rPr>
                        <a:t>Vivek Dharmarajan</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100" b="0">
                          <a:effectLst/>
                          <a:latin typeface="+mj-lt"/>
                          <a:ea typeface="Calibri" panose="020F0502020204030204" pitchFamily="34" charset="0"/>
                          <a:cs typeface="Times New Roman" panose="02020603050405020304" pitchFamily="18" charset="0"/>
                        </a:rPr>
                        <a:t>2018</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tc>
                  <a:txBody>
                    <a:bodyPr/>
                    <a:lstStyle/>
                    <a:p>
                      <a:pPr algn="l">
                        <a:lnSpc>
                          <a:spcPct val="100000"/>
                        </a:lnSpc>
                        <a:spcAft>
                          <a:spcPts val="800"/>
                        </a:spcAft>
                      </a:pPr>
                      <a:r>
                        <a:rPr lang="en-IN" sz="1100" b="0">
                          <a:effectLst/>
                          <a:latin typeface="+mj-lt"/>
                        </a:rPr>
                        <a:t> </a:t>
                      </a:r>
                      <a:r>
                        <a:rPr lang="en-US" sz="1100" b="0">
                          <a:effectLst/>
                          <a:latin typeface="+mj-lt"/>
                        </a:rPr>
                        <a:t>In this paper, a V2V communication system is proposed in which the headlight and tail light of a vehicle are made as Li-Fi transmitter and Li-Fi receiver respectively. Using the proposed system, when a traffic signal receives an alert regarding an emergency vehicle, the traffic signal would immediately turn green. Thus, decreasing the waiting time of emergency vehicles in traffic dense lanes</a:t>
                      </a:r>
                      <a:endParaRPr lang="en-IN" sz="1100" b="0" dirty="0">
                        <a:effectLst/>
                        <a:latin typeface="+mj-lt"/>
                        <a:ea typeface="Calibri" panose="020F0502020204030204" pitchFamily="34" charset="0"/>
                        <a:cs typeface="Times New Roman" panose="02020603050405020304" pitchFamily="18" charset="0"/>
                      </a:endParaRPr>
                    </a:p>
                  </a:txBody>
                  <a:tcPr marL="35135" marR="35135" marT="0" marB="0">
                    <a:solidFill>
                      <a:schemeClr val="bg1">
                        <a:lumMod val="85000"/>
                      </a:schemeClr>
                    </a:solidFill>
                  </a:tcPr>
                </a:tc>
                <a:extLst>
                  <a:ext uri="{0D108BD9-81ED-4DB2-BD59-A6C34878D82A}">
                    <a16:rowId xmlns:a16="http://schemas.microsoft.com/office/drawing/2014/main" val="3843904478"/>
                  </a:ext>
                </a:extLst>
              </a:tr>
            </a:tbl>
          </a:graphicData>
        </a:graphic>
      </p:graphicFrame>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a:xfrm>
            <a:off x="838200" y="6356350"/>
            <a:ext cx="3200400" cy="365125"/>
          </a:xfrm>
        </p:spPr>
        <p:txBody>
          <a:bodyPr/>
          <a:lstStyle/>
          <a:p>
            <a:r>
              <a:rPr lang="en-US" dirty="0"/>
              <a:t>VII Semester, Department of ISE, RNSIT</a:t>
            </a:r>
          </a:p>
        </p:txBody>
      </p:sp>
      <p:sp>
        <p:nvSpPr>
          <p:cNvPr id="9"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a:xfrm>
            <a:off x="4038600" y="6356350"/>
            <a:ext cx="4114800" cy="365125"/>
          </a:xfrm>
        </p:spPr>
        <p:txBody>
          <a:bodyPr/>
          <a:lstStyle/>
          <a:p>
            <a:r>
              <a:rPr lang="en-US" dirty="0"/>
              <a:t>2022 - 2023</a:t>
            </a:r>
          </a:p>
        </p:txBody>
      </p:sp>
    </p:spTree>
    <p:extLst>
      <p:ext uri="{BB962C8B-B14F-4D97-AF65-F5344CB8AC3E}">
        <p14:creationId xmlns:p14="http://schemas.microsoft.com/office/powerpoint/2010/main" val="4200739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3">
            <a:extLst>
              <a:ext uri="{FF2B5EF4-FFF2-40B4-BE49-F238E27FC236}">
                <a16:creationId xmlns:a16="http://schemas.microsoft.com/office/drawing/2014/main" id="{1DC9B973-113B-4125-B4C9-48F0753D1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a:fld id="{DA94BC52-74DA-418C-BC07-9D97ED980F53}" type="slidenum">
              <a:rPr lang="en-IN" altLang="en-US">
                <a:solidFill>
                  <a:srgbClr val="045C75"/>
                </a:solidFill>
              </a:rPr>
              <a:pPr defTabSz="914400"/>
              <a:t>10</a:t>
            </a:fld>
            <a:endParaRPr lang="en-IN" altLang="en-US" dirty="0">
              <a:solidFill>
                <a:srgbClr val="045C75"/>
              </a:solidFill>
            </a:endParaRPr>
          </a:p>
        </p:txBody>
      </p:sp>
      <p:pic>
        <p:nvPicPr>
          <p:cNvPr id="14367" name="Picture 2" descr="C:\Users\Divya\Pictures\extras\rns.png">
            <a:extLst>
              <a:ext uri="{FF2B5EF4-FFF2-40B4-BE49-F238E27FC236}">
                <a16:creationId xmlns:a16="http://schemas.microsoft.com/office/drawing/2014/main" id="{5300C36B-AFFB-4467-A987-6FCA8C866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5138" y="141289"/>
            <a:ext cx="990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8" name="Title 1">
            <a:extLst>
              <a:ext uri="{FF2B5EF4-FFF2-40B4-BE49-F238E27FC236}">
                <a16:creationId xmlns:a16="http://schemas.microsoft.com/office/drawing/2014/main" id="{2844700C-93C8-4433-8AAC-AA66EA7EF833}"/>
              </a:ext>
            </a:extLst>
          </p:cNvPr>
          <p:cNvSpPr txBox="1">
            <a:spLocks/>
          </p:cNvSpPr>
          <p:nvPr/>
        </p:nvSpPr>
        <p:spPr bwMode="auto">
          <a:xfrm>
            <a:off x="1703389" y="620714"/>
            <a:ext cx="86375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a:r>
              <a:rPr lang="en-US" altLang="en-US" sz="3200" b="1" dirty="0">
                <a:solidFill>
                  <a:srgbClr val="44546A"/>
                </a:solidFill>
                <a:latin typeface="+mn-lt"/>
                <a:cs typeface="Times New Roman" panose="02020603050405020304" pitchFamily="18" charset="0"/>
              </a:rPr>
              <a:t>LITERATURE REVIEW</a:t>
            </a:r>
          </a:p>
        </p:txBody>
      </p:sp>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a:xfrm>
            <a:off x="838200" y="6356350"/>
            <a:ext cx="3200400" cy="365125"/>
          </a:xfrm>
        </p:spPr>
        <p:txBody>
          <a:bodyPr/>
          <a:lstStyle/>
          <a:p>
            <a:r>
              <a:rPr lang="en-US" dirty="0"/>
              <a:t>VII Semester, Department of ISE, RNSIT</a:t>
            </a:r>
          </a:p>
        </p:txBody>
      </p:sp>
      <p:sp>
        <p:nvSpPr>
          <p:cNvPr id="9"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a:xfrm>
            <a:off x="4038600" y="6356350"/>
            <a:ext cx="4114800" cy="365125"/>
          </a:xfrm>
        </p:spPr>
        <p:txBody>
          <a:bodyPr/>
          <a:lstStyle/>
          <a:p>
            <a:r>
              <a:rPr lang="en-US" dirty="0"/>
              <a:t>2022 - 2023</a:t>
            </a:r>
          </a:p>
        </p:txBody>
      </p:sp>
      <p:sp>
        <p:nvSpPr>
          <p:cNvPr id="2" name="TextBox 1">
            <a:extLst>
              <a:ext uri="{FF2B5EF4-FFF2-40B4-BE49-F238E27FC236}">
                <a16:creationId xmlns:a16="http://schemas.microsoft.com/office/drawing/2014/main" id="{F0FFBEFA-BBDB-F4ED-AF69-1CE41C000B0B}"/>
              </a:ext>
            </a:extLst>
          </p:cNvPr>
          <p:cNvSpPr txBox="1"/>
          <p:nvPr/>
        </p:nvSpPr>
        <p:spPr>
          <a:xfrm>
            <a:off x="1055440" y="1340768"/>
            <a:ext cx="10585176" cy="4801314"/>
          </a:xfrm>
          <a:prstGeom prst="rect">
            <a:avLst/>
          </a:prstGeom>
          <a:noFill/>
        </p:spPr>
        <p:txBody>
          <a:bodyPr wrap="square" rtlCol="0">
            <a:spAutoFit/>
          </a:bodyPr>
          <a:lstStyle/>
          <a:p>
            <a:r>
              <a:rPr lang="en-US" sz="1800" i="1">
                <a:solidFill>
                  <a:srgbClr val="000000"/>
                </a:solidFill>
                <a:effectLst/>
                <a:latin typeface="Times New Roman" panose="02020603050405020304" pitchFamily="18" charset="0"/>
                <a:ea typeface="Calibri" panose="020F0502020204030204" pitchFamily="34" charset="0"/>
              </a:rPr>
              <a:t>Abhishek Patni, Bhavini Mishra, Harsh Aditya, Yogesh Kumar and Rohit Sharma </a:t>
            </a:r>
            <a:r>
              <a:rPr lang="en-US" sz="1800">
                <a:solidFill>
                  <a:srgbClr val="000000"/>
                </a:solidFill>
                <a:effectLst/>
                <a:latin typeface="Times New Roman" panose="02020603050405020304" pitchFamily="18" charset="0"/>
                <a:ea typeface="Calibri" panose="020F0502020204030204" pitchFamily="34" charset="0"/>
              </a:rPr>
              <a:t>presented light is everywhere street lamp, traffic light and meeting hall. Imagine that all these light bulbs are high speed wireless transmitter that connects either human to human or systems with systems. Light fidelity or we can say LIFI, a new WIFI is based on the very recent intelligence of light emitting diode (LED) technology as the source of lightning. LIFI is a fully networked, bidirectional high speed wireless connection system. Unlike wireless networks. </a:t>
            </a:r>
            <a:endParaRPr lang="en-IN" sz="1800">
              <a:solidFill>
                <a:srgbClr val="000000"/>
              </a:solidFill>
              <a:effectLst/>
              <a:latin typeface="Times New Roman" panose="02020603050405020304" pitchFamily="18" charset="0"/>
              <a:ea typeface="Calibri" panose="020F0502020204030204" pitchFamily="34" charset="0"/>
            </a:endParaRPr>
          </a:p>
          <a:p>
            <a:endParaRPr lang="en-IN"/>
          </a:p>
          <a:p>
            <a:r>
              <a:rPr lang="en-US" sz="1800" i="1">
                <a:solidFill>
                  <a:srgbClr val="000000"/>
                </a:solidFill>
                <a:effectLst/>
                <a:latin typeface="Times New Roman" panose="02020603050405020304" pitchFamily="18" charset="0"/>
                <a:ea typeface="Calibri" panose="020F0502020204030204" pitchFamily="34" charset="0"/>
              </a:rPr>
              <a:t>V. K. G. Kalaiselvi, A. Sangavi and Dhivya presented w</a:t>
            </a:r>
            <a:r>
              <a:rPr lang="en-US" sz="1800">
                <a:solidFill>
                  <a:srgbClr val="000000"/>
                </a:solidFill>
                <a:effectLst/>
                <a:latin typeface="Times New Roman" panose="02020603050405020304" pitchFamily="18" charset="0"/>
                <a:ea typeface="Calibri" panose="020F0502020204030204" pitchFamily="34" charset="0"/>
              </a:rPr>
              <a:t>ireless communication has become a basic utility in personal and business life such that it becomes a fundamental of our lives and this communication uses the radio spectrum for data transfer. There are issues in using the radio spectrum further, they are, capacity, efficiency, availability and security. The defects of Wi-Fi technology has given birth to the concept of Li-Fi (Light Fidelity) technology. </a:t>
            </a:r>
            <a:endParaRPr lang="en-IN" sz="1800">
              <a:solidFill>
                <a:srgbClr val="000000"/>
              </a:solidFill>
              <a:effectLst/>
              <a:latin typeface="Times New Roman" panose="02020603050405020304" pitchFamily="18" charset="0"/>
              <a:ea typeface="Calibri" panose="020F0502020204030204" pitchFamily="34" charset="0"/>
            </a:endParaRPr>
          </a:p>
          <a:p>
            <a:endParaRPr lang="en-IN">
              <a:solidFill>
                <a:srgbClr val="000000"/>
              </a:solidFill>
              <a:latin typeface="Times New Roman" panose="02020603050405020304" pitchFamily="18" charset="0"/>
              <a:ea typeface="Calibri" panose="020F0502020204030204" pitchFamily="34" charset="0"/>
            </a:endParaRPr>
          </a:p>
          <a:p>
            <a:r>
              <a:rPr lang="en-US" sz="1800" i="1">
                <a:solidFill>
                  <a:srgbClr val="000000"/>
                </a:solidFill>
                <a:effectLst/>
                <a:latin typeface="Times New Roman" panose="02020603050405020304" pitchFamily="18" charset="0"/>
                <a:ea typeface="Calibri" panose="020F0502020204030204" pitchFamily="34" charset="0"/>
              </a:rPr>
              <a:t>J. Saradha, G. Vijayshri and T. Subha presented </a:t>
            </a:r>
            <a:r>
              <a:rPr lang="en-US" sz="1800">
                <a:solidFill>
                  <a:srgbClr val="000000"/>
                </a:solidFill>
                <a:effectLst/>
                <a:latin typeface="Times New Roman" panose="02020603050405020304" pitchFamily="18" charset="0"/>
                <a:ea typeface="Calibri" panose="020F0502020204030204" pitchFamily="34" charset="0"/>
              </a:rPr>
              <a:t>road traffic congestion becomes a major issue for highly crowded metropolitan cities like, Chennai .Ambulance service is one of the major services which gets affected by traffic jams. To smoothen the ambulance movement this Topic have come up with the solution of “Intelligent automatic traffic control for ambulance”. The proposed system creates a android app that connects both the ambulance and the traffic signal station using cloud network. </a:t>
            </a:r>
            <a:endParaRPr lang="en-IN" sz="180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174232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Slide Number Placeholder 3">
            <a:extLst>
              <a:ext uri="{FF2B5EF4-FFF2-40B4-BE49-F238E27FC236}">
                <a16:creationId xmlns:a16="http://schemas.microsoft.com/office/drawing/2014/main" id="{1DC9B973-113B-4125-B4C9-48F0753D15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a:fld id="{DA94BC52-74DA-418C-BC07-9D97ED980F53}" type="slidenum">
              <a:rPr lang="en-IN" altLang="en-US">
                <a:solidFill>
                  <a:srgbClr val="045C75"/>
                </a:solidFill>
              </a:rPr>
              <a:pPr defTabSz="914400"/>
              <a:t>11</a:t>
            </a:fld>
            <a:endParaRPr lang="en-IN" altLang="en-US" dirty="0">
              <a:solidFill>
                <a:srgbClr val="045C75"/>
              </a:solidFill>
            </a:endParaRPr>
          </a:p>
        </p:txBody>
      </p:sp>
      <p:pic>
        <p:nvPicPr>
          <p:cNvPr id="14367" name="Picture 2" descr="C:\Users\Divya\Pictures\extras\rns.png">
            <a:extLst>
              <a:ext uri="{FF2B5EF4-FFF2-40B4-BE49-F238E27FC236}">
                <a16:creationId xmlns:a16="http://schemas.microsoft.com/office/drawing/2014/main" id="{5300C36B-AFFB-4467-A987-6FCA8C866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5138" y="141289"/>
            <a:ext cx="9906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8" name="Title 1">
            <a:extLst>
              <a:ext uri="{FF2B5EF4-FFF2-40B4-BE49-F238E27FC236}">
                <a16:creationId xmlns:a16="http://schemas.microsoft.com/office/drawing/2014/main" id="{2844700C-93C8-4433-8AAC-AA66EA7EF833}"/>
              </a:ext>
            </a:extLst>
          </p:cNvPr>
          <p:cNvSpPr txBox="1">
            <a:spLocks/>
          </p:cNvSpPr>
          <p:nvPr/>
        </p:nvSpPr>
        <p:spPr bwMode="auto">
          <a:xfrm>
            <a:off x="1703389" y="620714"/>
            <a:ext cx="8637587"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a:r>
              <a:rPr lang="en-US" altLang="en-US" sz="3200" b="1" dirty="0">
                <a:solidFill>
                  <a:srgbClr val="44546A"/>
                </a:solidFill>
                <a:latin typeface="+mn-lt"/>
                <a:cs typeface="Times New Roman" panose="02020603050405020304" pitchFamily="18" charset="0"/>
              </a:rPr>
              <a:t>LITERATURE REVIEW</a:t>
            </a:r>
          </a:p>
        </p:txBody>
      </p:sp>
      <p:sp>
        <p:nvSpPr>
          <p:cNvPr id="8" name="Date Placeholder 7">
            <a:extLst>
              <a:ext uri="{FF2B5EF4-FFF2-40B4-BE49-F238E27FC236}">
                <a16:creationId xmlns:a16="http://schemas.microsoft.com/office/drawing/2014/main" id="{33D9D5CE-D501-437E-94FB-5429EB2117D0}"/>
              </a:ext>
            </a:extLst>
          </p:cNvPr>
          <p:cNvSpPr>
            <a:spLocks noGrp="1"/>
          </p:cNvSpPr>
          <p:nvPr>
            <p:ph type="dt" sz="half" idx="10"/>
          </p:nvPr>
        </p:nvSpPr>
        <p:spPr>
          <a:xfrm>
            <a:off x="838200" y="6356350"/>
            <a:ext cx="3200400" cy="365125"/>
          </a:xfrm>
        </p:spPr>
        <p:txBody>
          <a:bodyPr/>
          <a:lstStyle/>
          <a:p>
            <a:r>
              <a:rPr lang="en-US" dirty="0"/>
              <a:t>VII Semester, Department of ISE, RNSIT</a:t>
            </a:r>
          </a:p>
        </p:txBody>
      </p:sp>
      <p:sp>
        <p:nvSpPr>
          <p:cNvPr id="9" name="Footer Placeholder 6">
            <a:extLst>
              <a:ext uri="{FF2B5EF4-FFF2-40B4-BE49-F238E27FC236}">
                <a16:creationId xmlns:a16="http://schemas.microsoft.com/office/drawing/2014/main" id="{1B6A0277-3ABD-406C-9A7E-9C6FB5EA279B}"/>
              </a:ext>
            </a:extLst>
          </p:cNvPr>
          <p:cNvSpPr>
            <a:spLocks noGrp="1"/>
          </p:cNvSpPr>
          <p:nvPr>
            <p:ph type="ftr" sz="quarter" idx="11"/>
          </p:nvPr>
        </p:nvSpPr>
        <p:spPr>
          <a:xfrm>
            <a:off x="4038600" y="6356350"/>
            <a:ext cx="4114800" cy="365125"/>
          </a:xfrm>
        </p:spPr>
        <p:txBody>
          <a:bodyPr/>
          <a:lstStyle/>
          <a:p>
            <a:r>
              <a:rPr lang="en-US" dirty="0"/>
              <a:t>2022 - 2023</a:t>
            </a:r>
          </a:p>
        </p:txBody>
      </p:sp>
      <p:sp>
        <p:nvSpPr>
          <p:cNvPr id="2" name="TextBox 1">
            <a:extLst>
              <a:ext uri="{FF2B5EF4-FFF2-40B4-BE49-F238E27FC236}">
                <a16:creationId xmlns:a16="http://schemas.microsoft.com/office/drawing/2014/main" id="{F0FFBEFA-BBDB-F4ED-AF69-1CE41C000B0B}"/>
              </a:ext>
            </a:extLst>
          </p:cNvPr>
          <p:cNvSpPr txBox="1"/>
          <p:nvPr/>
        </p:nvSpPr>
        <p:spPr>
          <a:xfrm>
            <a:off x="1055440" y="1340768"/>
            <a:ext cx="10585176" cy="4653646"/>
          </a:xfrm>
          <a:prstGeom prst="rect">
            <a:avLst/>
          </a:prstGeom>
          <a:noFill/>
        </p:spPr>
        <p:txBody>
          <a:bodyPr wrap="square" rtlCol="0">
            <a:spAutoFit/>
          </a:bodyPr>
          <a:lstStyle/>
          <a:p>
            <a:pPr algn="just">
              <a:lnSpc>
                <a:spcPct val="150000"/>
              </a:lnSpc>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idea of Li-Fi was introduced by Harald Haas, the teacher of University of Edinburgh in Scotland and he brought the idea of "Wireless data from every light". Haas and his re-search assistant, Mostafa Afgani, first sent data by using light signals in 2007 [1]. The term Li-Fi was first used by Haas in his TED Global talk on Visible Light Communication. He referred this light signal as D-Light which can be used to produce data rates higher than 10 megabits per second which is much faster than our average broadband connection [2]. </a:t>
            </a:r>
            <a:endParaRPr 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pPr>
            <a:r>
              <a:rPr lang="en-US" sz="20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Advantages of Li-fi:</a:t>
            </a:r>
          </a:p>
          <a:p>
            <a:pPr algn="just">
              <a:lnSpc>
                <a:spcPct val="150000"/>
              </a:lnSpc>
            </a:pPr>
            <a:r>
              <a:rPr lang="en-US"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does not need any infrastructure like GSM. It offers a much secure communication compared to RFID. It is relatively economical compared to ZigBee. It does not use the congested 2.4 GHz frequency like ZigBee. </a:t>
            </a:r>
            <a:endParaRPr lang="en-IN" sz="20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3858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FC6E-9D5D-CA50-027B-790FFEEB7A83}"/>
              </a:ext>
            </a:extLst>
          </p:cNvPr>
          <p:cNvSpPr>
            <a:spLocks noGrp="1"/>
          </p:cNvSpPr>
          <p:nvPr>
            <p:ph type="title"/>
          </p:nvPr>
        </p:nvSpPr>
        <p:spPr/>
        <p:txBody>
          <a:bodyPr>
            <a:normAutofit fontScale="90000"/>
          </a:bodyPr>
          <a:lstStyle/>
          <a:p>
            <a:pPr algn="ctr"/>
            <a:r>
              <a:rPr lang="en-US" dirty="0"/>
              <a:t>Methodology</a:t>
            </a:r>
            <a:endParaRPr lang="en-IN" dirty="0"/>
          </a:p>
        </p:txBody>
      </p:sp>
      <p:sp>
        <p:nvSpPr>
          <p:cNvPr id="3" name="Content Placeholder 2">
            <a:extLst>
              <a:ext uri="{FF2B5EF4-FFF2-40B4-BE49-F238E27FC236}">
                <a16:creationId xmlns:a16="http://schemas.microsoft.com/office/drawing/2014/main" id="{DF2AD943-424E-28A4-9664-F9B4DB10CA76}"/>
              </a:ext>
            </a:extLst>
          </p:cNvPr>
          <p:cNvSpPr>
            <a:spLocks noGrp="1"/>
          </p:cNvSpPr>
          <p:nvPr>
            <p:ph idx="1"/>
          </p:nvPr>
        </p:nvSpPr>
        <p:spPr>
          <a:xfrm>
            <a:off x="1055440" y="1340768"/>
            <a:ext cx="10515600" cy="5033842"/>
          </a:xfrm>
        </p:spPr>
        <p:txBody>
          <a:bodyPr>
            <a:noAutofit/>
          </a:bodyPr>
          <a:lstStyle/>
          <a:p>
            <a:pPr marL="0" indent="0">
              <a:lnSpc>
                <a:spcPct val="150000"/>
              </a:lnSpc>
              <a:spcAft>
                <a:spcPts val="1000"/>
              </a:spcAft>
              <a:buNone/>
            </a:pPr>
            <a:r>
              <a:rPr lang="en-US" sz="2400">
                <a:latin typeface="Times New Roman" panose="02020603050405020304" pitchFamily="18" charset="0"/>
                <a:cs typeface="Times New Roman" panose="02020603050405020304" pitchFamily="18" charset="0"/>
              </a:rPr>
              <a:t>Working Principle of Li-Fi</a:t>
            </a:r>
          </a:p>
          <a:p>
            <a:pPr marL="0" indent="0">
              <a:lnSpc>
                <a:spcPct val="150000"/>
              </a:lnSpc>
              <a:spcAft>
                <a:spcPts val="1000"/>
              </a:spcAft>
              <a:buNone/>
            </a:pPr>
            <a:r>
              <a:rPr lang="en-US" sz="2400">
                <a:latin typeface="Times New Roman" panose="02020603050405020304" pitchFamily="18" charset="0"/>
                <a:cs typeface="Times New Roman" panose="02020603050405020304" pitchFamily="18" charset="0"/>
              </a:rPr>
              <a:t>The elementary way of representing data in Li-Fi protocol is by making the intensity of the LED high, for a binary 1 and making the intensity of the LED low, for a binary 0. The variation in intensity will not affect the primary functionality of the LED fixture. Any commercially available LED fixture along with some signal processing circuit can act as Li-Fi transmitter. Similarly, a photodiode along with a demodulation circuit can act as a LiFi receiver.</a:t>
            </a:r>
            <a:endPar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Aft>
                <a:spcPts val="1000"/>
              </a:spcAft>
              <a:buNone/>
            </a:pPr>
            <a:endPar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8F69518-6811-2A83-63B5-B56BC09B6F0E}"/>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AE037233-5735-3B9F-482D-93B3AD601736}"/>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78C1D870-A8B6-AEBD-9858-3803F2CBF4B2}"/>
              </a:ext>
            </a:extLst>
          </p:cNvPr>
          <p:cNvSpPr>
            <a:spLocks noGrp="1"/>
          </p:cNvSpPr>
          <p:nvPr>
            <p:ph type="sldNum" sz="quarter" idx="12"/>
          </p:nvPr>
        </p:nvSpPr>
        <p:spPr/>
        <p:txBody>
          <a:bodyPr/>
          <a:lstStyle/>
          <a:p>
            <a:fld id="{5B4F5413-E548-45A8-B9DD-11B71454D5CA}" type="slidenum">
              <a:rPr lang="en-US" smtClean="0"/>
              <a:pPr/>
              <a:t>12</a:t>
            </a:fld>
            <a:endParaRPr lang="en-US" dirty="0"/>
          </a:p>
        </p:txBody>
      </p:sp>
    </p:spTree>
    <p:extLst>
      <p:ext uri="{BB962C8B-B14F-4D97-AF65-F5344CB8AC3E}">
        <p14:creationId xmlns:p14="http://schemas.microsoft.com/office/powerpoint/2010/main" val="1210738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FC6E-9D5D-CA50-027B-790FFEEB7A83}"/>
              </a:ext>
            </a:extLst>
          </p:cNvPr>
          <p:cNvSpPr>
            <a:spLocks noGrp="1"/>
          </p:cNvSpPr>
          <p:nvPr>
            <p:ph type="title"/>
          </p:nvPr>
        </p:nvSpPr>
        <p:spPr/>
        <p:txBody>
          <a:bodyPr>
            <a:normAutofit fontScale="90000"/>
          </a:bodyPr>
          <a:lstStyle/>
          <a:p>
            <a:pPr algn="ctr"/>
            <a:r>
              <a:rPr lang="en-US" dirty="0"/>
              <a:t>Methodology</a:t>
            </a:r>
            <a:endParaRPr lang="en-IN" dirty="0"/>
          </a:p>
        </p:txBody>
      </p:sp>
      <p:sp>
        <p:nvSpPr>
          <p:cNvPr id="3" name="Content Placeholder 2">
            <a:extLst>
              <a:ext uri="{FF2B5EF4-FFF2-40B4-BE49-F238E27FC236}">
                <a16:creationId xmlns:a16="http://schemas.microsoft.com/office/drawing/2014/main" id="{DF2AD943-424E-28A4-9664-F9B4DB10CA76}"/>
              </a:ext>
            </a:extLst>
          </p:cNvPr>
          <p:cNvSpPr>
            <a:spLocks noGrp="1"/>
          </p:cNvSpPr>
          <p:nvPr>
            <p:ph idx="1"/>
          </p:nvPr>
        </p:nvSpPr>
        <p:spPr>
          <a:xfrm>
            <a:off x="1055440" y="1340768"/>
            <a:ext cx="10515600" cy="5033842"/>
          </a:xfrm>
        </p:spPr>
        <p:txBody>
          <a:bodyPr>
            <a:noAutofit/>
          </a:bodyPr>
          <a:lstStyle/>
          <a:p>
            <a:pPr>
              <a:lnSpc>
                <a:spcPct val="150000"/>
              </a:lnSpc>
              <a:spcAft>
                <a:spcPts val="1000"/>
              </a:spcAft>
            </a:pPr>
            <a:r>
              <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Ambulance: Using the LIFI techonology for the ambulances, it becomes very easy for the vehicle to get a way at the traffic. The data is sent continuosly from the laser, the reciever is at the signal.</a:t>
            </a:r>
          </a:p>
          <a:p>
            <a:pPr>
              <a:lnSpc>
                <a:spcPct val="150000"/>
              </a:lnSpc>
              <a:spcAft>
                <a:spcPts val="1000"/>
              </a:spcAft>
            </a:pPr>
            <a:r>
              <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Signal</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 </a:t>
            </a:r>
            <a:r>
              <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traffic signal recieves the data and clears the path and the data is sent to IOT platform to communicate with hospitals indicating that the ambulance is at particular area. </a:t>
            </a:r>
          </a:p>
          <a:p>
            <a:pPr>
              <a:lnSpc>
                <a:spcPct val="150000"/>
              </a:lnSpc>
              <a:spcAft>
                <a:spcPts val="1000"/>
              </a:spcAft>
            </a:pPr>
            <a:r>
              <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Hospitals: All the hospital are connected on single IOT platform. The hospital which is nearer and available can send the message to the ambulance.</a:t>
            </a:r>
          </a:p>
        </p:txBody>
      </p:sp>
      <p:sp>
        <p:nvSpPr>
          <p:cNvPr id="4" name="Date Placeholder 3">
            <a:extLst>
              <a:ext uri="{FF2B5EF4-FFF2-40B4-BE49-F238E27FC236}">
                <a16:creationId xmlns:a16="http://schemas.microsoft.com/office/drawing/2014/main" id="{28F69518-6811-2A83-63B5-B56BC09B6F0E}"/>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AE037233-5735-3B9F-482D-93B3AD601736}"/>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78C1D870-A8B6-AEBD-9858-3803F2CBF4B2}"/>
              </a:ext>
            </a:extLst>
          </p:cNvPr>
          <p:cNvSpPr>
            <a:spLocks noGrp="1"/>
          </p:cNvSpPr>
          <p:nvPr>
            <p:ph type="sldNum" sz="quarter" idx="12"/>
          </p:nvPr>
        </p:nvSpPr>
        <p:spPr/>
        <p:txBody>
          <a:bodyPr/>
          <a:lstStyle/>
          <a:p>
            <a:fld id="{5B4F5413-E548-45A8-B9DD-11B71454D5CA}" type="slidenum">
              <a:rPr lang="en-US" smtClean="0"/>
              <a:pPr/>
              <a:t>13</a:t>
            </a:fld>
            <a:endParaRPr lang="en-US" dirty="0"/>
          </a:p>
        </p:txBody>
      </p:sp>
    </p:spTree>
    <p:extLst>
      <p:ext uri="{BB962C8B-B14F-4D97-AF65-F5344CB8AC3E}">
        <p14:creationId xmlns:p14="http://schemas.microsoft.com/office/powerpoint/2010/main" val="2505188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FCE0-81A5-E2B8-2562-2F3640712957}"/>
              </a:ext>
            </a:extLst>
          </p:cNvPr>
          <p:cNvSpPr>
            <a:spLocks noGrp="1"/>
          </p:cNvSpPr>
          <p:nvPr>
            <p:ph type="title"/>
          </p:nvPr>
        </p:nvSpPr>
        <p:spPr/>
        <p:txBody>
          <a:bodyPr>
            <a:normAutofit fontScale="90000"/>
          </a:bodyPr>
          <a:lstStyle/>
          <a:p>
            <a:pPr algn="ctr"/>
            <a:r>
              <a:rPr lang="en-US" dirty="0"/>
              <a:t> Syst</a:t>
            </a:r>
            <a:r>
              <a:rPr lang="en-US" dirty="0">
                <a:latin typeface="Times New Roman" panose="02020603050405020304" pitchFamily="18" charset="0"/>
                <a:cs typeface="Times New Roman" panose="02020603050405020304" pitchFamily="18" charset="0"/>
              </a:rPr>
              <a:t>em requirement specification</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62A93CB-9B92-EAFA-2319-03AB6D88ACDC}"/>
              </a:ext>
            </a:extLst>
          </p:cNvPr>
          <p:cNvSpPr>
            <a:spLocks noGrp="1"/>
          </p:cNvSpPr>
          <p:nvPr>
            <p:ph idx="1"/>
          </p:nvPr>
        </p:nvSpPr>
        <p:spPr/>
        <p:txBody>
          <a:bodyPr>
            <a:noAutofit/>
          </a:bodyPr>
          <a:lstStyle/>
          <a:p>
            <a:pPr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HARDWARE: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Controller(Arduino Uno)</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LASER OR LED</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Phototransistor</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LCD DISPLAY</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WIFI</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LEDs</a:t>
            </a:r>
          </a:p>
          <a:p>
            <a:pPr marL="230505" indent="0" algn="just" fontAlgn="base">
              <a:lnSpc>
                <a:spcPct val="120000"/>
              </a:lnSpc>
              <a:spcBef>
                <a:spcPts val="0"/>
              </a:spcBef>
              <a:buNone/>
            </a:pP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SOFTWARE: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ARDUINO IDE</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226695" algn="just" fontAlgn="base">
              <a:lnSpc>
                <a:spcPct val="120000"/>
              </a:lnSpc>
              <a:spcBef>
                <a:spcPts val="0"/>
              </a:spcBef>
            </a:pPr>
            <a:r>
              <a:rPr lang="en-IN"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ADAFRUIT IO(WEB application)</a:t>
            </a:r>
            <a:endParaRPr lang="en-IN" sz="2400">
              <a:effectLst/>
              <a:latin typeface="Times New Roman" panose="02020603050405020304" pitchFamily="18" charset="0"/>
              <a:ea typeface="Calibri" panose="020F0502020204030204" pitchFamily="34" charset="0"/>
              <a:cs typeface="Times New Roman" panose="02020603050405020304" pitchFamily="18" charset="0"/>
            </a:endParaRPr>
          </a:p>
          <a:p>
            <a:pPr lvl="1">
              <a:lnSpc>
                <a:spcPct val="120000"/>
              </a:lnSpc>
              <a:spcBef>
                <a:spcPts val="0"/>
              </a:spcBef>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88E72A9-6F60-914E-AA6C-6D702BA128F3}"/>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227ECB1E-E02A-D77E-BE48-3AE3BCFABF42}"/>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05CC1FCF-AB8F-8D31-3B4F-C109C1DE5C80}"/>
              </a:ext>
            </a:extLst>
          </p:cNvPr>
          <p:cNvSpPr>
            <a:spLocks noGrp="1"/>
          </p:cNvSpPr>
          <p:nvPr>
            <p:ph type="sldNum" sz="quarter" idx="12"/>
          </p:nvPr>
        </p:nvSpPr>
        <p:spPr/>
        <p:txBody>
          <a:bodyPr/>
          <a:lstStyle/>
          <a:p>
            <a:fld id="{5B4F5413-E548-45A8-B9DD-11B71454D5CA}" type="slidenum">
              <a:rPr lang="en-US" smtClean="0"/>
              <a:pPr/>
              <a:t>14</a:t>
            </a:fld>
            <a:endParaRPr lang="en-US" dirty="0"/>
          </a:p>
        </p:txBody>
      </p:sp>
    </p:spTree>
    <p:extLst>
      <p:ext uri="{BB962C8B-B14F-4D97-AF65-F5344CB8AC3E}">
        <p14:creationId xmlns:p14="http://schemas.microsoft.com/office/powerpoint/2010/main" val="2622356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D5A54-3D8A-37BA-3FEB-C62DD9DC6114}"/>
              </a:ext>
            </a:extLst>
          </p:cNvPr>
          <p:cNvSpPr>
            <a:spLocks noGrp="1"/>
          </p:cNvSpPr>
          <p:nvPr>
            <p:ph type="title"/>
          </p:nvPr>
        </p:nvSpPr>
        <p:spPr/>
        <p:txBody>
          <a:bodyPr>
            <a:normAutofit fontScale="90000"/>
          </a:bodyPr>
          <a:lstStyle/>
          <a:p>
            <a:pPr algn="ctr"/>
            <a:r>
              <a:rPr lang="en-US" dirty="0"/>
              <a:t>SYSTEM DESIGN</a:t>
            </a:r>
            <a:endParaRPr lang="en-IN" dirty="0"/>
          </a:p>
        </p:txBody>
      </p:sp>
      <p:pic>
        <p:nvPicPr>
          <p:cNvPr id="11" name="Content Placeholder 10">
            <a:extLst>
              <a:ext uri="{FF2B5EF4-FFF2-40B4-BE49-F238E27FC236}">
                <a16:creationId xmlns:a16="http://schemas.microsoft.com/office/drawing/2014/main" id="{0656C2F2-3082-04C5-8E70-CDEADFFE64E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494" t="18718" r="48888" b="48333"/>
          <a:stretch/>
        </p:blipFill>
        <p:spPr>
          <a:xfrm>
            <a:off x="765175" y="1039025"/>
            <a:ext cx="5330825" cy="5126279"/>
          </a:xfrm>
        </p:spPr>
      </p:pic>
      <p:sp>
        <p:nvSpPr>
          <p:cNvPr id="4" name="Date Placeholder 3">
            <a:extLst>
              <a:ext uri="{FF2B5EF4-FFF2-40B4-BE49-F238E27FC236}">
                <a16:creationId xmlns:a16="http://schemas.microsoft.com/office/drawing/2014/main" id="{2732DF92-C7FB-4E16-662E-18C5479DEC6C}"/>
              </a:ext>
            </a:extLst>
          </p:cNvPr>
          <p:cNvSpPr>
            <a:spLocks noGrp="1"/>
          </p:cNvSpPr>
          <p:nvPr>
            <p:ph type="dt" sz="half" idx="10"/>
          </p:nvPr>
        </p:nvSpPr>
        <p:spPr/>
        <p:txBody>
          <a:bodyPr/>
          <a:lstStyle/>
          <a:p>
            <a:r>
              <a:rPr lang="en-US" dirty="0"/>
              <a:t>VII Semester, Department of ISE, RNSIT</a:t>
            </a:r>
          </a:p>
        </p:txBody>
      </p:sp>
      <p:sp>
        <p:nvSpPr>
          <p:cNvPr id="5" name="Footer Placeholder 4">
            <a:extLst>
              <a:ext uri="{FF2B5EF4-FFF2-40B4-BE49-F238E27FC236}">
                <a16:creationId xmlns:a16="http://schemas.microsoft.com/office/drawing/2014/main" id="{EF47EEA5-D139-8EF3-B489-50E0B179573A}"/>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0C73BBE6-A1A5-DF80-A019-C499F2927461}"/>
              </a:ext>
            </a:extLst>
          </p:cNvPr>
          <p:cNvSpPr>
            <a:spLocks noGrp="1"/>
          </p:cNvSpPr>
          <p:nvPr>
            <p:ph type="sldNum" sz="quarter" idx="12"/>
          </p:nvPr>
        </p:nvSpPr>
        <p:spPr/>
        <p:txBody>
          <a:bodyPr/>
          <a:lstStyle/>
          <a:p>
            <a:fld id="{5B4F5413-E548-45A8-B9DD-11B71454D5CA}" type="slidenum">
              <a:rPr lang="en-US" smtClean="0"/>
              <a:pPr/>
              <a:t>15</a:t>
            </a:fld>
            <a:endParaRPr lang="en-US" dirty="0"/>
          </a:p>
        </p:txBody>
      </p:sp>
      <p:sp>
        <p:nvSpPr>
          <p:cNvPr id="8" name="AutoShape 2" descr="Arduino - Wikipe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descr="Buy Arduino Uno R3 with Compatible Cable Online at Low Pric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6" descr="Buy Arduino Uno R3 with Compatible Cable Online at Low Pric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A4659EE7-662B-84EE-534F-2B09EA549ECE}"/>
              </a:ext>
            </a:extLst>
          </p:cNvPr>
          <p:cNvPicPr>
            <a:picLocks noChangeAspect="1"/>
          </p:cNvPicPr>
          <p:nvPr/>
        </p:nvPicPr>
        <p:blipFill rotWithShape="1">
          <a:blip r:embed="rId3">
            <a:extLst>
              <a:ext uri="{28A0092B-C50C-407E-A947-70E740481C1C}">
                <a14:useLocalDpi xmlns:a14="http://schemas.microsoft.com/office/drawing/2010/main" val="0"/>
              </a:ext>
            </a:extLst>
          </a:blip>
          <a:srcRect l="51181" t="17450" r="32526" b="38450"/>
          <a:stretch/>
        </p:blipFill>
        <p:spPr>
          <a:xfrm>
            <a:off x="7055904" y="972202"/>
            <a:ext cx="3384376" cy="5152761"/>
          </a:xfrm>
          <a:prstGeom prst="rect">
            <a:avLst/>
          </a:prstGeom>
        </p:spPr>
      </p:pic>
    </p:spTree>
    <p:extLst>
      <p:ext uri="{BB962C8B-B14F-4D97-AF65-F5344CB8AC3E}">
        <p14:creationId xmlns:p14="http://schemas.microsoft.com/office/powerpoint/2010/main" val="2172723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52" y="404664"/>
            <a:ext cx="7467600" cy="714396"/>
          </a:xfrm>
        </p:spPr>
        <p:txBody>
          <a:bodyPr>
            <a:normAutofit/>
          </a:bodyPr>
          <a:lstStyle/>
          <a:p>
            <a:pPr algn="ctr"/>
            <a:r>
              <a:rPr lang="en-US" sz="3200" b="1" dirty="0">
                <a:solidFill>
                  <a:srgbClr val="000066"/>
                </a:solidFill>
                <a:latin typeface="+mn-lt"/>
                <a:cs typeface="Times New Roman" pitchFamily="18" charset="0"/>
              </a:rPr>
              <a:t>CONCLUSIONS</a:t>
            </a:r>
            <a:endParaRPr lang="en-IN" sz="3200" dirty="0">
              <a:solidFill>
                <a:srgbClr val="000066"/>
              </a:solidFill>
              <a:latin typeface="+mn-lt"/>
              <a:cs typeface="Times New Roman" pitchFamily="18" charset="0"/>
            </a:endParaRPr>
          </a:p>
        </p:txBody>
      </p:sp>
      <p:sp>
        <p:nvSpPr>
          <p:cNvPr id="3" name="Content Placeholder 2"/>
          <p:cNvSpPr>
            <a:spLocks noGrp="1"/>
          </p:cNvSpPr>
          <p:nvPr>
            <p:ph idx="1"/>
          </p:nvPr>
        </p:nvSpPr>
        <p:spPr>
          <a:xfrm>
            <a:off x="551384" y="1365408"/>
            <a:ext cx="11089232" cy="5292588"/>
          </a:xfrm>
        </p:spPr>
        <p:txBody>
          <a:bodyPr>
            <a:normAutofit/>
          </a:bodyPr>
          <a:lstStyle/>
          <a:p>
            <a:pPr>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Using the Li-Fi communication infrastructure various other data can also be sent from one vehicle to another.</a:t>
            </a:r>
          </a:p>
          <a:p>
            <a:pPr>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If this system is implemented in the real world, many lives can be saved as the emergency vehicles would wait for very less time in traffic jams.</a:t>
            </a:r>
          </a:p>
          <a:p>
            <a:pPr>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This can be further implemented to other emergency vehicle such as firefighter trucks and police vehicles.</a:t>
            </a: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A33232D-C5B6-4904-B0FD-67D9A472EF55}"/>
              </a:ext>
            </a:extLst>
          </p:cNvPr>
          <p:cNvSpPr>
            <a:spLocks noGrp="1"/>
          </p:cNvSpPr>
          <p:nvPr>
            <p:ph type="dt" sz="half" idx="10"/>
          </p:nvPr>
        </p:nvSpPr>
        <p:spPr/>
        <p:txBody>
          <a:bodyPr/>
          <a:lstStyle/>
          <a:p>
            <a:r>
              <a:rPr lang="en-US" dirty="0"/>
              <a:t>VII Semester, Department of ISE, RNSIT</a:t>
            </a:r>
          </a:p>
        </p:txBody>
      </p:sp>
      <p:sp>
        <p:nvSpPr>
          <p:cNvPr id="4" name="Footer Placeholder 3">
            <a:extLst>
              <a:ext uri="{FF2B5EF4-FFF2-40B4-BE49-F238E27FC236}">
                <a16:creationId xmlns:a16="http://schemas.microsoft.com/office/drawing/2014/main" id="{93F751C5-4D03-4713-B38A-E84F63B94AB2}"/>
              </a:ext>
            </a:extLst>
          </p:cNvPr>
          <p:cNvSpPr>
            <a:spLocks noGrp="1"/>
          </p:cNvSpPr>
          <p:nvPr>
            <p:ph type="ftr" sz="quarter" idx="11"/>
          </p:nvPr>
        </p:nvSpPr>
        <p:spPr/>
        <p:txBody>
          <a:bodyPr/>
          <a:lstStyle/>
          <a:p>
            <a:r>
              <a:rPr lang="en-US" dirty="0"/>
              <a:t>2022 - 2023</a:t>
            </a:r>
          </a:p>
        </p:txBody>
      </p:sp>
      <p:sp>
        <p:nvSpPr>
          <p:cNvPr id="7" name="Slide Number Placeholder 6">
            <a:extLst>
              <a:ext uri="{FF2B5EF4-FFF2-40B4-BE49-F238E27FC236}">
                <a16:creationId xmlns:a16="http://schemas.microsoft.com/office/drawing/2014/main" id="{C198CA14-345C-4F3F-85D3-748718383803}"/>
              </a:ext>
            </a:extLst>
          </p:cNvPr>
          <p:cNvSpPr>
            <a:spLocks noGrp="1"/>
          </p:cNvSpPr>
          <p:nvPr>
            <p:ph type="sldNum" sz="quarter" idx="12"/>
          </p:nvPr>
        </p:nvSpPr>
        <p:spPr/>
        <p:txBody>
          <a:bodyPr/>
          <a:lstStyle/>
          <a:p>
            <a:fld id="{5B4F5413-E548-45A8-B9DD-11B71454D5C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400" y="136525"/>
            <a:ext cx="10658400" cy="6219825"/>
          </a:xfrm>
        </p:spPr>
        <p:txBody>
          <a:bodyPr>
            <a:normAutofit/>
          </a:bodyPr>
          <a:lstStyle/>
          <a:p>
            <a:pPr algn="ctr">
              <a:buNone/>
            </a:pPr>
            <a:r>
              <a:rPr lang="en-US" sz="3800" b="1" dirty="0">
                <a:solidFill>
                  <a:srgbClr val="000066"/>
                </a:solidFill>
                <a:cs typeface="Times New Roman" pitchFamily="18" charset="0"/>
              </a:rPr>
              <a:t>REFERENCES</a:t>
            </a:r>
          </a:p>
          <a:p>
            <a:pPr>
              <a:buNone/>
            </a:pPr>
            <a:r>
              <a:rPr lang="en-US" sz="1800" dirty="0">
                <a:solidFill>
                  <a:schemeClr val="tx1">
                    <a:lumMod val="75000"/>
                    <a:lumOff val="25000"/>
                  </a:schemeClr>
                </a:solidFill>
              </a:rPr>
              <a:t> </a:t>
            </a:r>
          </a:p>
          <a:p>
            <a:pPr marR="433070" indent="0" algn="just">
              <a:spcBef>
                <a:spcPts val="720"/>
              </a:spcBef>
              <a:buNone/>
            </a:pPr>
            <a:r>
              <a:rPr lang="en-US" sz="1600" dirty="0">
                <a:effectLst/>
                <a:latin typeface="Times New Roman" panose="02020603050405020304" pitchFamily="18" charset="0"/>
                <a:ea typeface="Times New Roman" panose="02020603050405020304" pitchFamily="18" charset="0"/>
              </a:rPr>
              <a:t>[1</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2"/>
              </a:rPr>
              <a:t>https://ieeexplore.ieee.org/document/7824811</a:t>
            </a:r>
            <a:endParaRPr lang="en-US" sz="1600">
              <a:latin typeface="Times New Roman" panose="02020603050405020304" pitchFamily="18" charset="0"/>
              <a:ea typeface="Times New Roman" panose="02020603050405020304" pitchFamily="18" charset="0"/>
            </a:endParaRP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[2</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3"/>
              </a:rPr>
              <a:t>https://ieeexplore.ieee.org/document/6936857</a:t>
            </a:r>
            <a:endParaRPr lang="en-US" sz="1600">
              <a:latin typeface="Times New Roman" panose="02020603050405020304" pitchFamily="18" charset="0"/>
              <a:ea typeface="Times New Roman" panose="02020603050405020304" pitchFamily="18" charset="0"/>
            </a:endParaRP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[3</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4"/>
              </a:rPr>
              <a:t>https://ieeexplore.ieee.org/document/8261399</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[4</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5"/>
              </a:rPr>
              <a:t>https://ieeexplore.ieee.org/document/8284579</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[5</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6"/>
              </a:rPr>
              <a:t>https://ieeexplore.ieee.org/document/6649290</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[6</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7"/>
              </a:rPr>
              <a:t>https://ieeexplore.ieee.org/document/6634030</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[7</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8"/>
              </a:rPr>
              <a:t>https://ieeexplore.ieee.org/document/9213796</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[8</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9"/>
              </a:rPr>
              <a:t>https://ieeexplore.ieee.org/document/9299175</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[9</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0"/>
              </a:rPr>
              <a:t>https://ieeexplore.ieee.org/document/7972307</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[10</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1"/>
              </a:rPr>
              <a:t>https://ieeexplore.ieee.org/document/8024976</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[11</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2"/>
              </a:rPr>
              <a:t>https://ieeexplore.ieee.org/document/8450245</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[12</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3"/>
              </a:rPr>
              <a:t>https://ieeexplore.ieee.org/document/8479427</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[13</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4"/>
              </a:rPr>
              <a:t>https://ijiset.com/vol2/v2s4/IJISET_V2_I4_209.pdf</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[14</a:t>
            </a:r>
            <a:r>
              <a:rPr lang="en-US" sz="1600">
                <a:latin typeface="Times New Roman" panose="02020603050405020304" pitchFamily="18" charset="0"/>
                <a:ea typeface="Times New Roman" panose="02020603050405020304" pitchFamily="18" charset="0"/>
              </a:rPr>
              <a:t>] </a:t>
            </a:r>
            <a:r>
              <a:rPr lang="en-US" sz="1600">
                <a:latin typeface="Times New Roman" panose="02020603050405020304" pitchFamily="18" charset="0"/>
                <a:ea typeface="Times New Roman" panose="02020603050405020304" pitchFamily="18" charset="0"/>
                <a:hlinkClick r:id="rId15"/>
              </a:rPr>
              <a:t>https://www.researchgate.net/publication/318332312_Li-Fi_technology_in_traffic_light</a:t>
            </a:r>
            <a:endParaRPr lang="en-US" sz="1600">
              <a:latin typeface="Times New Roman" panose="02020603050405020304" pitchFamily="18" charset="0"/>
              <a:ea typeface="Times New Roman" panose="02020603050405020304" pitchFamily="18" charset="0"/>
            </a:endParaRPr>
          </a:p>
          <a:p>
            <a:pPr marR="433070" indent="0" algn="just">
              <a:spcBef>
                <a:spcPts val="720"/>
              </a:spcBef>
              <a:buNone/>
            </a:pPr>
            <a:r>
              <a:rPr lang="en-US" sz="1600">
                <a:effectLst/>
                <a:latin typeface="Times New Roman" panose="02020603050405020304" pitchFamily="18" charset="0"/>
                <a:ea typeface="Times New Roman" panose="02020603050405020304" pitchFamily="18" charset="0"/>
              </a:rPr>
              <a:t>[15</a:t>
            </a:r>
            <a:r>
              <a:rPr lang="en-US" sz="1600">
                <a:latin typeface="Times New Roman" panose="02020603050405020304" pitchFamily="18" charset="0"/>
                <a:ea typeface="Times New Roman" panose="02020603050405020304" pitchFamily="18" charset="0"/>
              </a:rPr>
              <a:t>]</a:t>
            </a:r>
            <a:r>
              <a:rPr lang="en-US" sz="1600">
                <a:latin typeface="Times New Roman" panose="02020603050405020304" pitchFamily="18" charset="0"/>
                <a:ea typeface="Times New Roman" panose="02020603050405020304" pitchFamily="18" charset="0"/>
                <a:hlinkClick r:id="rId16"/>
              </a:rPr>
              <a:t>https://www.semanticscholar.org/paper/Intelligent-traffic-signal-control-system-for-using-Saradha-Vijayshri/070d54df9226739015d3a109250285db1cf0cfb4</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r>
              <a:rPr lang="en-US" sz="1600">
                <a:latin typeface="Times New Roman" panose="02020603050405020304" pitchFamily="18" charset="0"/>
                <a:ea typeface="Times New Roman" panose="02020603050405020304" pitchFamily="18" charset="0"/>
              </a:rPr>
              <a:t>[16] </a:t>
            </a:r>
            <a:r>
              <a:rPr lang="en-US" sz="1600">
                <a:latin typeface="Times New Roman" panose="02020603050405020304" pitchFamily="18" charset="0"/>
                <a:ea typeface="Times New Roman" panose="02020603050405020304" pitchFamily="18" charset="0"/>
                <a:hlinkClick r:id="rId17"/>
              </a:rPr>
              <a:t>https://www.youtube.com/watch?v=iHWIZsIBj3Q&amp;ab_channel=TED</a:t>
            </a:r>
            <a:r>
              <a:rPr lang="en-US" sz="1600">
                <a:latin typeface="Times New Roman" panose="02020603050405020304" pitchFamily="18" charset="0"/>
                <a:ea typeface="Times New Roman" panose="02020603050405020304" pitchFamily="18" charset="0"/>
              </a:rPr>
              <a:t> </a:t>
            </a:r>
          </a:p>
          <a:p>
            <a:pPr marR="433070" indent="0" algn="just">
              <a:spcBef>
                <a:spcPts val="720"/>
              </a:spcBef>
              <a:buNone/>
            </a:pPr>
            <a:endParaRPr lang="en-US" sz="1800" dirty="0">
              <a:solidFill>
                <a:schemeClr val="accent5">
                  <a:lumMod val="75000"/>
                </a:schemeClr>
              </a:solidFill>
              <a:latin typeface="Times New Roman" panose="02020603050405020304" pitchFamily="18" charset="0"/>
              <a:ea typeface="Times New Roman" panose="02020603050405020304" pitchFamily="18" charset="0"/>
            </a:endParaRPr>
          </a:p>
          <a:p>
            <a:pPr marR="433070" indent="0" algn="just">
              <a:spcBef>
                <a:spcPts val="720"/>
              </a:spcBef>
              <a:buNone/>
            </a:pPr>
            <a:endParaRPr lang="en-US" sz="1800" b="1" dirty="0">
              <a:latin typeface="Times New Roman" panose="02020603050405020304" pitchFamily="18" charset="0"/>
              <a:ea typeface="Times New Roman" panose="02020603050405020304" pitchFamily="18" charset="0"/>
            </a:endParaRPr>
          </a:p>
          <a:p>
            <a:pPr marR="433070" indent="0" algn="just">
              <a:spcBef>
                <a:spcPts val="720"/>
              </a:spcBef>
              <a:buNone/>
            </a:pPr>
            <a:endParaRPr lang="en-US" sz="1800" dirty="0">
              <a:latin typeface="Times New Roman" panose="02020603050405020304" pitchFamily="18" charset="0"/>
              <a:ea typeface="Times New Roman" panose="02020603050405020304" pitchFamily="18" charset="0"/>
            </a:endParaRPr>
          </a:p>
          <a:p>
            <a:pPr marR="433070" indent="0" algn="just">
              <a:spcBef>
                <a:spcPts val="720"/>
              </a:spcBef>
              <a:buNone/>
            </a:pPr>
            <a:endParaRPr lang="en-US" sz="1800" dirty="0">
              <a:latin typeface="Times New Roman" panose="02020603050405020304" pitchFamily="18" charset="0"/>
              <a:ea typeface="Times New Roman" panose="02020603050405020304" pitchFamily="18" charset="0"/>
            </a:endParaRPr>
          </a:p>
          <a:p>
            <a:pPr marR="433070" indent="0" algn="just">
              <a:spcBef>
                <a:spcPts val="720"/>
              </a:spcBef>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US" sz="2000" dirty="0">
              <a:solidFill>
                <a:schemeClr val="tx1">
                  <a:lumMod val="75000"/>
                  <a:lumOff val="25000"/>
                </a:schemeClr>
              </a:solidFill>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A7C2A149-87F3-4546-B37B-612BD139184B}"/>
              </a:ext>
            </a:extLst>
          </p:cNvPr>
          <p:cNvSpPr>
            <a:spLocks noGrp="1"/>
          </p:cNvSpPr>
          <p:nvPr>
            <p:ph type="dt" sz="half" idx="10"/>
          </p:nvPr>
        </p:nvSpPr>
        <p:spPr/>
        <p:txBody>
          <a:bodyPr/>
          <a:lstStyle/>
          <a:p>
            <a:r>
              <a:rPr lang="en-US" dirty="0"/>
              <a:t>VII Semester, Department of ISE, RNSIT</a:t>
            </a:r>
          </a:p>
        </p:txBody>
      </p:sp>
      <p:sp>
        <p:nvSpPr>
          <p:cNvPr id="2" name="Footer Placeholder 1">
            <a:extLst>
              <a:ext uri="{FF2B5EF4-FFF2-40B4-BE49-F238E27FC236}">
                <a16:creationId xmlns:a16="http://schemas.microsoft.com/office/drawing/2014/main" id="{DFA78DEB-6914-4A76-B9B4-66FB89B00F93}"/>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8351C7A7-D0BC-42EC-8035-D91B8D8A8121}"/>
              </a:ext>
            </a:extLst>
          </p:cNvPr>
          <p:cNvSpPr>
            <a:spLocks noGrp="1"/>
          </p:cNvSpPr>
          <p:nvPr>
            <p:ph type="sldNum" sz="quarter" idx="12"/>
          </p:nvPr>
        </p:nvSpPr>
        <p:spPr/>
        <p:txBody>
          <a:bodyPr/>
          <a:lstStyle/>
          <a:p>
            <a:fld id="{5B4F5413-E548-45A8-B9DD-11B71454D5CA}"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9616" y="2458552"/>
            <a:ext cx="6553200" cy="754424"/>
          </a:xfrm>
        </p:spPr>
        <p:txBody>
          <a:bodyPr>
            <a:normAutofit/>
          </a:bodyPr>
          <a:lstStyle/>
          <a:p>
            <a:pPr algn="ctr"/>
            <a:r>
              <a:rPr lang="en-US" sz="4800" b="1" dirty="0">
                <a:ln w="10541" cmpd="sng">
                  <a:solidFill>
                    <a:schemeClr val="accent1">
                      <a:shade val="88000"/>
                      <a:satMod val="110000"/>
                    </a:schemeClr>
                  </a:solidFill>
                  <a:prstDash val="solid"/>
                </a:ln>
                <a:solidFill>
                  <a:srgbClr val="000066"/>
                </a:solidFill>
              </a:rPr>
              <a:t>THANK YOU</a:t>
            </a:r>
          </a:p>
        </p:txBody>
      </p:sp>
      <p:sp>
        <p:nvSpPr>
          <p:cNvPr id="4" name="Date Placeholder 3">
            <a:extLst>
              <a:ext uri="{FF2B5EF4-FFF2-40B4-BE49-F238E27FC236}">
                <a16:creationId xmlns:a16="http://schemas.microsoft.com/office/drawing/2014/main" id="{4F225990-F38C-4DDC-86BA-7F06ABDAFCC0}"/>
              </a:ext>
            </a:extLst>
          </p:cNvPr>
          <p:cNvSpPr>
            <a:spLocks noGrp="1"/>
          </p:cNvSpPr>
          <p:nvPr>
            <p:ph type="dt" sz="half" idx="10"/>
          </p:nvPr>
        </p:nvSpPr>
        <p:spPr/>
        <p:txBody>
          <a:bodyPr/>
          <a:lstStyle/>
          <a:p>
            <a:r>
              <a:rPr lang="en-US" dirty="0"/>
              <a:t>VII Semester, Department of ISE, RNSIT</a:t>
            </a:r>
          </a:p>
        </p:txBody>
      </p:sp>
      <p:sp>
        <p:nvSpPr>
          <p:cNvPr id="3" name="Footer Placeholder 2">
            <a:extLst>
              <a:ext uri="{FF2B5EF4-FFF2-40B4-BE49-F238E27FC236}">
                <a16:creationId xmlns:a16="http://schemas.microsoft.com/office/drawing/2014/main" id="{6E55FA4F-0ACB-4158-BB75-7AD52B710C35}"/>
              </a:ext>
            </a:extLst>
          </p:cNvPr>
          <p:cNvSpPr>
            <a:spLocks noGrp="1"/>
          </p:cNvSpPr>
          <p:nvPr>
            <p:ph type="ftr" sz="quarter" idx="11"/>
          </p:nvPr>
        </p:nvSpPr>
        <p:spPr/>
        <p:txBody>
          <a:bodyPr/>
          <a:lstStyle/>
          <a:p>
            <a:r>
              <a:rPr lang="en-US" dirty="0"/>
              <a:t>2022 - 2023</a:t>
            </a:r>
          </a:p>
        </p:txBody>
      </p:sp>
      <p:sp>
        <p:nvSpPr>
          <p:cNvPr id="6" name="Slide Number Placeholder 5">
            <a:extLst>
              <a:ext uri="{FF2B5EF4-FFF2-40B4-BE49-F238E27FC236}">
                <a16:creationId xmlns:a16="http://schemas.microsoft.com/office/drawing/2014/main" id="{CD602A3F-45C8-46FF-A99F-20E606B7B72B}"/>
              </a:ext>
            </a:extLst>
          </p:cNvPr>
          <p:cNvSpPr>
            <a:spLocks noGrp="1"/>
          </p:cNvSpPr>
          <p:nvPr>
            <p:ph type="sldNum" sz="quarter" idx="12"/>
          </p:nvPr>
        </p:nvSpPr>
        <p:spPr/>
        <p:txBody>
          <a:bodyPr/>
          <a:lstStyle/>
          <a:p>
            <a:fld id="{5B4F5413-E548-45A8-B9DD-11B71454D5CA}" type="slidenum">
              <a:rPr lang="en-US" smtClean="0"/>
              <a:pPr/>
              <a:t>18</a:t>
            </a:fld>
            <a:endParaRPr lang="en-US" dirty="0"/>
          </a:p>
        </p:txBody>
      </p:sp>
    </p:spTree>
    <p:extLst>
      <p:ext uri="{BB962C8B-B14F-4D97-AF65-F5344CB8AC3E}">
        <p14:creationId xmlns:p14="http://schemas.microsoft.com/office/powerpoint/2010/main" val="1270399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4167</TotalTime>
  <Words>2574</Words>
  <Application>Microsoft Office PowerPoint</Application>
  <PresentationFormat>Widescreen</PresentationFormat>
  <Paragraphs>245</Paragraphs>
  <Slides>18</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Calibri Light</vt:lpstr>
      <vt:lpstr>Times New Roman</vt:lpstr>
      <vt:lpstr>Wingdings</vt:lpstr>
      <vt:lpstr>Office Theme</vt:lpstr>
      <vt:lpstr>1_Office Theme</vt:lpstr>
      <vt:lpstr>Li-Fi Based Automatic Traffic Signal Control for Emergency Vehicles</vt:lpstr>
      <vt:lpstr>AGENDA</vt:lpstr>
      <vt:lpstr>ABSTRACT </vt:lpstr>
      <vt:lpstr>INTRODUCTION </vt:lpstr>
      <vt:lpstr>Objectives</vt:lpstr>
      <vt:lpstr>Problem Statement</vt:lpstr>
      <vt:lpstr>PowerPoint Presentation</vt:lpstr>
      <vt:lpstr>PowerPoint Presentation</vt:lpstr>
      <vt:lpstr>PowerPoint Presentation</vt:lpstr>
      <vt:lpstr>PowerPoint Presentation</vt:lpstr>
      <vt:lpstr>PowerPoint Presentation</vt:lpstr>
      <vt:lpstr>Methodology</vt:lpstr>
      <vt:lpstr>Methodology</vt:lpstr>
      <vt:lpstr> System requirement specification </vt:lpstr>
      <vt:lpstr>SYSTEM DESIGN</vt:lpstr>
      <vt:lpstr>CONCLUSIONS</vt:lpstr>
      <vt:lpstr>PowerPoint Presentation</vt:lpstr>
      <vt:lpstr>THANK YOU</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Amardeep Kumar</cp:lastModifiedBy>
  <cp:revision>357</cp:revision>
  <dcterms:created xsi:type="dcterms:W3CDTF">2015-10-29T14:36:38Z</dcterms:created>
  <dcterms:modified xsi:type="dcterms:W3CDTF">2022-12-26T03:21:41Z</dcterms:modified>
</cp:coreProperties>
</file>