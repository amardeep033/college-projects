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8"/>
  </p:notesMasterIdLst>
  <p:sldIdLst>
    <p:sldId id="256" r:id="rId2"/>
    <p:sldId id="287" r:id="rId3"/>
    <p:sldId id="257" r:id="rId4"/>
    <p:sldId id="340" r:id="rId5"/>
    <p:sldId id="351" r:id="rId6"/>
    <p:sldId id="379" r:id="rId7"/>
    <p:sldId id="299" r:id="rId8"/>
    <p:sldId id="375" r:id="rId9"/>
    <p:sldId id="376" r:id="rId10"/>
    <p:sldId id="377" r:id="rId11"/>
    <p:sldId id="378" r:id="rId12"/>
    <p:sldId id="369" r:id="rId13"/>
    <p:sldId id="370" r:id="rId14"/>
    <p:sldId id="371" r:id="rId15"/>
    <p:sldId id="381" r:id="rId16"/>
    <p:sldId id="380" r:id="rId17"/>
    <p:sldId id="374" r:id="rId18"/>
    <p:sldId id="385" r:id="rId19"/>
    <p:sldId id="386" r:id="rId20"/>
    <p:sldId id="387" r:id="rId21"/>
    <p:sldId id="391" r:id="rId22"/>
    <p:sldId id="388" r:id="rId23"/>
    <p:sldId id="384" r:id="rId24"/>
    <p:sldId id="344" r:id="rId25"/>
    <p:sldId id="347" r:id="rId26"/>
    <p:sldId id="348" r:id="rId27"/>
    <p:sldId id="361" r:id="rId28"/>
    <p:sldId id="392" r:id="rId29"/>
    <p:sldId id="393" r:id="rId30"/>
    <p:sldId id="383" r:id="rId31"/>
    <p:sldId id="275" r:id="rId32"/>
    <p:sldId id="346" r:id="rId33"/>
    <p:sldId id="270" r:id="rId34"/>
    <p:sldId id="367" r:id="rId35"/>
    <p:sldId id="271" r:id="rId36"/>
    <p:sldId id="320"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5FF3"/>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9822" autoAdjust="0"/>
  </p:normalViewPr>
  <p:slideViewPr>
    <p:cSldViewPr>
      <p:cViewPr varScale="1">
        <p:scale>
          <a:sx n="85" d="100"/>
          <a:sy n="85" d="100"/>
        </p:scale>
        <p:origin x="581" y="6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73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F9B3BC-7FCA-4166-96E5-654288EED0B0}" type="datetimeFigureOut">
              <a:rPr lang="en-US" smtClean="0"/>
              <a:pPr/>
              <a:t>5/8/2023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96B92D-2A32-4C16-979B-071562DB202E}" type="slidenum">
              <a:rPr lang="en-US" smtClean="0"/>
              <a:pPr/>
              <a:t>‹#›</a:t>
            </a:fld>
            <a:endParaRPr lang="en-US" dirty="0"/>
          </a:p>
        </p:txBody>
      </p:sp>
    </p:spTree>
    <p:extLst>
      <p:ext uri="{BB962C8B-B14F-4D97-AF65-F5344CB8AC3E}">
        <p14:creationId xmlns:p14="http://schemas.microsoft.com/office/powerpoint/2010/main" val="726847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a:t>
            </a:fld>
            <a:endParaRPr lang="en-US" dirty="0"/>
          </a:p>
        </p:txBody>
      </p:sp>
    </p:spTree>
    <p:extLst>
      <p:ext uri="{BB962C8B-B14F-4D97-AF65-F5344CB8AC3E}">
        <p14:creationId xmlns:p14="http://schemas.microsoft.com/office/powerpoint/2010/main" val="312895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23</a:t>
            </a:fld>
            <a:endParaRPr lang="en-US" dirty="0"/>
          </a:p>
        </p:txBody>
      </p:sp>
    </p:spTree>
    <p:extLst>
      <p:ext uri="{BB962C8B-B14F-4D97-AF65-F5344CB8AC3E}">
        <p14:creationId xmlns:p14="http://schemas.microsoft.com/office/powerpoint/2010/main" val="3959627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24</a:t>
            </a:fld>
            <a:endParaRPr lang="en-US" dirty="0"/>
          </a:p>
        </p:txBody>
      </p:sp>
    </p:spTree>
    <p:extLst>
      <p:ext uri="{BB962C8B-B14F-4D97-AF65-F5344CB8AC3E}">
        <p14:creationId xmlns:p14="http://schemas.microsoft.com/office/powerpoint/2010/main" val="1296442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25</a:t>
            </a:fld>
            <a:endParaRPr lang="en-US" dirty="0"/>
          </a:p>
        </p:txBody>
      </p:sp>
    </p:spTree>
    <p:extLst>
      <p:ext uri="{BB962C8B-B14F-4D97-AF65-F5344CB8AC3E}">
        <p14:creationId xmlns:p14="http://schemas.microsoft.com/office/powerpoint/2010/main" val="2784725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26</a:t>
            </a:fld>
            <a:endParaRPr lang="en-US" dirty="0"/>
          </a:p>
        </p:txBody>
      </p:sp>
    </p:spTree>
    <p:extLst>
      <p:ext uri="{BB962C8B-B14F-4D97-AF65-F5344CB8AC3E}">
        <p14:creationId xmlns:p14="http://schemas.microsoft.com/office/powerpoint/2010/main" val="1641826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31</a:t>
            </a:fld>
            <a:endParaRPr lang="en-US" dirty="0"/>
          </a:p>
        </p:txBody>
      </p:sp>
    </p:spTree>
    <p:extLst>
      <p:ext uri="{BB962C8B-B14F-4D97-AF65-F5344CB8AC3E}">
        <p14:creationId xmlns:p14="http://schemas.microsoft.com/office/powerpoint/2010/main" val="1784430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32</a:t>
            </a:fld>
            <a:endParaRPr lang="en-US" dirty="0"/>
          </a:p>
        </p:txBody>
      </p:sp>
    </p:spTree>
    <p:extLst>
      <p:ext uri="{BB962C8B-B14F-4D97-AF65-F5344CB8AC3E}">
        <p14:creationId xmlns:p14="http://schemas.microsoft.com/office/powerpoint/2010/main" val="1963588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530802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278666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664906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VIII Semester, Department of ISE, RNSIT</a:t>
            </a:r>
            <a:endParaRPr lang="en-US" dirty="0"/>
          </a:p>
        </p:txBody>
      </p:sp>
      <p:sp>
        <p:nvSpPr>
          <p:cNvPr id="6" name="Footer Placeholder 5"/>
          <p:cNvSpPr>
            <a:spLocks noGrp="1"/>
          </p:cNvSpPr>
          <p:nvPr>
            <p:ph type="ftr" sz="quarter" idx="11"/>
          </p:nvPr>
        </p:nvSpPr>
        <p:spPr/>
        <p:txBody>
          <a:bodyPr/>
          <a:lstStyle/>
          <a:p>
            <a:r>
              <a:rPr lang="en-US"/>
              <a:t>2021 - 2022</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386808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VIII Semester, Department of ISE, RNSIT</a:t>
            </a:r>
            <a:endParaRPr lang="en-US" dirty="0"/>
          </a:p>
        </p:txBody>
      </p:sp>
      <p:sp>
        <p:nvSpPr>
          <p:cNvPr id="8" name="Footer Placeholder 7"/>
          <p:cNvSpPr>
            <a:spLocks noGrp="1"/>
          </p:cNvSpPr>
          <p:nvPr>
            <p:ph type="ftr" sz="quarter" idx="11"/>
          </p:nvPr>
        </p:nvSpPr>
        <p:spPr/>
        <p:txBody>
          <a:bodyPr/>
          <a:lstStyle/>
          <a:p>
            <a:r>
              <a:rPr lang="en-US"/>
              <a:t>2021 - 2022</a:t>
            </a:r>
            <a:endParaRPr lang="en-US" dirty="0"/>
          </a:p>
        </p:txBody>
      </p:sp>
      <p:sp>
        <p:nvSpPr>
          <p:cNvPr id="9" name="Slide Number Placeholder 8"/>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3308574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VIII Semester, Department of ISE, RNSIT</a:t>
            </a:r>
            <a:endParaRPr lang="en-US" dirty="0"/>
          </a:p>
        </p:txBody>
      </p:sp>
      <p:sp>
        <p:nvSpPr>
          <p:cNvPr id="4" name="Footer Placeholder 3"/>
          <p:cNvSpPr>
            <a:spLocks noGrp="1"/>
          </p:cNvSpPr>
          <p:nvPr>
            <p:ph type="ftr" sz="quarter" idx="11"/>
          </p:nvPr>
        </p:nvSpPr>
        <p:spPr/>
        <p:txBody>
          <a:bodyPr/>
          <a:lstStyle/>
          <a:p>
            <a:r>
              <a:rPr lang="en-US"/>
              <a:t>2021 - 2022</a:t>
            </a:r>
            <a:endParaRPr lang="en-US" dirty="0"/>
          </a:p>
        </p:txBody>
      </p:sp>
      <p:sp>
        <p:nvSpPr>
          <p:cNvPr id="5" name="Slide Number Placeholder 4"/>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644670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VIII Semester, Department of ISE, RNSIT</a:t>
            </a:r>
            <a:endParaRPr lang="en-US" dirty="0"/>
          </a:p>
        </p:txBody>
      </p:sp>
      <p:sp>
        <p:nvSpPr>
          <p:cNvPr id="3" name="Footer Placeholder 2"/>
          <p:cNvSpPr>
            <a:spLocks noGrp="1"/>
          </p:cNvSpPr>
          <p:nvPr>
            <p:ph type="ftr" sz="quarter" idx="11"/>
          </p:nvPr>
        </p:nvSpPr>
        <p:spPr/>
        <p:txBody>
          <a:bodyPr/>
          <a:lstStyle/>
          <a:p>
            <a:r>
              <a:rPr lang="en-US"/>
              <a:t>2021 - 2022</a:t>
            </a:r>
            <a:endParaRPr lang="en-US" dirty="0"/>
          </a:p>
        </p:txBody>
      </p:sp>
      <p:sp>
        <p:nvSpPr>
          <p:cNvPr id="4" name="Slide Number Placeholder 3"/>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61199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VIII Semester, Department of ISE, RNSIT</a:t>
            </a:r>
            <a:endParaRPr lang="en-US" dirty="0"/>
          </a:p>
        </p:txBody>
      </p:sp>
      <p:sp>
        <p:nvSpPr>
          <p:cNvPr id="6" name="Footer Placeholder 5"/>
          <p:cNvSpPr>
            <a:spLocks noGrp="1"/>
          </p:cNvSpPr>
          <p:nvPr>
            <p:ph type="ftr" sz="quarter" idx="11"/>
          </p:nvPr>
        </p:nvSpPr>
        <p:spPr/>
        <p:txBody>
          <a:bodyPr/>
          <a:lstStyle/>
          <a:p>
            <a:r>
              <a:rPr lang="en-US"/>
              <a:t>2021 - 2022</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355983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VIII Semester, Department of ISE, RNSIT</a:t>
            </a:r>
            <a:endParaRPr lang="en-US" dirty="0"/>
          </a:p>
        </p:txBody>
      </p:sp>
      <p:sp>
        <p:nvSpPr>
          <p:cNvPr id="6" name="Footer Placeholder 5"/>
          <p:cNvSpPr>
            <a:spLocks noGrp="1"/>
          </p:cNvSpPr>
          <p:nvPr>
            <p:ph type="ftr" sz="quarter" idx="11"/>
          </p:nvPr>
        </p:nvSpPr>
        <p:spPr/>
        <p:txBody>
          <a:bodyPr/>
          <a:lstStyle/>
          <a:p>
            <a:r>
              <a:rPr lang="en-US"/>
              <a:t>2021 - 2022</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687644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793900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147940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69416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190898"/>
            <a:ext cx="10515600" cy="50338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3200400" cy="365125"/>
          </a:xfrm>
          <a:prstGeom prst="rect">
            <a:avLst/>
          </a:prstGeom>
        </p:spPr>
        <p:txBody>
          <a:bodyPr vert="horz" lIns="91440" tIns="45720" rIns="91440" bIns="45720" rtlCol="0" anchor="ctr"/>
          <a:lstStyle>
            <a:lvl1pPr algn="l">
              <a:defRPr sz="1200" b="1">
                <a:solidFill>
                  <a:srgbClr val="2B5FF3"/>
                </a:solidFill>
              </a:defRPr>
            </a:lvl1pPr>
          </a:lstStyle>
          <a:p>
            <a:r>
              <a:rPr lang="en-US"/>
              <a:t>VIII Semester, Department of ISE, RNSIT</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a:solidFill>
                  <a:srgbClr val="2B5FF3"/>
                </a:solidFill>
              </a:defRPr>
            </a:lvl1pPr>
          </a:lstStyle>
          <a:p>
            <a:r>
              <a:rPr lang="en-US"/>
              <a:t>2021 - 2022</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rgbClr val="2B5FF3"/>
                </a:solidFill>
              </a:defRPr>
            </a:lvl1pPr>
          </a:lstStyle>
          <a:p>
            <a:fld id="{5B4F5413-E548-45A8-B9DD-11B71454D5CA}"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AFC93F2D-9111-4E77-98B1-F1ACD37A82C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838094" cy="548680"/>
          </a:xfrm>
          <a:prstGeom prst="rect">
            <a:avLst/>
          </a:prstGeom>
        </p:spPr>
      </p:pic>
      <p:pic>
        <p:nvPicPr>
          <p:cNvPr id="8" name="Picture 7" descr="A picture containing calendar&#10;&#10;Description automatically generated">
            <a:extLst>
              <a:ext uri="{FF2B5EF4-FFF2-40B4-BE49-F238E27FC236}">
                <a16:creationId xmlns:a16="http://schemas.microsoft.com/office/drawing/2014/main" id="{937059C3-335C-47D5-99C1-8813DA15D672}"/>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476139" y="18044"/>
            <a:ext cx="693483" cy="694162"/>
          </a:xfrm>
          <a:prstGeom prst="rect">
            <a:avLst/>
          </a:prstGeom>
        </p:spPr>
      </p:pic>
    </p:spTree>
    <p:extLst>
      <p:ext uri="{BB962C8B-B14F-4D97-AF65-F5344CB8AC3E}">
        <p14:creationId xmlns:p14="http://schemas.microsoft.com/office/powerpoint/2010/main" val="95455656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90000"/>
        </a:lnSpc>
        <a:spcBef>
          <a:spcPct val="0"/>
        </a:spcBef>
        <a:buNone/>
        <a:defRPr sz="4400" b="1" kern="1200">
          <a:solidFill>
            <a:srgbClr val="00206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ieeexplore.ieee.org/author/37077598300" TargetMode="External"/><Relationship Id="rId2" Type="http://schemas.openxmlformats.org/officeDocument/2006/relationships/hyperlink" Target="https://ieeexplore.ieee.org/author/37077329900" TargetMode="External"/><Relationship Id="rId1" Type="http://schemas.openxmlformats.org/officeDocument/2006/relationships/slideLayout" Target="../slideLayouts/slideLayout2.xml"/><Relationship Id="rId4" Type="http://schemas.openxmlformats.org/officeDocument/2006/relationships/hyperlink" Target="https://ieeexplore.ieee.org/author/37077371500"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ieeexplore.ieee.org/author/37086304164" TargetMode="External"/><Relationship Id="rId2" Type="http://schemas.openxmlformats.org/officeDocument/2006/relationships/hyperlink" Target="https://ieeexplore.ieee.org/author/37087590463" TargetMode="External"/><Relationship Id="rId1" Type="http://schemas.openxmlformats.org/officeDocument/2006/relationships/slideLayout" Target="../slideLayouts/slideLayout2.xml"/><Relationship Id="rId5" Type="http://schemas.openxmlformats.org/officeDocument/2006/relationships/hyperlink" Target="https://ieeexplore.ieee.org/author/37085872096" TargetMode="External"/><Relationship Id="rId4" Type="http://schemas.openxmlformats.org/officeDocument/2006/relationships/hyperlink" Target="https://ieeexplore.ieee.org/author/37064767800"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ieeexplore.ieee.org/author/37086288384" TargetMode="External"/><Relationship Id="rId7" Type="http://schemas.openxmlformats.org/officeDocument/2006/relationships/hyperlink" Target="https://ieeexplore.ieee.org/author/37085424285" TargetMode="External"/><Relationship Id="rId2" Type="http://schemas.openxmlformats.org/officeDocument/2006/relationships/hyperlink" Target="https://ieeexplore.ieee.org/author/37086294717" TargetMode="External"/><Relationship Id="rId1" Type="http://schemas.openxmlformats.org/officeDocument/2006/relationships/slideLayout" Target="../slideLayouts/slideLayout2.xml"/><Relationship Id="rId6" Type="http://schemas.openxmlformats.org/officeDocument/2006/relationships/hyperlink" Target="https://ieeexplore.ieee.org/author/37088594737" TargetMode="External"/><Relationship Id="rId5" Type="http://schemas.openxmlformats.org/officeDocument/2006/relationships/hyperlink" Target="https://ieeexplore.ieee.org/author/37088594482" TargetMode="External"/><Relationship Id="rId4" Type="http://schemas.openxmlformats.org/officeDocument/2006/relationships/hyperlink" Target="https://ieeexplore.ieee.org/author/37086291288"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ieeexplore.ieee.org/author/37088317847" TargetMode="External"/><Relationship Id="rId2" Type="http://schemas.openxmlformats.org/officeDocument/2006/relationships/hyperlink" Target="https://ieeexplore.ieee.org/author/37706525100" TargetMode="External"/><Relationship Id="rId1" Type="http://schemas.openxmlformats.org/officeDocument/2006/relationships/slideLayout" Target="../slideLayouts/slideLayout2.xml"/><Relationship Id="rId4" Type="http://schemas.openxmlformats.org/officeDocument/2006/relationships/hyperlink" Target="https://ieeexplore.ieee.org/author/37088326815"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ieeexplore.ieee.org/author/37086445145" TargetMode="External"/><Relationship Id="rId7" Type="http://schemas.openxmlformats.org/officeDocument/2006/relationships/hyperlink" Target="https://ieeexplore.ieee.org/author/37086470855" TargetMode="External"/><Relationship Id="rId2" Type="http://schemas.openxmlformats.org/officeDocument/2006/relationships/hyperlink" Target="https://ieeexplore.ieee.org/author/37086445055" TargetMode="External"/><Relationship Id="rId1" Type="http://schemas.openxmlformats.org/officeDocument/2006/relationships/slideLayout" Target="../slideLayouts/slideLayout2.xml"/><Relationship Id="rId6" Type="http://schemas.openxmlformats.org/officeDocument/2006/relationships/hyperlink" Target="https://ieeexplore.ieee.org/author/37086470452" TargetMode="External"/><Relationship Id="rId5" Type="http://schemas.openxmlformats.org/officeDocument/2006/relationships/hyperlink" Target="https://ieeexplore.ieee.org/author/37085507639" TargetMode="External"/><Relationship Id="rId4" Type="http://schemas.openxmlformats.org/officeDocument/2006/relationships/hyperlink" Target="https://ieeexplore.ieee.org/author/37086445752"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drive.google.com/file/d/13Iw-8qkun4O3GxB2cbds4Ozg9MHzTcaP/view?usp=sharing"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2247592"/>
            <a:ext cx="12192000" cy="1285884"/>
          </a:xfrm>
        </p:spPr>
        <p:txBody>
          <a:bodyPr>
            <a:normAutofit/>
          </a:bodyPr>
          <a:lstStyle/>
          <a:p>
            <a:r>
              <a:rPr lang="en-US" sz="3400" i="1">
                <a:solidFill>
                  <a:srgbClr val="FF0000"/>
                </a:solidFill>
              </a:rPr>
              <a:t>Li-Fi Based Automatic Traffic Signal Control For Ambulance</a:t>
            </a:r>
            <a:br>
              <a:rPr lang="en-US" sz="3400" dirty="0">
                <a:solidFill>
                  <a:srgbClr val="FF0000"/>
                </a:solidFill>
              </a:rPr>
            </a:br>
            <a:endParaRPr lang="en-US" sz="3400" dirty="0">
              <a:solidFill>
                <a:srgbClr val="FF0000"/>
              </a:solidFill>
            </a:endParaRPr>
          </a:p>
        </p:txBody>
      </p:sp>
      <p:sp>
        <p:nvSpPr>
          <p:cNvPr id="11" name="Subtitle 10"/>
          <p:cNvSpPr>
            <a:spLocks noGrp="1"/>
          </p:cNvSpPr>
          <p:nvPr>
            <p:ph type="subTitle" idx="1"/>
          </p:nvPr>
        </p:nvSpPr>
        <p:spPr>
          <a:xfrm>
            <a:off x="2845571" y="3494948"/>
            <a:ext cx="6500858" cy="1748510"/>
          </a:xfrm>
        </p:spPr>
        <p:txBody>
          <a:bodyPr>
            <a:noAutofit/>
          </a:bodyPr>
          <a:lstStyle/>
          <a:p>
            <a:pPr>
              <a:spcBef>
                <a:spcPct val="0"/>
              </a:spcBef>
            </a:pPr>
            <a:r>
              <a:rPr lang="en-US" altLang="en-US" sz="1800" b="1" cap="all">
                <a:solidFill>
                  <a:srgbClr val="000066"/>
                </a:solidFill>
                <a:latin typeface="Times New Roman" panose="02020603050405020304" pitchFamily="18" charset="0"/>
                <a:cs typeface="Times New Roman" panose="02020603050405020304" pitchFamily="18" charset="0"/>
              </a:rPr>
              <a:t>Amardeep Kumar                        1RN19IS020</a:t>
            </a:r>
            <a:endParaRPr lang="en-US" altLang="en-US" sz="1800" b="1" cap="all" dirty="0">
              <a:solidFill>
                <a:srgbClr val="000066"/>
              </a:solidFill>
              <a:latin typeface="Times New Roman" panose="02020603050405020304" pitchFamily="18" charset="0"/>
              <a:cs typeface="Times New Roman" panose="02020603050405020304" pitchFamily="18" charset="0"/>
            </a:endParaRPr>
          </a:p>
          <a:p>
            <a:pPr>
              <a:spcBef>
                <a:spcPct val="0"/>
              </a:spcBef>
            </a:pPr>
            <a:r>
              <a:rPr lang="en-US" altLang="en-US" sz="1800" b="1" cap="all">
                <a:solidFill>
                  <a:srgbClr val="000066"/>
                </a:solidFill>
                <a:latin typeface="Times New Roman" panose="02020603050405020304" pitchFamily="18" charset="0"/>
                <a:cs typeface="Times New Roman" panose="02020603050405020304" pitchFamily="18" charset="0"/>
              </a:rPr>
              <a:t>Amartya                                           1RN19IS021                       Anushka Jaiswal                         1RN19IS035</a:t>
            </a:r>
            <a:endParaRPr lang="en-US" altLang="en-US" sz="1800" b="1" cap="all" dirty="0">
              <a:solidFill>
                <a:srgbClr val="000066"/>
              </a:solidFill>
              <a:latin typeface="Times New Roman" panose="02020603050405020304" pitchFamily="18" charset="0"/>
              <a:cs typeface="Times New Roman" panose="02020603050405020304" pitchFamily="18" charset="0"/>
            </a:endParaRPr>
          </a:p>
          <a:p>
            <a:pPr>
              <a:spcBef>
                <a:spcPct val="0"/>
              </a:spcBef>
            </a:pPr>
            <a:r>
              <a:rPr lang="en-US" altLang="en-US" sz="1800" b="1" cap="all">
                <a:solidFill>
                  <a:srgbClr val="000066"/>
                </a:solidFill>
                <a:latin typeface="Times New Roman" panose="02020603050405020304" pitchFamily="18" charset="0"/>
                <a:cs typeface="Times New Roman" panose="02020603050405020304" pitchFamily="18" charset="0"/>
              </a:rPr>
              <a:t>Devendra UpadhYAY                  1RN19IS056</a:t>
            </a:r>
            <a:endParaRPr lang="en-US" altLang="en-US" sz="1800" b="1" cap="all" dirty="0">
              <a:solidFill>
                <a:srgbClr val="000066"/>
              </a:solidFill>
              <a:latin typeface="Times New Roman" panose="02020603050405020304" pitchFamily="18" charset="0"/>
              <a:cs typeface="Times New Roman" panose="02020603050405020304" pitchFamily="18" charset="0"/>
            </a:endParaRPr>
          </a:p>
          <a:p>
            <a:pPr lvl="0" algn="ctr" fontAlgn="base">
              <a:spcBef>
                <a:spcPct val="0"/>
              </a:spcBef>
              <a:spcAft>
                <a:spcPct val="0"/>
              </a:spcAft>
            </a:pPr>
            <a:endParaRPr lang="en-US" sz="2400" b="1" dirty="0">
              <a:solidFill>
                <a:srgbClr val="C00000"/>
              </a:solidFill>
              <a:latin typeface="Times New Roman" pitchFamily="18" charset="0"/>
              <a:cs typeface="Times New Roman" pitchFamily="18" charset="0"/>
            </a:endParaRPr>
          </a:p>
          <a:p>
            <a:pPr lvl="0" fontAlgn="base">
              <a:spcBef>
                <a:spcPct val="0"/>
              </a:spcBef>
              <a:spcAft>
                <a:spcPct val="0"/>
              </a:spcAft>
            </a:pPr>
            <a:endParaRPr lang="en-US" b="1" dirty="0">
              <a:solidFill>
                <a:srgbClr val="000066"/>
              </a:solidFill>
              <a:latin typeface="Times New Roman" pitchFamily="18" charset="0"/>
              <a:cs typeface="Times New Roman" pitchFamily="18" charset="0"/>
            </a:endParaRPr>
          </a:p>
          <a:p>
            <a:pPr fontAlgn="base">
              <a:spcBef>
                <a:spcPct val="0"/>
              </a:spcBef>
              <a:spcAft>
                <a:spcPct val="0"/>
              </a:spcAft>
            </a:pPr>
            <a:endParaRPr lang="en-US" b="1" dirty="0">
              <a:solidFill>
                <a:srgbClr val="000066"/>
              </a:solidFill>
              <a:latin typeface="Times New Roman" pitchFamily="18" charset="0"/>
              <a:cs typeface="Times New Roman" pitchFamily="18" charset="0"/>
            </a:endParaRPr>
          </a:p>
          <a:p>
            <a:pPr fontAlgn="base">
              <a:spcBef>
                <a:spcPct val="0"/>
              </a:spcBef>
              <a:spcAft>
                <a:spcPct val="0"/>
              </a:spcAft>
            </a:pPr>
            <a:endParaRPr lang="en-US" b="1" dirty="0">
              <a:solidFill>
                <a:srgbClr val="000066"/>
              </a:solidFill>
              <a:latin typeface="Times New Roman" pitchFamily="18" charset="0"/>
              <a:cs typeface="Times New Roman" pitchFamily="18" charset="0"/>
            </a:endParaRPr>
          </a:p>
          <a:p>
            <a:pPr lvl="0" algn="ctr" fontAlgn="base">
              <a:spcBef>
                <a:spcPct val="0"/>
              </a:spcBef>
              <a:spcAft>
                <a:spcPct val="0"/>
              </a:spcAft>
            </a:pPr>
            <a:endParaRPr lang="en-US" sz="2400" b="1" dirty="0">
              <a:solidFill>
                <a:srgbClr val="000066"/>
              </a:solidFill>
              <a:latin typeface="Times New Roman" pitchFamily="18" charset="0"/>
              <a:cs typeface="Times New Roman" pitchFamily="18" charset="0"/>
            </a:endParaRPr>
          </a:p>
          <a:p>
            <a:pPr lvl="0" algn="ctr" fontAlgn="base">
              <a:spcBef>
                <a:spcPct val="0"/>
              </a:spcBef>
              <a:spcAft>
                <a:spcPct val="0"/>
              </a:spcAft>
            </a:pPr>
            <a:endParaRPr lang="en-US" sz="2400" b="1" dirty="0">
              <a:solidFill>
                <a:srgbClr val="000066"/>
              </a:solidFill>
              <a:latin typeface="Times New Roman" pitchFamily="18" charset="0"/>
              <a:cs typeface="Times New Roman" pitchFamily="18" charset="0"/>
            </a:endParaRPr>
          </a:p>
          <a:p>
            <a:pPr lvl="0" algn="ctr" fontAlgn="base">
              <a:spcBef>
                <a:spcPct val="0"/>
              </a:spcBef>
              <a:spcAft>
                <a:spcPct val="0"/>
              </a:spcAft>
            </a:pPr>
            <a:endParaRPr lang="en-IN" sz="2400" b="1" dirty="0">
              <a:solidFill>
                <a:srgbClr val="000066"/>
              </a:solidFill>
            </a:endParaRPr>
          </a:p>
        </p:txBody>
      </p:sp>
      <p:sp>
        <p:nvSpPr>
          <p:cNvPr id="7" name="Rectangle 6"/>
          <p:cNvSpPr/>
          <p:nvPr/>
        </p:nvSpPr>
        <p:spPr>
          <a:xfrm>
            <a:off x="0" y="-24735"/>
            <a:ext cx="12192000" cy="1015663"/>
          </a:xfrm>
          <a:prstGeom prst="rect">
            <a:avLst/>
          </a:prstGeom>
        </p:spPr>
        <p:txBody>
          <a:bodyPr wrap="square">
            <a:spAutoFit/>
          </a:bodyPr>
          <a:lstStyle/>
          <a:p>
            <a:pPr algn="ctr">
              <a:defRPr/>
            </a:pPr>
            <a:r>
              <a:rPr lang="en-US" sz="3600" b="1" dirty="0">
                <a:solidFill>
                  <a:srgbClr val="000066"/>
                </a:solidFill>
                <a:latin typeface="Times New Roman" pitchFamily="18" charset="0"/>
                <a:cs typeface="Times New Roman" pitchFamily="18" charset="0"/>
              </a:rPr>
              <a:t>RNS INSTITUTE OF TECHNOLOGY</a:t>
            </a:r>
          </a:p>
          <a:p>
            <a:pPr algn="ctr">
              <a:defRPr/>
            </a:pPr>
            <a:r>
              <a:rPr lang="en-US" sz="2400" b="1" cap="all" dirty="0">
                <a:solidFill>
                  <a:srgbClr val="000066"/>
                </a:solidFill>
                <a:latin typeface="Times New Roman" pitchFamily="18" charset="0"/>
                <a:cs typeface="Times New Roman" pitchFamily="18" charset="0"/>
              </a:rPr>
              <a:t>BENGALURU - 98</a:t>
            </a:r>
            <a:endParaRPr lang="en-US" sz="2400" b="1" dirty="0">
              <a:solidFill>
                <a:srgbClr val="000066"/>
              </a:solidFill>
              <a:latin typeface="Times New Roman" pitchFamily="18" charset="0"/>
              <a:cs typeface="Times New Roman" pitchFamily="18" charset="0"/>
            </a:endParaRPr>
          </a:p>
        </p:txBody>
      </p:sp>
      <p:sp>
        <p:nvSpPr>
          <p:cNvPr id="8" name="Rectangle 7"/>
          <p:cNvSpPr/>
          <p:nvPr/>
        </p:nvSpPr>
        <p:spPr>
          <a:xfrm>
            <a:off x="0" y="983917"/>
            <a:ext cx="12192000" cy="584775"/>
          </a:xfrm>
          <a:prstGeom prst="rect">
            <a:avLst/>
          </a:prstGeom>
        </p:spPr>
        <p:txBody>
          <a:bodyPr wrap="square">
            <a:spAutoFit/>
          </a:bodyPr>
          <a:lstStyle/>
          <a:p>
            <a:pPr algn="ctr"/>
            <a:r>
              <a:rPr lang="en-US" sz="3200" b="1" dirty="0">
                <a:solidFill>
                  <a:srgbClr val="C00000"/>
                </a:solidFill>
                <a:latin typeface="Times New Roman" pitchFamily="18" charset="0"/>
                <a:cs typeface="Times New Roman" pitchFamily="18" charset="0"/>
              </a:rPr>
              <a:t>DEPARTMENT OF INFORMATION SCIENCE &amp; ENGINEERING</a:t>
            </a:r>
          </a:p>
        </p:txBody>
      </p:sp>
      <p:sp>
        <p:nvSpPr>
          <p:cNvPr id="9" name="Rectangle 8"/>
          <p:cNvSpPr/>
          <p:nvPr/>
        </p:nvSpPr>
        <p:spPr>
          <a:xfrm>
            <a:off x="2279576" y="1785927"/>
            <a:ext cx="6768752" cy="461665"/>
          </a:xfrm>
          <a:prstGeom prst="rect">
            <a:avLst/>
          </a:prstGeom>
        </p:spPr>
        <p:txBody>
          <a:bodyPr wrap="square">
            <a:spAutoFit/>
          </a:bodyPr>
          <a:lstStyle/>
          <a:p>
            <a:pPr algn="ctr"/>
            <a:r>
              <a:rPr lang="en-US" sz="2400" b="1" dirty="0">
                <a:solidFill>
                  <a:srgbClr val="002060"/>
                </a:solidFill>
                <a:latin typeface="Times New Roman" pitchFamily="18" charset="0"/>
                <a:cs typeface="Times New Roman" pitchFamily="18" charset="0"/>
              </a:rPr>
              <a:t>        Final Year Project Work Presentation</a:t>
            </a:r>
          </a:p>
        </p:txBody>
      </p:sp>
      <p:sp>
        <p:nvSpPr>
          <p:cNvPr id="10" name="Rectangle 9"/>
          <p:cNvSpPr/>
          <p:nvPr/>
        </p:nvSpPr>
        <p:spPr>
          <a:xfrm>
            <a:off x="0" y="5438191"/>
            <a:ext cx="5128891" cy="954107"/>
          </a:xfrm>
          <a:prstGeom prst="rect">
            <a:avLst/>
          </a:prstGeom>
        </p:spPr>
        <p:txBody>
          <a:bodyPr wrap="square">
            <a:spAutoFit/>
          </a:bodyPr>
          <a:lstStyle/>
          <a:p>
            <a:pPr lvl="0" algn="ctr" fontAlgn="base">
              <a:spcBef>
                <a:spcPct val="0"/>
              </a:spcBef>
              <a:spcAft>
                <a:spcPct val="0"/>
              </a:spcAft>
            </a:pPr>
            <a:r>
              <a:rPr lang="en-US" b="1" dirty="0">
                <a:solidFill>
                  <a:schemeClr val="tx1">
                    <a:lumMod val="85000"/>
                    <a:lumOff val="15000"/>
                  </a:schemeClr>
                </a:solidFill>
                <a:latin typeface="Times New Roman" pitchFamily="18" charset="0"/>
                <a:cs typeface="Times New Roman" pitchFamily="18" charset="0"/>
              </a:rPr>
              <a:t> Internal Guide</a:t>
            </a:r>
          </a:p>
          <a:p>
            <a:pPr lvl="0" algn="ctr" fontAlgn="base">
              <a:spcBef>
                <a:spcPct val="0"/>
              </a:spcBef>
              <a:spcAft>
                <a:spcPct val="0"/>
              </a:spcAft>
            </a:pPr>
            <a:r>
              <a:rPr lang="en-US" sz="2000" b="1">
                <a:solidFill>
                  <a:srgbClr val="000066"/>
                </a:solidFill>
                <a:latin typeface="Times New Roman" pitchFamily="18" charset="0"/>
                <a:cs typeface="Times New Roman" pitchFamily="18" charset="0"/>
              </a:rPr>
              <a:t>Ms. Vanishri S</a:t>
            </a:r>
            <a:endParaRPr lang="pt-BR" sz="2000" b="1" dirty="0">
              <a:solidFill>
                <a:srgbClr val="000066"/>
              </a:solidFill>
              <a:latin typeface="Times New Roman" pitchFamily="18" charset="0"/>
              <a:cs typeface="Times New Roman" pitchFamily="18" charset="0"/>
            </a:endParaRPr>
          </a:p>
          <a:p>
            <a:pPr lvl="0" algn="ctr" eaLnBrk="0" fontAlgn="base" hangingPunct="0">
              <a:spcBef>
                <a:spcPct val="0"/>
              </a:spcBef>
              <a:spcAft>
                <a:spcPct val="0"/>
              </a:spcAft>
            </a:pPr>
            <a:r>
              <a:rPr lang="en-US">
                <a:solidFill>
                  <a:schemeClr val="tx1">
                    <a:lumMod val="85000"/>
                    <a:lumOff val="15000"/>
                  </a:schemeClr>
                </a:solidFill>
                <a:latin typeface="Times New Roman" pitchFamily="18" charset="0"/>
                <a:ea typeface="Times New Roman" pitchFamily="18" charset="0"/>
                <a:cs typeface="Times New Roman" pitchFamily="18" charset="0"/>
              </a:rPr>
              <a:t>Asst. Prof., Dept. of  ISE</a:t>
            </a:r>
            <a:r>
              <a:rPr lang="en-US" dirty="0">
                <a:solidFill>
                  <a:schemeClr val="tx1">
                    <a:lumMod val="85000"/>
                    <a:lumOff val="15000"/>
                  </a:schemeClr>
                </a:solidFill>
                <a:latin typeface="Times New Roman" pitchFamily="18" charset="0"/>
                <a:ea typeface="Times New Roman" pitchFamily="18" charset="0"/>
                <a:cs typeface="Times New Roman" pitchFamily="18" charset="0"/>
              </a:rPr>
              <a:t>, RNSIT</a:t>
            </a:r>
            <a:endParaRPr lang="en-US" dirty="0">
              <a:solidFill>
                <a:schemeClr val="tx1">
                  <a:lumMod val="85000"/>
                  <a:lumOff val="15000"/>
                </a:schemeClr>
              </a:solidFill>
              <a:latin typeface="Times New Roman" pitchFamily="18" charset="0"/>
              <a:cs typeface="Times New Roman" pitchFamily="18" charset="0"/>
            </a:endParaRPr>
          </a:p>
        </p:txBody>
      </p:sp>
      <p:sp>
        <p:nvSpPr>
          <p:cNvPr id="13" name="Rectangle 12"/>
          <p:cNvSpPr/>
          <p:nvPr/>
        </p:nvSpPr>
        <p:spPr>
          <a:xfrm>
            <a:off x="8400256" y="5438191"/>
            <a:ext cx="3415560" cy="954107"/>
          </a:xfrm>
          <a:prstGeom prst="rect">
            <a:avLst/>
          </a:prstGeom>
        </p:spPr>
        <p:txBody>
          <a:bodyPr wrap="square">
            <a:spAutoFit/>
          </a:bodyPr>
          <a:lstStyle/>
          <a:p>
            <a:pPr lvl="0" algn="ctr" fontAlgn="base">
              <a:spcBef>
                <a:spcPct val="0"/>
              </a:spcBef>
              <a:spcAft>
                <a:spcPct val="0"/>
              </a:spcAft>
            </a:pPr>
            <a:r>
              <a:rPr lang="en-US" b="1">
                <a:solidFill>
                  <a:schemeClr val="tx1">
                    <a:lumMod val="85000"/>
                    <a:lumOff val="15000"/>
                  </a:schemeClr>
                </a:solidFill>
                <a:latin typeface="Times New Roman" pitchFamily="18" charset="0"/>
                <a:cs typeface="Times New Roman" pitchFamily="18" charset="0"/>
              </a:rPr>
              <a:t>Panel </a:t>
            </a:r>
            <a:endParaRPr lang="en-US" b="1" dirty="0">
              <a:solidFill>
                <a:schemeClr val="tx1">
                  <a:lumMod val="85000"/>
                  <a:lumOff val="15000"/>
                </a:schemeClr>
              </a:solidFill>
              <a:latin typeface="Times New Roman" pitchFamily="18" charset="0"/>
              <a:cs typeface="Times New Roman" pitchFamily="18" charset="0"/>
            </a:endParaRPr>
          </a:p>
          <a:p>
            <a:pPr lvl="0" algn="ctr" fontAlgn="base">
              <a:spcBef>
                <a:spcPct val="0"/>
              </a:spcBef>
              <a:spcAft>
                <a:spcPct val="0"/>
              </a:spcAft>
            </a:pPr>
            <a:r>
              <a:rPr lang="pt-BR" sz="2000" b="1">
                <a:solidFill>
                  <a:srgbClr val="000066"/>
                </a:solidFill>
                <a:latin typeface="Times New Roman" pitchFamily="18" charset="0"/>
                <a:cs typeface="Times New Roman" pitchFamily="18" charset="0"/>
              </a:rPr>
              <a:t>Dr. Bhagyashree Ambore</a:t>
            </a:r>
          </a:p>
          <a:p>
            <a:pPr lvl="0" algn="ctr" fontAlgn="base">
              <a:spcBef>
                <a:spcPct val="0"/>
              </a:spcBef>
              <a:spcAft>
                <a:spcPct val="0"/>
              </a:spcAft>
            </a:pPr>
            <a:r>
              <a:rPr lang="en-US">
                <a:solidFill>
                  <a:schemeClr val="tx1">
                    <a:lumMod val="85000"/>
                    <a:lumOff val="15000"/>
                  </a:schemeClr>
                </a:solidFill>
                <a:latin typeface="Times New Roman" pitchFamily="18" charset="0"/>
                <a:ea typeface="Times New Roman" pitchFamily="18" charset="0"/>
                <a:cs typeface="Times New Roman" pitchFamily="18" charset="0"/>
              </a:rPr>
              <a:t>Asst. Prof., Dept. of  ISE, RNSIT</a:t>
            </a:r>
            <a:endParaRPr lang="en-US" dirty="0">
              <a:solidFill>
                <a:schemeClr val="tx1">
                  <a:lumMod val="85000"/>
                  <a:lumOff val="15000"/>
                </a:schemeClr>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8184" y="174438"/>
            <a:ext cx="7467600" cy="1143000"/>
          </a:xfrm>
        </p:spPr>
        <p:txBody>
          <a:bodyPr>
            <a:normAutofit/>
          </a:bodyPr>
          <a:lstStyle/>
          <a:p>
            <a:pPr algn="ctr"/>
            <a:r>
              <a:rPr lang="en-IN" sz="3200" b="1" dirty="0">
                <a:solidFill>
                  <a:schemeClr val="accent1">
                    <a:lumMod val="75000"/>
                  </a:schemeClr>
                </a:solidFill>
                <a:latin typeface="Times New Roman" pitchFamily="18" charset="0"/>
                <a:cs typeface="Times New Roman" pitchFamily="18" charset="0"/>
              </a:rPr>
              <a:t>AGENDA</a:t>
            </a:r>
          </a:p>
        </p:txBody>
      </p:sp>
      <p:sp>
        <p:nvSpPr>
          <p:cNvPr id="3" name="Content Placeholder 2"/>
          <p:cNvSpPr>
            <a:spLocks noGrp="1"/>
          </p:cNvSpPr>
          <p:nvPr>
            <p:ph idx="1"/>
          </p:nvPr>
        </p:nvSpPr>
        <p:spPr>
          <a:xfrm>
            <a:off x="1199456" y="625252"/>
            <a:ext cx="9505056" cy="5540052"/>
          </a:xfrm>
        </p:spPr>
        <p:txBody>
          <a:bodyPr>
            <a:normAutofit fontScale="77500" lnSpcReduction="20000"/>
          </a:bodyPr>
          <a:lstStyle/>
          <a:p>
            <a:pPr marL="355600" indent="-355600">
              <a:buFont typeface="Wingdings" pitchFamily="2" charset="2"/>
              <a:buChar char="q"/>
            </a:pPr>
            <a:endParaRPr lang="en-IN" sz="3400">
              <a:latin typeface="Times New Roman" pitchFamily="18" charset="0"/>
              <a:cs typeface="Times New Roman" pitchFamily="18" charset="0"/>
            </a:endParaRPr>
          </a:p>
          <a:p>
            <a:pPr marL="355600" indent="-355600">
              <a:buFont typeface="Wingdings" pitchFamily="2" charset="2"/>
              <a:buChar char="q"/>
            </a:pPr>
            <a:r>
              <a:rPr lang="en-IN" sz="3400">
                <a:latin typeface="Times New Roman" pitchFamily="18" charset="0"/>
                <a:cs typeface="Times New Roman" pitchFamily="18" charset="0"/>
              </a:rPr>
              <a:t>Abstract</a:t>
            </a:r>
            <a:endParaRPr lang="en-IN" sz="3400" dirty="0">
              <a:latin typeface="Times New Roman" pitchFamily="18" charset="0"/>
              <a:cs typeface="Times New Roman" pitchFamily="18" charset="0"/>
            </a:endParaRPr>
          </a:p>
          <a:p>
            <a:pPr marL="355600" indent="-355600">
              <a:buFont typeface="Wingdings" pitchFamily="2" charset="2"/>
              <a:buChar char="q"/>
            </a:pPr>
            <a:r>
              <a:rPr lang="en-IN" sz="3400" dirty="0">
                <a:latin typeface="Times New Roman" pitchFamily="18" charset="0"/>
                <a:cs typeface="Times New Roman" pitchFamily="18" charset="0"/>
              </a:rPr>
              <a:t>Introduction</a:t>
            </a:r>
          </a:p>
          <a:p>
            <a:pPr marL="355600" indent="-355600">
              <a:buFont typeface="Wingdings" pitchFamily="2" charset="2"/>
              <a:buChar char="q"/>
            </a:pPr>
            <a:r>
              <a:rPr lang="en-IN" sz="3400" dirty="0">
                <a:latin typeface="Times New Roman" pitchFamily="18" charset="0"/>
                <a:cs typeface="Times New Roman" pitchFamily="18" charset="0"/>
              </a:rPr>
              <a:t>Literature Review</a:t>
            </a:r>
          </a:p>
          <a:p>
            <a:pPr marL="355600" indent="-355600">
              <a:buFont typeface="Wingdings" pitchFamily="2" charset="2"/>
              <a:buChar char="q"/>
            </a:pPr>
            <a:r>
              <a:rPr lang="en-IN" sz="3400" dirty="0">
                <a:latin typeface="Times New Roman" pitchFamily="18" charset="0"/>
                <a:cs typeface="Times New Roman" pitchFamily="18" charset="0"/>
              </a:rPr>
              <a:t>Analysis</a:t>
            </a:r>
          </a:p>
          <a:p>
            <a:pPr marL="355600" indent="-355600">
              <a:buFont typeface="Wingdings" pitchFamily="2" charset="2"/>
              <a:buChar char="q"/>
            </a:pPr>
            <a:r>
              <a:rPr lang="en-IN" sz="3400" dirty="0">
                <a:latin typeface="Times New Roman" pitchFamily="18" charset="0"/>
                <a:cs typeface="Times New Roman" pitchFamily="18" charset="0"/>
              </a:rPr>
              <a:t>System Design</a:t>
            </a:r>
          </a:p>
          <a:p>
            <a:pPr marL="355600" indent="-355600">
              <a:buFont typeface="Wingdings" pitchFamily="2" charset="2"/>
              <a:buChar char="q"/>
            </a:pPr>
            <a:r>
              <a:rPr lang="en-IN" sz="3400" dirty="0">
                <a:latin typeface="Times New Roman" pitchFamily="18" charset="0"/>
                <a:cs typeface="Times New Roman" pitchFamily="18" charset="0"/>
              </a:rPr>
              <a:t>Implementation</a:t>
            </a:r>
          </a:p>
          <a:p>
            <a:pPr marL="355600" indent="-355600">
              <a:buFont typeface="Wingdings" pitchFamily="2" charset="2"/>
              <a:buChar char="q"/>
            </a:pPr>
            <a:r>
              <a:rPr lang="en-IN" sz="3400" dirty="0">
                <a:latin typeface="Times New Roman" pitchFamily="18" charset="0"/>
                <a:cs typeface="Times New Roman" pitchFamily="18" charset="0"/>
              </a:rPr>
              <a:t>Testing</a:t>
            </a:r>
          </a:p>
          <a:p>
            <a:pPr marL="355600" indent="-355600">
              <a:buFont typeface="Wingdings" pitchFamily="2" charset="2"/>
              <a:buChar char="q"/>
            </a:pPr>
            <a:r>
              <a:rPr lang="en-IN" sz="3400" dirty="0">
                <a:latin typeface="Times New Roman" pitchFamily="18" charset="0"/>
                <a:cs typeface="Times New Roman" pitchFamily="18" charset="0"/>
              </a:rPr>
              <a:t>Discussion of Results</a:t>
            </a:r>
          </a:p>
          <a:p>
            <a:pPr marL="355600" indent="-355600">
              <a:buFont typeface="Wingdings" pitchFamily="2" charset="2"/>
              <a:buChar char="q"/>
            </a:pPr>
            <a:r>
              <a:rPr lang="en-IN" sz="3400" dirty="0">
                <a:latin typeface="Times New Roman" pitchFamily="18" charset="0"/>
                <a:cs typeface="Times New Roman" pitchFamily="18" charset="0"/>
              </a:rPr>
              <a:t>National Conference Paper</a:t>
            </a:r>
          </a:p>
          <a:p>
            <a:pPr marL="355600" indent="-355600">
              <a:buFont typeface="Wingdings" pitchFamily="2" charset="2"/>
              <a:buChar char="q"/>
            </a:pPr>
            <a:r>
              <a:rPr lang="en-IN" sz="3400" dirty="0">
                <a:latin typeface="Times New Roman" pitchFamily="18" charset="0"/>
                <a:cs typeface="Times New Roman" pitchFamily="18" charset="0"/>
              </a:rPr>
              <a:t>Conclusion and Future Enhancements</a:t>
            </a:r>
          </a:p>
          <a:p>
            <a:pPr marL="355600" indent="-355600">
              <a:buFont typeface="Wingdings" pitchFamily="2" charset="2"/>
              <a:buChar char="q"/>
            </a:pPr>
            <a:r>
              <a:rPr lang="en-IN" sz="3400" dirty="0">
                <a:latin typeface="Times New Roman" pitchFamily="18" charset="0"/>
                <a:cs typeface="Times New Roman" pitchFamily="18" charset="0"/>
              </a:rPr>
              <a:t>References</a:t>
            </a:r>
          </a:p>
          <a:p>
            <a:pPr marL="355600" indent="-355600">
              <a:buFont typeface="Wingdings" pitchFamily="2" charset="2"/>
              <a:buChar char="q"/>
            </a:pPr>
            <a:r>
              <a:rPr lang="en-IN" sz="3400" dirty="0">
                <a:latin typeface="Times New Roman" pitchFamily="18" charset="0"/>
                <a:cs typeface="Times New Roman" pitchFamily="18" charset="0"/>
              </a:rPr>
              <a:t>Q &amp; A</a:t>
            </a:r>
          </a:p>
          <a:p>
            <a:pPr marL="0" indent="0">
              <a:buNone/>
            </a:pPr>
            <a:endParaRPr lang="en-IN" dirty="0">
              <a:solidFill>
                <a:schemeClr val="tx1">
                  <a:lumMod val="75000"/>
                  <a:lumOff val="25000"/>
                </a:schemeClr>
              </a:solidFill>
            </a:endParaRPr>
          </a:p>
        </p:txBody>
      </p:sp>
      <p:sp>
        <p:nvSpPr>
          <p:cNvPr id="5" name="Date Placeholder 4">
            <a:extLst>
              <a:ext uri="{FF2B5EF4-FFF2-40B4-BE49-F238E27FC236}">
                <a16:creationId xmlns:a16="http://schemas.microsoft.com/office/drawing/2014/main" id="{F3107C6F-CCDB-468C-A092-047170622C85}"/>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DF95553B-50BC-4DC2-A8CE-4336C1382E65}"/>
              </a:ext>
            </a:extLst>
          </p:cNvPr>
          <p:cNvSpPr>
            <a:spLocks noGrp="1"/>
          </p:cNvSpPr>
          <p:nvPr>
            <p:ph type="ftr" sz="quarter" idx="11"/>
          </p:nvPr>
        </p:nvSpPr>
        <p:spPr/>
        <p:txBody>
          <a:bodyPr/>
          <a:lstStyle/>
          <a:p>
            <a:r>
              <a:rPr lang="en-US" dirty="0"/>
              <a:t>2022 - 2023</a:t>
            </a:r>
          </a:p>
        </p:txBody>
      </p:sp>
      <p:sp>
        <p:nvSpPr>
          <p:cNvPr id="7" name="Slide Number Placeholder 6">
            <a:extLst>
              <a:ext uri="{FF2B5EF4-FFF2-40B4-BE49-F238E27FC236}">
                <a16:creationId xmlns:a16="http://schemas.microsoft.com/office/drawing/2014/main" id="{EE09E886-641A-4621-AEA2-BB64918E960D}"/>
              </a:ext>
            </a:extLst>
          </p:cNvPr>
          <p:cNvSpPr>
            <a:spLocks noGrp="1"/>
          </p:cNvSpPr>
          <p:nvPr>
            <p:ph type="sldNum" sz="quarter" idx="12"/>
          </p:nvPr>
        </p:nvSpPr>
        <p:spPr/>
        <p:txBody>
          <a:bodyPr/>
          <a:lstStyle/>
          <a:p>
            <a:fld id="{5B4F5413-E548-45A8-B9DD-11B71454D5CA}"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2656"/>
            <a:ext cx="12192000" cy="1296144"/>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ABSTRACT</a:t>
            </a:r>
            <a:br>
              <a:rPr lang="en-US" sz="3200" b="1" u="sng" dirty="0">
                <a:solidFill>
                  <a:schemeClr val="accent1">
                    <a:lumMod val="75000"/>
                  </a:schemeClr>
                </a:solidFill>
                <a:latin typeface="Times New Roman" pitchFamily="18" charset="0"/>
                <a:cs typeface="Times New Roman" pitchFamily="18" charset="0"/>
              </a:rPr>
            </a:br>
            <a:endParaRPr lang="en-US" sz="3200" b="1" u="sng"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023902" y="892951"/>
            <a:ext cx="10329898" cy="5072098"/>
          </a:xfrm>
        </p:spPr>
        <p:txBody>
          <a:bodyPr>
            <a:noAutofit/>
          </a:bodyPr>
          <a:lstStyle/>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India is a fast-developing country, but its traffic management is ineffective, leading to road congestion in metropolitan cities like Bengaluru.</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Ambulance services are severely affected by traffic jams, resulting in loss of lives as they fail to reach their destination on time.</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Li-Fi, a form of bi-directional Visible Light Communication, can be used to implement an efficient and feasible traffic management system.</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Li-Fi-based communication systems can provide faster communication for emergency vehicles such as ambulances, firefighting trucks, and police vehicles, especially in traffic-dense areas.</a:t>
            </a:r>
            <a:endParaRPr lang="en-US" sz="180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The use of Li-Fi in emergency vehicle communication can potentially reduce response time, save lives, and improve emergency services.</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218EC12-73AA-4416-AB80-CFE95158E424}"/>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5CD64878-040F-43D3-8C50-5126F2C2CDC1}"/>
              </a:ext>
            </a:extLst>
          </p:cNvPr>
          <p:cNvSpPr>
            <a:spLocks noGrp="1"/>
          </p:cNvSpPr>
          <p:nvPr>
            <p:ph type="ftr" sz="quarter" idx="11"/>
          </p:nvPr>
        </p:nvSpPr>
        <p:spPr/>
        <p:txBody>
          <a:bodyPr/>
          <a:lstStyle/>
          <a:p>
            <a:r>
              <a:rPr lang="en-US" dirty="0"/>
              <a:t>2022 - 2023</a:t>
            </a:r>
          </a:p>
        </p:txBody>
      </p:sp>
      <p:sp>
        <p:nvSpPr>
          <p:cNvPr id="7" name="Slide Number Placeholder 6">
            <a:extLst>
              <a:ext uri="{FF2B5EF4-FFF2-40B4-BE49-F238E27FC236}">
                <a16:creationId xmlns:a16="http://schemas.microsoft.com/office/drawing/2014/main" id="{B251B2EA-778B-412E-9857-F89F9B20D7C5}"/>
              </a:ext>
            </a:extLst>
          </p:cNvPr>
          <p:cNvSpPr>
            <a:spLocks noGrp="1"/>
          </p:cNvSpPr>
          <p:nvPr>
            <p:ph type="sldNum" sz="quarter" idx="12"/>
          </p:nvPr>
        </p:nvSpPr>
        <p:spPr/>
        <p:txBody>
          <a:bodyPr/>
          <a:lstStyle/>
          <a:p>
            <a:fld id="{5B4F5413-E548-45A8-B9DD-11B71454D5CA}"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6632"/>
            <a:ext cx="7467600" cy="1080120"/>
          </a:xfrm>
        </p:spPr>
        <p:txBody>
          <a:bodyPr>
            <a:normAutofit/>
          </a:bodyPr>
          <a:lstStyle/>
          <a:p>
            <a:pPr algn="ctr"/>
            <a:r>
              <a:rPr lang="en-US" sz="3200" b="1" dirty="0">
                <a:solidFill>
                  <a:schemeClr val="accent1">
                    <a:lumMod val="75000"/>
                  </a:schemeClr>
                </a:solidFill>
                <a:latin typeface="Times New Roman" pitchFamily="18" charset="0"/>
                <a:cs typeface="Times New Roman" pitchFamily="18" charset="0"/>
              </a:rPr>
              <a:t>INTRODUCTION</a:t>
            </a:r>
            <a:br>
              <a:rPr lang="en-US" sz="3200" b="1" u="sng" dirty="0">
                <a:solidFill>
                  <a:schemeClr val="accent1">
                    <a:lumMod val="75000"/>
                  </a:schemeClr>
                </a:solidFill>
                <a:latin typeface="Times New Roman" pitchFamily="18" charset="0"/>
                <a:cs typeface="Times New Roman" pitchFamily="18" charset="0"/>
              </a:rPr>
            </a:br>
            <a:endParaRPr lang="en-US" sz="3200" b="1" u="sng"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23392" y="914400"/>
            <a:ext cx="10945216" cy="5322912"/>
          </a:xfrm>
        </p:spPr>
        <p:txBody>
          <a:bodyPr>
            <a:normAutofit/>
          </a:bodyPr>
          <a:lstStyle/>
          <a:p>
            <a:pPr algn="just">
              <a:lnSpc>
                <a:spcPct val="120000"/>
              </a:lnSpc>
              <a:buNone/>
            </a:pPr>
            <a:r>
              <a:rPr lang="en-US" sz="2400" b="1" dirty="0">
                <a:latin typeface="Times New Roman" pitchFamily="18" charset="0"/>
                <a:cs typeface="Times New Roman" pitchFamily="18" charset="0"/>
              </a:rPr>
              <a:t>BACKGROUND</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Wireless communication relies solely on radio waves, but the spectrum is congested and an alternative is needed.</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Visible light communication (VLC) is an emerging platform that uses visible light frequencies between 400 and 800 THz.</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Li-Fi is a VLC protocol that uses LED bulbs as the principle source of light, which can be modulated at very high speeds to transmit data.</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Li-Fi allows transmission of thousands of data streams in parallel at high speeds and is economically viable.</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Gamma rays, X-rays, infra-red, and ultraviolet rays cannot be used for V2V communication due to their harmful effects on human body.</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The associated circuitry for radio wave communication is expensive.</a:t>
            </a:r>
            <a:endParaRPr lang="en-US" sz="1800" b="1" dirty="0">
              <a:latin typeface="Times New Roman" pitchFamily="18" charset="0"/>
              <a:cs typeface="Times New Roman" pitchFamily="18" charset="0"/>
            </a:endParaRPr>
          </a:p>
          <a:p>
            <a:pPr marL="0" indent="0" algn="just">
              <a:lnSpc>
                <a:spcPct val="120000"/>
              </a:lnSpc>
              <a:buNone/>
            </a:pPr>
            <a:endParaRPr lang="en-US" b="1" dirty="0">
              <a:latin typeface="Times New Roman" pitchFamily="18" charset="0"/>
              <a:cs typeface="Times New Roman" pitchFamily="18" charset="0"/>
            </a:endParaRPr>
          </a:p>
        </p:txBody>
      </p:sp>
      <p:sp>
        <p:nvSpPr>
          <p:cNvPr id="5" name="Date Placeholder 4">
            <a:extLst>
              <a:ext uri="{FF2B5EF4-FFF2-40B4-BE49-F238E27FC236}">
                <a16:creationId xmlns:a16="http://schemas.microsoft.com/office/drawing/2014/main" id="{78ED1BB5-76F5-4CA3-B1FE-B05B9614B44F}"/>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B33CD455-262C-407F-89E6-1DBDF19B952E}"/>
              </a:ext>
            </a:extLst>
          </p:cNvPr>
          <p:cNvSpPr>
            <a:spLocks noGrp="1"/>
          </p:cNvSpPr>
          <p:nvPr>
            <p:ph type="ftr" sz="quarter" idx="11"/>
          </p:nvPr>
        </p:nvSpPr>
        <p:spPr/>
        <p:txBody>
          <a:bodyPr/>
          <a:lstStyle/>
          <a:p>
            <a:r>
              <a:rPr lang="en-US" dirty="0"/>
              <a:t>2022 - 2023</a:t>
            </a:r>
          </a:p>
        </p:txBody>
      </p:sp>
      <p:sp>
        <p:nvSpPr>
          <p:cNvPr id="7" name="Slide Number Placeholder 6">
            <a:extLst>
              <a:ext uri="{FF2B5EF4-FFF2-40B4-BE49-F238E27FC236}">
                <a16:creationId xmlns:a16="http://schemas.microsoft.com/office/drawing/2014/main" id="{A398D7C1-FF9A-4118-8448-A4F79609E2B4}"/>
              </a:ext>
            </a:extLst>
          </p:cNvPr>
          <p:cNvSpPr>
            <a:spLocks noGrp="1"/>
          </p:cNvSpPr>
          <p:nvPr>
            <p:ph type="sldNum" sz="quarter" idx="12"/>
          </p:nvPr>
        </p:nvSpPr>
        <p:spPr/>
        <p:txBody>
          <a:bodyPr/>
          <a:lstStyle/>
          <a:p>
            <a:fld id="{5B4F5413-E548-45A8-B9DD-11B71454D5CA}" type="slidenum">
              <a:rPr lang="en-US" smtClean="0"/>
              <a:pPr/>
              <a:t>4</a:t>
            </a:fld>
            <a:endParaRPr lang="en-US" dirty="0"/>
          </a:p>
        </p:txBody>
      </p:sp>
    </p:spTree>
    <p:extLst>
      <p:ext uri="{BB962C8B-B14F-4D97-AF65-F5344CB8AC3E}">
        <p14:creationId xmlns:p14="http://schemas.microsoft.com/office/powerpoint/2010/main" val="2690663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VIII Semester, Department of ISE, RNSIT</a:t>
            </a:r>
            <a:endParaRPr lang="en-US" dirty="0"/>
          </a:p>
        </p:txBody>
      </p:sp>
      <p:sp>
        <p:nvSpPr>
          <p:cNvPr id="3" name="Footer Placeholder 2"/>
          <p:cNvSpPr>
            <a:spLocks noGrp="1"/>
          </p:cNvSpPr>
          <p:nvPr>
            <p:ph type="ftr" sz="quarter" idx="11"/>
          </p:nvPr>
        </p:nvSpPr>
        <p:spPr/>
        <p:txBody>
          <a:bodyPr/>
          <a:lstStyle/>
          <a:p>
            <a:r>
              <a:rPr lang="en-US" dirty="0"/>
              <a:t>2022 - 2023</a:t>
            </a:r>
          </a:p>
        </p:txBody>
      </p:sp>
      <p:sp>
        <p:nvSpPr>
          <p:cNvPr id="4" name="Slide Number Placeholder 3"/>
          <p:cNvSpPr>
            <a:spLocks noGrp="1"/>
          </p:cNvSpPr>
          <p:nvPr>
            <p:ph type="sldNum" sz="quarter" idx="12"/>
          </p:nvPr>
        </p:nvSpPr>
        <p:spPr/>
        <p:txBody>
          <a:bodyPr/>
          <a:lstStyle/>
          <a:p>
            <a:fld id="{5B4F5413-E548-45A8-B9DD-11B71454D5CA}" type="slidenum">
              <a:rPr lang="en-US" smtClean="0"/>
              <a:pPr/>
              <a:t>5</a:t>
            </a:fld>
            <a:endParaRPr lang="en-US" dirty="0"/>
          </a:p>
        </p:txBody>
      </p:sp>
      <p:sp>
        <p:nvSpPr>
          <p:cNvPr id="5" name="Rectangle 4"/>
          <p:cNvSpPr/>
          <p:nvPr/>
        </p:nvSpPr>
        <p:spPr>
          <a:xfrm>
            <a:off x="3381356" y="214290"/>
            <a:ext cx="4572032" cy="584775"/>
          </a:xfrm>
          <a:prstGeom prst="rect">
            <a:avLst/>
          </a:prstGeom>
        </p:spPr>
        <p:txBody>
          <a:bodyPr wrap="square">
            <a:spAutoFit/>
          </a:bodyPr>
          <a:lstStyle/>
          <a:p>
            <a:r>
              <a:rPr lang="en-US" sz="2400" b="1" dirty="0">
                <a:solidFill>
                  <a:schemeClr val="accent1">
                    <a:lumMod val="75000"/>
                  </a:schemeClr>
                </a:solidFill>
                <a:latin typeface="Times New Roman" pitchFamily="18" charset="0"/>
                <a:cs typeface="Times New Roman" pitchFamily="18" charset="0"/>
              </a:rPr>
              <a:t>      </a:t>
            </a:r>
            <a:r>
              <a:rPr lang="en-US" sz="3200" b="1" dirty="0">
                <a:solidFill>
                  <a:schemeClr val="accent1">
                    <a:lumMod val="75000"/>
                  </a:schemeClr>
                </a:solidFill>
                <a:latin typeface="Times New Roman" pitchFamily="18" charset="0"/>
                <a:cs typeface="Times New Roman" pitchFamily="18" charset="0"/>
              </a:rPr>
              <a:t>INTRODUCTION</a:t>
            </a:r>
            <a:endParaRPr lang="en-US" sz="3200" b="1" dirty="0">
              <a:latin typeface="Times New Roman" pitchFamily="18" charset="0"/>
              <a:cs typeface="Times New Roman" pitchFamily="18" charset="0"/>
            </a:endParaRPr>
          </a:p>
        </p:txBody>
      </p:sp>
      <p:sp>
        <p:nvSpPr>
          <p:cNvPr id="6" name="Rectangle 5"/>
          <p:cNvSpPr/>
          <p:nvPr/>
        </p:nvSpPr>
        <p:spPr>
          <a:xfrm>
            <a:off x="623392" y="1214422"/>
            <a:ext cx="11017224" cy="5381281"/>
          </a:xfrm>
          <a:prstGeom prst="rect">
            <a:avLst/>
          </a:prstGeom>
        </p:spPr>
        <p:txBody>
          <a:bodyPr wrap="square">
            <a:spAutoFit/>
          </a:bodyPr>
          <a:lstStyle/>
          <a:p>
            <a:pPr algn="just">
              <a:spcAft>
                <a:spcPts val="1800"/>
              </a:spcAft>
            </a:pPr>
            <a:r>
              <a:rPr lang="en-IN" sz="2400" b="1">
                <a:latin typeface="Times New Roman" panose="02020603050405020304" pitchFamily="18" charset="0"/>
                <a:cs typeface="Times New Roman" pitchFamily="18" charset="0"/>
              </a:rPr>
              <a:t>EXISTING SYSTEM</a:t>
            </a:r>
          </a:p>
          <a:p>
            <a:pPr algn="just">
              <a:lnSpc>
                <a:spcPct val="150000"/>
              </a:lnSpc>
              <a:spcAft>
                <a:spcPts val="1800"/>
              </a:spcAft>
            </a:pPr>
            <a:r>
              <a:rPr lang="en-US" b="1" i="0">
                <a:effectLst/>
                <a:latin typeface="Times New Roman" panose="02020603050405020304" pitchFamily="18" charset="0"/>
                <a:cs typeface="Times New Roman" panose="02020603050405020304" pitchFamily="18" charset="0"/>
              </a:rPr>
              <a:t>Manual control</a:t>
            </a:r>
            <a:r>
              <a:rPr lang="en-US" b="0" i="0">
                <a:effectLst/>
                <a:latin typeface="Times New Roman" panose="02020603050405020304" pitchFamily="18" charset="0"/>
                <a:cs typeface="Times New Roman" panose="02020603050405020304" pitchFamily="18" charset="0"/>
              </a:rPr>
              <a:t>: involves human operator who changes signal timing based on judgment of traffic flow, but is susceptible to human error leading to inefficiencies and delays.</a:t>
            </a:r>
          </a:p>
          <a:p>
            <a:pPr algn="just">
              <a:lnSpc>
                <a:spcPct val="150000"/>
              </a:lnSpc>
              <a:spcAft>
                <a:spcPts val="1800"/>
              </a:spcAft>
            </a:pPr>
            <a:r>
              <a:rPr lang="en-US" b="1" i="0">
                <a:effectLst/>
                <a:latin typeface="Times New Roman" panose="02020603050405020304" pitchFamily="18" charset="0"/>
                <a:cs typeface="Times New Roman" panose="02020603050405020304" pitchFamily="18" charset="0"/>
              </a:rPr>
              <a:t>Fixed-time control</a:t>
            </a:r>
            <a:r>
              <a:rPr lang="en-US" b="0" i="0">
                <a:effectLst/>
                <a:latin typeface="Times New Roman" panose="02020603050405020304" pitchFamily="18" charset="0"/>
                <a:cs typeface="Times New Roman" panose="02020603050405020304" pitchFamily="18" charset="0"/>
              </a:rPr>
              <a:t>: pre-determined and fixed signal timing regardless of traffic volume, easy to implement but can cause delays and congestion during peak traffic periods.</a:t>
            </a:r>
          </a:p>
          <a:p>
            <a:pPr algn="just">
              <a:lnSpc>
                <a:spcPct val="150000"/>
              </a:lnSpc>
            </a:pPr>
            <a:r>
              <a:rPr lang="en-US" b="1" i="0">
                <a:effectLst/>
                <a:latin typeface="Times New Roman" panose="02020603050405020304" pitchFamily="18" charset="0"/>
                <a:cs typeface="Times New Roman" panose="02020603050405020304" pitchFamily="18" charset="0"/>
              </a:rPr>
              <a:t>Actuated control</a:t>
            </a:r>
            <a:r>
              <a:rPr lang="en-US" b="0" i="0">
                <a:effectLst/>
                <a:latin typeface="Times New Roman" panose="02020603050405020304" pitchFamily="18" charset="0"/>
                <a:cs typeface="Times New Roman" panose="02020603050405020304" pitchFamily="18" charset="0"/>
              </a:rPr>
              <a:t>: Actuated control is a method that utilizes sensors to detect the presence of vehicles or pedestrians at the intersection and adjust the signal timing based on real-time traffic flow. However, this method is not specifically focused on emergency vehicles and their need for priority in traffic signal control. Therefore, alternative methods such as GPS-based pre-emption control systems or Li-Fi-based automatic traffic signal control systems have been proposed to provide priority to emergency vehicles.</a:t>
            </a:r>
          </a:p>
          <a:p>
            <a:pPr algn="just">
              <a:lnSpc>
                <a:spcPct val="150000"/>
              </a:lnSpc>
              <a:spcAft>
                <a:spcPts val="1800"/>
              </a:spcAft>
            </a:pPr>
            <a:endParaRPr lang="en-IN" sz="2400" b="1" dirty="0">
              <a:latin typeface="Times New Roman" panose="02020603050405020304"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VIII Semester, Department of ISE, RNSIT</a:t>
            </a:r>
            <a:endParaRPr lang="en-US" dirty="0"/>
          </a:p>
        </p:txBody>
      </p:sp>
      <p:sp>
        <p:nvSpPr>
          <p:cNvPr id="3" name="Footer Placeholder 2"/>
          <p:cNvSpPr>
            <a:spLocks noGrp="1"/>
          </p:cNvSpPr>
          <p:nvPr>
            <p:ph type="ftr" sz="quarter" idx="11"/>
          </p:nvPr>
        </p:nvSpPr>
        <p:spPr/>
        <p:txBody>
          <a:bodyPr/>
          <a:lstStyle/>
          <a:p>
            <a:r>
              <a:rPr lang="en-US" dirty="0"/>
              <a:t>2022 - 2023</a:t>
            </a:r>
          </a:p>
        </p:txBody>
      </p:sp>
      <p:sp>
        <p:nvSpPr>
          <p:cNvPr id="4" name="Slide Number Placeholder 3"/>
          <p:cNvSpPr>
            <a:spLocks noGrp="1"/>
          </p:cNvSpPr>
          <p:nvPr>
            <p:ph type="sldNum" sz="quarter" idx="12"/>
          </p:nvPr>
        </p:nvSpPr>
        <p:spPr/>
        <p:txBody>
          <a:bodyPr/>
          <a:lstStyle/>
          <a:p>
            <a:fld id="{5B4F5413-E548-45A8-B9DD-11B71454D5CA}" type="slidenum">
              <a:rPr lang="en-US" smtClean="0"/>
              <a:pPr/>
              <a:t>6</a:t>
            </a:fld>
            <a:endParaRPr lang="en-US" dirty="0"/>
          </a:p>
        </p:txBody>
      </p:sp>
      <p:sp>
        <p:nvSpPr>
          <p:cNvPr id="5" name="Rectangle 4"/>
          <p:cNvSpPr/>
          <p:nvPr/>
        </p:nvSpPr>
        <p:spPr>
          <a:xfrm>
            <a:off x="3381356" y="214290"/>
            <a:ext cx="4572032" cy="584775"/>
          </a:xfrm>
          <a:prstGeom prst="rect">
            <a:avLst/>
          </a:prstGeom>
        </p:spPr>
        <p:txBody>
          <a:bodyPr wrap="square">
            <a:spAutoFit/>
          </a:bodyPr>
          <a:lstStyle/>
          <a:p>
            <a:r>
              <a:rPr lang="en-US" sz="2400" b="1" dirty="0">
                <a:solidFill>
                  <a:schemeClr val="accent1">
                    <a:lumMod val="75000"/>
                  </a:schemeClr>
                </a:solidFill>
                <a:latin typeface="Times New Roman" pitchFamily="18" charset="0"/>
                <a:cs typeface="Times New Roman" pitchFamily="18" charset="0"/>
              </a:rPr>
              <a:t>      </a:t>
            </a:r>
            <a:r>
              <a:rPr lang="en-US" sz="3200" b="1" dirty="0">
                <a:solidFill>
                  <a:schemeClr val="accent1">
                    <a:lumMod val="75000"/>
                  </a:schemeClr>
                </a:solidFill>
                <a:latin typeface="Times New Roman" pitchFamily="18" charset="0"/>
                <a:cs typeface="Times New Roman" pitchFamily="18" charset="0"/>
              </a:rPr>
              <a:t>INTRODUCTION</a:t>
            </a:r>
            <a:endParaRPr lang="en-US" sz="3200" b="1" dirty="0">
              <a:latin typeface="Times New Roman" pitchFamily="18" charset="0"/>
              <a:cs typeface="Times New Roman" pitchFamily="18" charset="0"/>
            </a:endParaRPr>
          </a:p>
        </p:txBody>
      </p:sp>
      <p:sp>
        <p:nvSpPr>
          <p:cNvPr id="6" name="Rectangle 5"/>
          <p:cNvSpPr/>
          <p:nvPr/>
        </p:nvSpPr>
        <p:spPr>
          <a:xfrm>
            <a:off x="623392" y="1214422"/>
            <a:ext cx="11017224" cy="4566891"/>
          </a:xfrm>
          <a:prstGeom prst="rect">
            <a:avLst/>
          </a:prstGeom>
        </p:spPr>
        <p:txBody>
          <a:bodyPr wrap="square">
            <a:spAutoFit/>
          </a:bodyPr>
          <a:lstStyle/>
          <a:p>
            <a:pPr algn="just">
              <a:lnSpc>
                <a:spcPct val="150000"/>
              </a:lnSpc>
              <a:spcAft>
                <a:spcPts val="1800"/>
              </a:spcAft>
            </a:pPr>
            <a:r>
              <a:rPr lang="en-IN" sz="2400" b="1">
                <a:latin typeface="Times New Roman" panose="02020603050405020304" pitchFamily="18" charset="0"/>
                <a:cs typeface="Times New Roman" pitchFamily="18" charset="0"/>
              </a:rPr>
              <a:t>PROPOSED SYSTEM</a:t>
            </a:r>
          </a:p>
          <a:p>
            <a:pPr marL="285750" indent="-285750" algn="just">
              <a:lnSpc>
                <a:spcPct val="150000"/>
              </a:lnSpc>
              <a:buFont typeface="Wingdings" panose="05000000000000000000" pitchFamily="2" charset="2"/>
              <a:buChar char="Ø"/>
            </a:pPr>
            <a:r>
              <a:rPr lang="en-US" b="0" i="0">
                <a:effectLst/>
                <a:latin typeface="Times New Roman" panose="02020603050405020304" pitchFamily="18" charset="0"/>
                <a:cs typeface="Times New Roman" panose="02020603050405020304" pitchFamily="18" charset="0"/>
              </a:rPr>
              <a:t>LED-based LiFi transmitters will be installed in emergency vehicles, which will communicate with LiFi receivers installed in the traffic signal poles.</a:t>
            </a:r>
          </a:p>
          <a:p>
            <a:pPr marL="285750" indent="-285750" algn="just">
              <a:lnSpc>
                <a:spcPct val="150000"/>
              </a:lnSpc>
              <a:buFont typeface="Wingdings" panose="05000000000000000000" pitchFamily="2" charset="2"/>
              <a:buChar char="Ø"/>
            </a:pPr>
            <a:r>
              <a:rPr lang="en-US" b="0" i="0">
                <a:effectLst/>
                <a:latin typeface="Times New Roman" panose="02020603050405020304" pitchFamily="18" charset="0"/>
                <a:cs typeface="Times New Roman" panose="02020603050405020304" pitchFamily="18" charset="0"/>
              </a:rPr>
              <a:t>The system will use LiFi communication technology to transmit information about the emergency vehicle's location and direction to the traffic signal controller.</a:t>
            </a:r>
          </a:p>
          <a:p>
            <a:pPr marL="285750" indent="-285750" algn="just">
              <a:lnSpc>
                <a:spcPct val="150000"/>
              </a:lnSpc>
              <a:buFont typeface="Wingdings" panose="05000000000000000000" pitchFamily="2" charset="2"/>
              <a:buChar char="Ø"/>
            </a:pPr>
            <a:r>
              <a:rPr lang="en-US" b="0" i="0">
                <a:effectLst/>
                <a:latin typeface="Times New Roman" panose="02020603050405020304" pitchFamily="18" charset="0"/>
                <a:cs typeface="Times New Roman" panose="02020603050405020304" pitchFamily="18" charset="0"/>
              </a:rPr>
              <a:t>The traffic signal controller will analyze the received data and automatically adjust the signal timing to give priority to the emergency vehicle.</a:t>
            </a:r>
          </a:p>
          <a:p>
            <a:pPr marL="285750" indent="-285750" algn="just">
              <a:lnSpc>
                <a:spcPct val="150000"/>
              </a:lnSpc>
              <a:buFont typeface="Wingdings" panose="05000000000000000000" pitchFamily="2" charset="2"/>
              <a:buChar char="Ø"/>
            </a:pPr>
            <a:r>
              <a:rPr lang="en-US" b="0" i="0">
                <a:effectLst/>
                <a:latin typeface="Times New Roman" panose="02020603050405020304" pitchFamily="18" charset="0"/>
                <a:cs typeface="Times New Roman" panose="02020603050405020304" pitchFamily="18" charset="0"/>
              </a:rPr>
              <a:t>The system can be integrated with other emergency services such as fire and police vehicles for seamless traffic management.</a:t>
            </a:r>
          </a:p>
          <a:p>
            <a:pPr marL="285750" indent="-285750" algn="just">
              <a:lnSpc>
                <a:spcPct val="150000"/>
              </a:lnSpc>
              <a:buFont typeface="Wingdings" panose="05000000000000000000" pitchFamily="2" charset="2"/>
              <a:buChar char="Ø"/>
            </a:pPr>
            <a:r>
              <a:rPr lang="en-US" b="0" i="0">
                <a:effectLst/>
                <a:latin typeface="Times New Roman" panose="02020603050405020304" pitchFamily="18" charset="0"/>
                <a:cs typeface="Times New Roman" panose="02020603050405020304" pitchFamily="18" charset="0"/>
              </a:rPr>
              <a:t>The proposed system is cost-effective, reliable, and efficient compared to traditional traffic signal control systems.</a:t>
            </a:r>
          </a:p>
        </p:txBody>
      </p:sp>
    </p:spTree>
    <p:extLst>
      <p:ext uri="{BB962C8B-B14F-4D97-AF65-F5344CB8AC3E}">
        <p14:creationId xmlns:p14="http://schemas.microsoft.com/office/powerpoint/2010/main" val="60291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p:txBody>
          <a:bodyPr/>
          <a:lstStyle/>
          <a:p>
            <a:r>
              <a:rPr lang="en-US"/>
              <a:t>VIII Semester, Department of ISE, RNSIT</a:t>
            </a:r>
            <a:endParaRPr lang="en-US" dirty="0"/>
          </a:p>
        </p:txBody>
      </p:sp>
      <p:sp>
        <p:nvSpPr>
          <p:cNvPr id="7"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p:txBody>
          <a:bodyPr/>
          <a:lstStyle/>
          <a:p>
            <a:r>
              <a:rPr lang="en-US" dirty="0"/>
              <a:t>2022 - 2023</a:t>
            </a:r>
          </a:p>
        </p:txBody>
      </p:sp>
      <p:sp>
        <p:nvSpPr>
          <p:cNvPr id="4" name="Title 3"/>
          <p:cNvSpPr txBox="1">
            <a:spLocks/>
          </p:cNvSpPr>
          <p:nvPr/>
        </p:nvSpPr>
        <p:spPr>
          <a:xfrm>
            <a:off x="1981200" y="152400"/>
            <a:ext cx="8229600" cy="684312"/>
          </a:xfrm>
          <a:prstGeom prst="rect">
            <a:avLst/>
          </a:prstGeom>
        </p:spPr>
        <p:txBody>
          <a:bodyPr vert="horz" anchor="b">
            <a:normAutofit fontScale="97500"/>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IN" b="1" dirty="0">
                <a:solidFill>
                  <a:schemeClr val="accent1">
                    <a:lumMod val="75000"/>
                  </a:schemeClr>
                </a:solidFill>
                <a:latin typeface="Times New Roman" pitchFamily="18" charset="0"/>
                <a:cs typeface="Times New Roman" pitchFamily="18" charset="0"/>
              </a:rPr>
              <a:t>LITERATURE</a:t>
            </a:r>
            <a:r>
              <a:rPr lang="en-IN" b="1" dirty="0">
                <a:solidFill>
                  <a:schemeClr val="accent1"/>
                </a:solidFill>
                <a:latin typeface="Times New Roman" pitchFamily="18" charset="0"/>
                <a:cs typeface="Times New Roman" pitchFamily="18" charset="0"/>
              </a:rPr>
              <a:t> </a:t>
            </a:r>
            <a:r>
              <a:rPr lang="en-IN" b="1" dirty="0">
                <a:solidFill>
                  <a:schemeClr val="accent1">
                    <a:lumMod val="75000"/>
                  </a:schemeClr>
                </a:solidFill>
                <a:latin typeface="Times New Roman" pitchFamily="18" charset="0"/>
                <a:cs typeface="Times New Roman" pitchFamily="18" charset="0"/>
              </a:rPr>
              <a:t>SURVEY</a:t>
            </a:r>
          </a:p>
        </p:txBody>
      </p:sp>
      <p:sp>
        <p:nvSpPr>
          <p:cNvPr id="2" name="Slide Number Placeholder 1">
            <a:extLst>
              <a:ext uri="{FF2B5EF4-FFF2-40B4-BE49-F238E27FC236}">
                <a16:creationId xmlns:a16="http://schemas.microsoft.com/office/drawing/2014/main" id="{A10D85D3-EAD9-4C96-869F-7DA3C3441C3B}"/>
              </a:ext>
            </a:extLst>
          </p:cNvPr>
          <p:cNvSpPr>
            <a:spLocks noGrp="1"/>
          </p:cNvSpPr>
          <p:nvPr>
            <p:ph type="sldNum" sz="quarter" idx="12"/>
          </p:nvPr>
        </p:nvSpPr>
        <p:spPr/>
        <p:txBody>
          <a:bodyPr/>
          <a:lstStyle/>
          <a:p>
            <a:fld id="{5B4F5413-E548-45A8-B9DD-11B71454D5CA}" type="slidenum">
              <a:rPr lang="en-US" smtClean="0"/>
              <a:pPr/>
              <a:t>7</a:t>
            </a:fld>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726199322"/>
              </p:ext>
            </p:extLst>
          </p:nvPr>
        </p:nvGraphicFramePr>
        <p:xfrm>
          <a:off x="838201" y="1196752"/>
          <a:ext cx="10515599" cy="4230934"/>
        </p:xfrm>
        <a:graphic>
          <a:graphicData uri="http://schemas.openxmlformats.org/drawingml/2006/table">
            <a:tbl>
              <a:tblPr firstRow="1" bandRow="1">
                <a:tableStyleId>{5C22544A-7EE6-4342-B048-85BDC9FD1C3A}</a:tableStyleId>
              </a:tblPr>
              <a:tblGrid>
                <a:gridCol w="671207">
                  <a:extLst>
                    <a:ext uri="{9D8B030D-6E8A-4147-A177-3AD203B41FA5}">
                      <a16:colId xmlns:a16="http://schemas.microsoft.com/office/drawing/2014/main" val="20000"/>
                    </a:ext>
                  </a:extLst>
                </a:gridCol>
                <a:gridCol w="170627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3816424">
                  <a:extLst>
                    <a:ext uri="{9D8B030D-6E8A-4147-A177-3AD203B41FA5}">
                      <a16:colId xmlns:a16="http://schemas.microsoft.com/office/drawing/2014/main" val="20003"/>
                    </a:ext>
                  </a:extLst>
                </a:gridCol>
                <a:gridCol w="1873424">
                  <a:extLst>
                    <a:ext uri="{9D8B030D-6E8A-4147-A177-3AD203B41FA5}">
                      <a16:colId xmlns:a16="http://schemas.microsoft.com/office/drawing/2014/main" val="4055658013"/>
                    </a:ext>
                  </a:extLst>
                </a:gridCol>
              </a:tblGrid>
              <a:tr h="103332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a:latin typeface="Times New Roman" panose="02020603050405020304" pitchFamily="18" charset="0"/>
                          <a:cs typeface="Times New Roman" panose="02020603050405020304" pitchFamily="18" charset="0"/>
                        </a:rPr>
                        <a:t>Sl </a:t>
                      </a:r>
                      <a:r>
                        <a:rPr lang="en-IN" sz="1400" dirty="0">
                          <a:latin typeface="Times New Roman" panose="02020603050405020304" pitchFamily="18" charset="0"/>
                          <a:cs typeface="Times New Roman" panose="02020603050405020304" pitchFamily="18" charset="0"/>
                        </a:rPr>
                        <a:t>No</a:t>
                      </a:r>
                    </a:p>
                    <a:p>
                      <a:pPr algn="ct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Title of the paper</a:t>
                      </a:r>
                    </a:p>
                    <a:p>
                      <a:pPr algn="ct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Authors</a:t>
                      </a:r>
                    </a:p>
                    <a:p>
                      <a:pPr algn="ctr"/>
                      <a:r>
                        <a:rPr lang="en-US" sz="1400">
                          <a:latin typeface="Times New Roman" panose="02020603050405020304" pitchFamily="18" charset="0"/>
                          <a:cs typeface="Times New Roman" panose="02020603050405020304" pitchFamily="18" charset="0"/>
                        </a:rPr>
                        <a:t>and year of publication</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Summary</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Future Enhancement</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612651">
                <a:tc>
                  <a:txBody>
                    <a:bodyPr/>
                    <a:lstStyle/>
                    <a:p>
                      <a:pPr algn="ctr"/>
                      <a:r>
                        <a:rPr lang="en-US" sz="1400" dirty="0">
                          <a:latin typeface="Times New Roman" panose="02020603050405020304" pitchFamily="18" charset="0"/>
                          <a:cs typeface="Times New Roman" panose="02020603050405020304"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dk1"/>
                          </a:solidFill>
                          <a:effectLst/>
                          <a:latin typeface="+mn-lt"/>
                          <a:ea typeface="+mn-ea"/>
                          <a:cs typeface="+mn-cs"/>
                        </a:rPr>
                        <a:t>A GPS based traffic light pre-emption control system for emergency vehicles</a:t>
                      </a:r>
                    </a:p>
                    <a:p>
                      <a:pPr algn="l"/>
                      <a:endParaRPr lang="en-US" sz="140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800"/>
                        </a:spcAft>
                      </a:pPr>
                      <a:r>
                        <a:rPr lang="en-IN" sz="1400" b="0" i="0" u="none" strike="noStrike" kern="1200">
                          <a:solidFill>
                            <a:schemeClr val="dk1"/>
                          </a:solidFill>
                          <a:effectLst/>
                          <a:latin typeface="+mn-lt"/>
                          <a:ea typeface="+mn-ea"/>
                          <a:cs typeface="+mn-cs"/>
                          <a:hlinkClick r:id="rId2"/>
                        </a:rPr>
                        <a:t>Abubakr S. Eltayeb</a:t>
                      </a:r>
                      <a:r>
                        <a:rPr lang="en-IN" sz="1400" b="0" i="0" kern="1200">
                          <a:solidFill>
                            <a:schemeClr val="dk1"/>
                          </a:solidFill>
                          <a:effectLst/>
                          <a:latin typeface="+mn-lt"/>
                          <a:ea typeface="+mn-ea"/>
                          <a:cs typeface="+mn-cs"/>
                        </a:rPr>
                        <a:t>; </a:t>
                      </a:r>
                      <a:r>
                        <a:rPr lang="en-IN" sz="1400" b="0" i="0" u="none" strike="noStrike" kern="1200">
                          <a:solidFill>
                            <a:schemeClr val="dk1"/>
                          </a:solidFill>
                          <a:effectLst/>
                          <a:latin typeface="+mn-lt"/>
                          <a:ea typeface="+mn-ea"/>
                          <a:cs typeface="+mn-cs"/>
                          <a:hlinkClick r:id="rId3"/>
                        </a:rPr>
                        <a:t>Halla O. Almubarak</a:t>
                      </a:r>
                      <a:r>
                        <a:rPr lang="en-IN" sz="1400" b="0" i="0" kern="1200">
                          <a:solidFill>
                            <a:schemeClr val="dk1"/>
                          </a:solidFill>
                          <a:effectLst/>
                          <a:latin typeface="+mn-lt"/>
                          <a:ea typeface="+mn-ea"/>
                          <a:cs typeface="+mn-cs"/>
                        </a:rPr>
                        <a:t>; </a:t>
                      </a:r>
                      <a:r>
                        <a:rPr lang="en-IN" sz="1400" b="0" i="0" u="sng" kern="1200">
                          <a:solidFill>
                            <a:schemeClr val="dk1"/>
                          </a:solidFill>
                          <a:effectLst/>
                          <a:latin typeface="+mn-lt"/>
                          <a:ea typeface="+mn-ea"/>
                          <a:cs typeface="+mn-cs"/>
                          <a:hlinkClick r:id="rId4"/>
                        </a:rPr>
                        <a:t>Tahani Abdalla Attia</a:t>
                      </a:r>
                      <a:endParaRPr lang="en-IN" sz="1400" b="0" i="0" u="sng" kern="1200">
                        <a:solidFill>
                          <a:schemeClr val="dk1"/>
                        </a:solidFill>
                        <a:effectLst/>
                        <a:latin typeface="+mn-lt"/>
                        <a:ea typeface="+mn-ea"/>
                        <a:cs typeface="+mn-cs"/>
                      </a:endParaRPr>
                    </a:p>
                    <a:p>
                      <a:pPr algn="l">
                        <a:lnSpc>
                          <a:spcPct val="100000"/>
                        </a:lnSpc>
                        <a:spcAft>
                          <a:spcPts val="800"/>
                        </a:spcAft>
                      </a:pPr>
                      <a:r>
                        <a:rPr lang="en-IN" sz="1400" b="0" i="0" u="sng" kern="1200">
                          <a:solidFill>
                            <a:schemeClr val="dk1"/>
                          </a:solidFill>
                          <a:effectLst/>
                          <a:latin typeface="+mn-lt"/>
                          <a:ea typeface="+mn-ea"/>
                          <a:cs typeface="+mn-cs"/>
                        </a:rPr>
                        <a:t>2013</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dk1"/>
                          </a:solidFill>
                          <a:latin typeface="+mn-lt"/>
                          <a:ea typeface="+mn-ea"/>
                          <a:cs typeface="+mn-cs"/>
                        </a:rPr>
                        <a:t>The design and implementation of an automatic preemption traffic control system, based on the global positioning system satellites.</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kern="1200">
                          <a:solidFill>
                            <a:schemeClr val="dk1"/>
                          </a:solidFill>
                          <a:effectLst/>
                          <a:latin typeface="+mn-lt"/>
                          <a:ea typeface="Calibri" panose="020F0502020204030204" pitchFamily="34" charset="0"/>
                          <a:cs typeface="Times New Roman" panose="02020603050405020304" pitchFamily="18" charset="0"/>
                        </a:rPr>
                        <a:t>Gps requires a lot of energy</a:t>
                      </a:r>
                      <a:r>
                        <a:rPr lang="en-US" sz="1400" b="0" kern="1200">
                          <a:solidFill>
                            <a:schemeClr val="dk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1"/>
                  </a:ext>
                </a:extLst>
              </a:tr>
              <a:tr h="1281575">
                <a:tc>
                  <a:txBody>
                    <a:bodyPr/>
                    <a:lstStyle/>
                    <a:p>
                      <a:pPr algn="ctr"/>
                      <a:r>
                        <a:rPr lang="en-US" sz="14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dk1"/>
                          </a:solidFill>
                          <a:latin typeface="+mn-lt"/>
                          <a:ea typeface="+mn-ea"/>
                          <a:cs typeface="Times New Roman" panose="02020603050405020304" pitchFamily="18" charset="0"/>
                        </a:rPr>
                        <a:t>Implementing Intelligent Traffic Control System for Congestion Control, Ambulance Clearance and Stolen Vehicle Detection</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7000"/>
                        </a:lnSpc>
                        <a:spcAft>
                          <a:spcPts val="800"/>
                        </a:spcAft>
                      </a:pPr>
                      <a:r>
                        <a:rPr lang="en-IN" sz="1400" b="0" kern="1200">
                          <a:solidFill>
                            <a:schemeClr val="dk1"/>
                          </a:solidFill>
                          <a:latin typeface="+mn-lt"/>
                          <a:ea typeface="+mn-ea"/>
                          <a:cs typeface="Times New Roman" panose="02020603050405020304" pitchFamily="18" charset="0"/>
                        </a:rPr>
                        <a:t>Rajeshwari S., Santhoshs Hebbar, Varaprasad Golla</a:t>
                      </a:r>
                    </a:p>
                    <a:p>
                      <a:pPr algn="l">
                        <a:lnSpc>
                          <a:spcPct val="107000"/>
                        </a:lnSpc>
                        <a:spcAft>
                          <a:spcPts val="800"/>
                        </a:spcAft>
                      </a:pPr>
                      <a:r>
                        <a:rPr lang="en-IN" sz="1400" b="0" kern="1200">
                          <a:solidFill>
                            <a:schemeClr val="dk1"/>
                          </a:solidFill>
                          <a:effectLst/>
                          <a:latin typeface="+mn-lt"/>
                          <a:ea typeface="+mn-ea"/>
                          <a:cs typeface="Times New Roman" panose="02020603050405020304" pitchFamily="18" charset="0"/>
                        </a:rPr>
                        <a:t>2015</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dk1"/>
                          </a:solidFill>
                          <a:effectLst/>
                          <a:latin typeface="+mn-lt"/>
                          <a:ea typeface="+mn-ea"/>
                          <a:cs typeface="Times New Roman" panose="02020603050405020304" pitchFamily="18" charset="0"/>
                        </a:rPr>
                        <a:t>Each individual vehicle is equipped with special radio frequency identification (RFID) tag (placed at a strategic location).They used RFID reader, NSK EDK-125-TTL, and PIC16F877A system-on-chip to read the RFID tags attached to the vehicle. </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dk1"/>
                          </a:solidFill>
                          <a:latin typeface="+mn-lt"/>
                          <a:ea typeface="+mn-ea"/>
                          <a:cs typeface="Times New Roman" panose="02020603050405020304" pitchFamily="18" charset="0"/>
                        </a:rPr>
                        <a:t>Low security offered where RFID messages are prone to unauthorized access.</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90456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p:txBody>
          <a:bodyPr/>
          <a:lstStyle/>
          <a:p>
            <a:r>
              <a:rPr lang="en-US"/>
              <a:t>VIII Semester, Department of ISE, RNSIT</a:t>
            </a:r>
            <a:endParaRPr lang="en-US" dirty="0"/>
          </a:p>
        </p:txBody>
      </p:sp>
      <p:sp>
        <p:nvSpPr>
          <p:cNvPr id="7"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p:txBody>
          <a:bodyPr/>
          <a:lstStyle/>
          <a:p>
            <a:r>
              <a:rPr lang="en-US" dirty="0"/>
              <a:t>2022 - 2023</a:t>
            </a:r>
          </a:p>
        </p:txBody>
      </p:sp>
      <p:sp>
        <p:nvSpPr>
          <p:cNvPr id="4" name="Title 3"/>
          <p:cNvSpPr txBox="1">
            <a:spLocks/>
          </p:cNvSpPr>
          <p:nvPr/>
        </p:nvSpPr>
        <p:spPr>
          <a:xfrm>
            <a:off x="1981200" y="152400"/>
            <a:ext cx="8229600" cy="684312"/>
          </a:xfrm>
          <a:prstGeom prst="rect">
            <a:avLst/>
          </a:prstGeom>
        </p:spPr>
        <p:txBody>
          <a:bodyPr vert="horz" anchor="b">
            <a:normAutofit fontScale="97500"/>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IN" b="1" dirty="0">
                <a:solidFill>
                  <a:schemeClr val="accent1">
                    <a:lumMod val="75000"/>
                  </a:schemeClr>
                </a:solidFill>
                <a:latin typeface="Times New Roman" pitchFamily="18" charset="0"/>
                <a:cs typeface="Times New Roman" pitchFamily="18" charset="0"/>
              </a:rPr>
              <a:t>LITERATURE</a:t>
            </a:r>
            <a:r>
              <a:rPr lang="en-IN" b="1" dirty="0">
                <a:solidFill>
                  <a:schemeClr val="accent1"/>
                </a:solidFill>
                <a:latin typeface="Times New Roman" pitchFamily="18" charset="0"/>
                <a:cs typeface="Times New Roman" pitchFamily="18" charset="0"/>
              </a:rPr>
              <a:t> </a:t>
            </a:r>
            <a:r>
              <a:rPr lang="en-IN" b="1" dirty="0">
                <a:solidFill>
                  <a:schemeClr val="accent1">
                    <a:lumMod val="75000"/>
                  </a:schemeClr>
                </a:solidFill>
                <a:latin typeface="Times New Roman" pitchFamily="18" charset="0"/>
                <a:cs typeface="Times New Roman" pitchFamily="18" charset="0"/>
              </a:rPr>
              <a:t>SURVEY</a:t>
            </a:r>
          </a:p>
        </p:txBody>
      </p:sp>
      <p:sp>
        <p:nvSpPr>
          <p:cNvPr id="2" name="Slide Number Placeholder 1">
            <a:extLst>
              <a:ext uri="{FF2B5EF4-FFF2-40B4-BE49-F238E27FC236}">
                <a16:creationId xmlns:a16="http://schemas.microsoft.com/office/drawing/2014/main" id="{A10D85D3-EAD9-4C96-869F-7DA3C3441C3B}"/>
              </a:ext>
            </a:extLst>
          </p:cNvPr>
          <p:cNvSpPr>
            <a:spLocks noGrp="1"/>
          </p:cNvSpPr>
          <p:nvPr>
            <p:ph type="sldNum" sz="quarter" idx="12"/>
          </p:nvPr>
        </p:nvSpPr>
        <p:spPr/>
        <p:txBody>
          <a:bodyPr/>
          <a:lstStyle/>
          <a:p>
            <a:fld id="{5B4F5413-E548-45A8-B9DD-11B71454D5CA}" type="slidenum">
              <a:rPr lang="en-US" smtClean="0"/>
              <a:pPr/>
              <a:t>8</a:t>
            </a:fld>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851199013"/>
              </p:ext>
            </p:extLst>
          </p:nvPr>
        </p:nvGraphicFramePr>
        <p:xfrm>
          <a:off x="838201" y="1196752"/>
          <a:ext cx="10515599" cy="4650352"/>
        </p:xfrm>
        <a:graphic>
          <a:graphicData uri="http://schemas.openxmlformats.org/drawingml/2006/table">
            <a:tbl>
              <a:tblPr firstRow="1" bandRow="1">
                <a:tableStyleId>{5C22544A-7EE6-4342-B048-85BDC9FD1C3A}</a:tableStyleId>
              </a:tblPr>
              <a:tblGrid>
                <a:gridCol w="671207">
                  <a:extLst>
                    <a:ext uri="{9D8B030D-6E8A-4147-A177-3AD203B41FA5}">
                      <a16:colId xmlns:a16="http://schemas.microsoft.com/office/drawing/2014/main" val="20000"/>
                    </a:ext>
                  </a:extLst>
                </a:gridCol>
                <a:gridCol w="170627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3816424">
                  <a:extLst>
                    <a:ext uri="{9D8B030D-6E8A-4147-A177-3AD203B41FA5}">
                      <a16:colId xmlns:a16="http://schemas.microsoft.com/office/drawing/2014/main" val="20003"/>
                    </a:ext>
                  </a:extLst>
                </a:gridCol>
                <a:gridCol w="1873424">
                  <a:extLst>
                    <a:ext uri="{9D8B030D-6E8A-4147-A177-3AD203B41FA5}">
                      <a16:colId xmlns:a16="http://schemas.microsoft.com/office/drawing/2014/main" val="4055658013"/>
                    </a:ext>
                  </a:extLst>
                </a:gridCol>
              </a:tblGrid>
              <a:tr h="103332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a:latin typeface="Times New Roman" panose="02020603050405020304" pitchFamily="18" charset="0"/>
                          <a:cs typeface="Times New Roman" panose="02020603050405020304" pitchFamily="18" charset="0"/>
                        </a:rPr>
                        <a:t>Sl </a:t>
                      </a:r>
                      <a:r>
                        <a:rPr lang="en-IN" sz="1400" dirty="0">
                          <a:latin typeface="Times New Roman" panose="02020603050405020304" pitchFamily="18" charset="0"/>
                          <a:cs typeface="Times New Roman" panose="02020603050405020304" pitchFamily="18" charset="0"/>
                        </a:rPr>
                        <a:t>No</a:t>
                      </a:r>
                    </a:p>
                    <a:p>
                      <a:pPr algn="ct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Title of the paper</a:t>
                      </a:r>
                    </a:p>
                    <a:p>
                      <a:pPr algn="ct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Authors</a:t>
                      </a:r>
                    </a:p>
                    <a:p>
                      <a:pPr algn="ctr"/>
                      <a:r>
                        <a:rPr lang="en-US" sz="1400">
                          <a:latin typeface="Times New Roman" panose="02020603050405020304" pitchFamily="18" charset="0"/>
                          <a:cs typeface="Times New Roman" panose="02020603050405020304" pitchFamily="18" charset="0"/>
                        </a:rPr>
                        <a:t>and year of publication</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Summary</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Future Enhancement</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612651">
                <a:tc>
                  <a:txBody>
                    <a:bodyPr/>
                    <a:lstStyle/>
                    <a:p>
                      <a:pPr algn="ctr"/>
                      <a:r>
                        <a:rPr lang="en-US" sz="1400">
                          <a:latin typeface="Times New Roman" panose="02020603050405020304" pitchFamily="18" charset="0"/>
                          <a:cs typeface="Times New Roman" panose="02020603050405020304" pitchFamily="18" charset="0"/>
                        </a:rPr>
                        <a:t>3.</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dk1"/>
                          </a:solidFill>
                          <a:latin typeface="+mn-lt"/>
                          <a:ea typeface="+mn-ea"/>
                          <a:cs typeface="Times New Roman" panose="02020603050405020304" pitchFamily="18" charset="0"/>
                        </a:rPr>
                        <a:t>GPS and ZigBee Based Traffic Signal Preemption </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IN" sz="1400" b="0" kern="1200">
                          <a:solidFill>
                            <a:schemeClr val="dk1"/>
                          </a:solidFill>
                          <a:latin typeface="+mn-lt"/>
                          <a:ea typeface="+mn-ea"/>
                          <a:cs typeface="Times New Roman" panose="02020603050405020304" pitchFamily="18" charset="0"/>
                        </a:rPr>
                        <a:t>Vineeth Kodire, Sreebha Bhaskaran, Vishwas H.N. </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lnSpc>
                          <a:spcPct val="100000"/>
                        </a:lnSpc>
                        <a:spcAft>
                          <a:spcPts val="800"/>
                        </a:spcAft>
                      </a:pPr>
                      <a:r>
                        <a:rPr lang="en-IN" sz="1400" b="0" i="0" u="sng" kern="1200">
                          <a:solidFill>
                            <a:schemeClr val="dk1"/>
                          </a:solidFill>
                          <a:effectLst/>
                          <a:latin typeface="+mn-lt"/>
                          <a:ea typeface="+mn-ea"/>
                          <a:cs typeface="+mn-cs"/>
                        </a:rPr>
                        <a:t>2016</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7000"/>
                        </a:lnSpc>
                        <a:spcAft>
                          <a:spcPts val="800"/>
                        </a:spcAft>
                      </a:pPr>
                      <a:r>
                        <a:rPr lang="en-US" sz="1400" b="0" i="0" kern="1200">
                          <a:solidFill>
                            <a:schemeClr val="dk1"/>
                          </a:solidFill>
                          <a:effectLst/>
                          <a:latin typeface="+mn-lt"/>
                          <a:ea typeface="+mn-ea"/>
                          <a:cs typeface="Times New Roman" panose="02020603050405020304" pitchFamily="18" charset="0"/>
                        </a:rPr>
                        <a:t>The proposed system uses GPS method to get the location data and employs ZigBee for communicating efficiently with the intersection module. </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US" sz="1400" b="0" i="0" kern="1200">
                          <a:solidFill>
                            <a:schemeClr val="dk1"/>
                          </a:solidFill>
                          <a:effectLst/>
                          <a:latin typeface="+mn-lt"/>
                          <a:ea typeface="+mn-ea"/>
                          <a:cs typeface="Times New Roman" panose="02020603050405020304" pitchFamily="18" charset="0"/>
                        </a:rPr>
                        <a:t>Since the technology used in Zigbee is of low bit rate, the transmission rate of this technology is also low.</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1"/>
                  </a:ext>
                </a:extLst>
              </a:tr>
              <a:tr h="1281575">
                <a:tc>
                  <a:txBody>
                    <a:bodyPr/>
                    <a:lstStyle/>
                    <a:p>
                      <a:pPr algn="ctr"/>
                      <a:r>
                        <a:rPr lang="en-US" sz="1400" dirty="0">
                          <a:latin typeface="Times New Roman" panose="02020603050405020304" pitchFamily="18" charset="0"/>
                          <a:cs typeface="Times New Roman" panose="02020603050405020304" pitchFamily="18" charset="0"/>
                        </a:rPr>
                        <a:t>4</a:t>
                      </a:r>
                      <a:r>
                        <a:rPr lang="en-US" sz="140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US" sz="1400" b="0" kern="1200">
                          <a:solidFill>
                            <a:schemeClr val="dk1"/>
                          </a:solidFill>
                          <a:latin typeface="+mn-lt"/>
                          <a:ea typeface="+mn-ea"/>
                          <a:cs typeface="Times New Roman" panose="02020603050405020304" pitchFamily="18" charset="0"/>
                        </a:rPr>
                        <a:t>Advanced Automation Control in an Ambulance under Emergency Condition</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7000"/>
                        </a:lnSpc>
                        <a:spcAft>
                          <a:spcPts val="800"/>
                        </a:spcAft>
                      </a:pPr>
                      <a:r>
                        <a:rPr lang="fi-FI" sz="1400" b="0" i="0" u="none" strike="noStrike" kern="1200">
                          <a:solidFill>
                            <a:schemeClr val="dk1"/>
                          </a:solidFill>
                          <a:effectLst/>
                          <a:latin typeface="+mn-lt"/>
                          <a:ea typeface="+mn-ea"/>
                          <a:cs typeface="Times New Roman" panose="02020603050405020304" pitchFamily="18" charset="0"/>
                          <a:hlinkClick r:id="rId2"/>
                        </a:rPr>
                        <a:t>Leila Sai Krishna</a:t>
                      </a:r>
                      <a:r>
                        <a:rPr lang="fi-FI" sz="1400" b="0" i="0" kern="1200">
                          <a:solidFill>
                            <a:schemeClr val="dk1"/>
                          </a:solidFill>
                          <a:effectLst/>
                          <a:latin typeface="+mn-lt"/>
                          <a:ea typeface="+mn-ea"/>
                          <a:cs typeface="Times New Roman" panose="02020603050405020304" pitchFamily="18" charset="0"/>
                        </a:rPr>
                        <a:t>; </a:t>
                      </a:r>
                      <a:r>
                        <a:rPr lang="fi-FI" sz="1400" b="0" i="0" u="none" strike="noStrike" kern="1200">
                          <a:solidFill>
                            <a:schemeClr val="dk1"/>
                          </a:solidFill>
                          <a:effectLst/>
                          <a:latin typeface="+mn-lt"/>
                          <a:ea typeface="+mn-ea"/>
                          <a:cs typeface="Times New Roman" panose="02020603050405020304" pitchFamily="18" charset="0"/>
                          <a:hlinkClick r:id="rId3"/>
                        </a:rPr>
                        <a:t>Samineni Vijay Chowdary</a:t>
                      </a:r>
                      <a:r>
                        <a:rPr lang="fi-FI" sz="1400" b="0" i="0" kern="1200">
                          <a:solidFill>
                            <a:schemeClr val="dk1"/>
                          </a:solidFill>
                          <a:effectLst/>
                          <a:latin typeface="+mn-lt"/>
                          <a:ea typeface="+mn-ea"/>
                          <a:cs typeface="Times New Roman" panose="02020603050405020304" pitchFamily="18" charset="0"/>
                        </a:rPr>
                        <a:t>; </a:t>
                      </a:r>
                      <a:r>
                        <a:rPr lang="fi-FI" sz="1400" b="0" i="0" u="none" strike="noStrike" kern="1200">
                          <a:solidFill>
                            <a:schemeClr val="dk1"/>
                          </a:solidFill>
                          <a:effectLst/>
                          <a:latin typeface="+mn-lt"/>
                          <a:ea typeface="+mn-ea"/>
                          <a:cs typeface="Times New Roman" panose="02020603050405020304" pitchFamily="18" charset="0"/>
                          <a:hlinkClick r:id="rId4"/>
                        </a:rPr>
                        <a:t>M. Pushpavalli</a:t>
                      </a:r>
                      <a:r>
                        <a:rPr lang="fi-FI" sz="1400" b="0" i="0" kern="1200">
                          <a:solidFill>
                            <a:schemeClr val="dk1"/>
                          </a:solidFill>
                          <a:effectLst/>
                          <a:latin typeface="+mn-lt"/>
                          <a:ea typeface="+mn-ea"/>
                          <a:cs typeface="Times New Roman" panose="02020603050405020304" pitchFamily="18" charset="0"/>
                        </a:rPr>
                        <a:t>; </a:t>
                      </a:r>
                      <a:r>
                        <a:rPr lang="fi-FI" sz="1400" b="0" i="0" u="none" strike="noStrike" kern="1200">
                          <a:solidFill>
                            <a:schemeClr val="dk1"/>
                          </a:solidFill>
                          <a:effectLst/>
                          <a:latin typeface="+mn-lt"/>
                          <a:ea typeface="+mn-ea"/>
                          <a:cs typeface="Times New Roman" panose="02020603050405020304" pitchFamily="18" charset="0"/>
                          <a:hlinkClick r:id="rId5"/>
                        </a:rPr>
                        <a:t>P. Sivagami</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pPr>
                      <a:r>
                        <a:rPr lang="en-IN" sz="1400" b="0" i="0" u="sng" kern="1200">
                          <a:solidFill>
                            <a:schemeClr val="dk1"/>
                          </a:solidFill>
                          <a:effectLst/>
                          <a:latin typeface="+mn-lt"/>
                          <a:ea typeface="+mn-ea"/>
                          <a:cs typeface="Times New Roman" panose="02020603050405020304" pitchFamily="18" charset="0"/>
                        </a:rPr>
                        <a:t>2017</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7000"/>
                        </a:lnSpc>
                        <a:spcAft>
                          <a:spcPts val="800"/>
                        </a:spcAft>
                      </a:pPr>
                      <a:r>
                        <a:rPr lang="en-IN" sz="1400" b="0" kern="1200">
                          <a:solidFill>
                            <a:schemeClr val="dk1"/>
                          </a:solidFill>
                          <a:effectLst/>
                          <a:latin typeface="+mn-lt"/>
                          <a:ea typeface="+mn-ea"/>
                          <a:cs typeface="Times New Roman" panose="02020603050405020304" pitchFamily="18" charset="0"/>
                        </a:rPr>
                        <a:t> </a:t>
                      </a:r>
                      <a:r>
                        <a:rPr lang="en-US" sz="1400" b="0" kern="1200">
                          <a:solidFill>
                            <a:schemeClr val="dk1"/>
                          </a:solidFill>
                          <a:latin typeface="+mn-lt"/>
                          <a:ea typeface="+mn-ea"/>
                          <a:cs typeface="Times New Roman" panose="02020603050405020304" pitchFamily="18" charset="0"/>
                        </a:rPr>
                        <a:t>The ambulance is implemented with embedded system units, which finds the accident spot and delivers the spot to the close by ambulance through GSM.The ambulance guides the traffic lights in the roadway to the hospital and it also checks the next consecutive signal to shorten the time loss.</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IN" sz="1400" b="0" kern="1200">
                          <a:solidFill>
                            <a:schemeClr val="dk1"/>
                          </a:solidFill>
                          <a:latin typeface="+mn-lt"/>
                          <a:ea typeface="+mn-ea"/>
                          <a:cs typeface="Times New Roman" panose="02020603050405020304" pitchFamily="18" charset="0"/>
                        </a:rPr>
                        <a:t>Gsm is congested and requires high bandwidth.</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45410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p:txBody>
          <a:bodyPr/>
          <a:lstStyle/>
          <a:p>
            <a:r>
              <a:rPr lang="en-US"/>
              <a:t>VIII Semester, Department of ISE, RNSIT</a:t>
            </a:r>
            <a:endParaRPr lang="en-US" dirty="0"/>
          </a:p>
        </p:txBody>
      </p:sp>
      <p:sp>
        <p:nvSpPr>
          <p:cNvPr id="7"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p:txBody>
          <a:bodyPr/>
          <a:lstStyle/>
          <a:p>
            <a:r>
              <a:rPr lang="en-US" dirty="0"/>
              <a:t>2022 - 2023</a:t>
            </a:r>
          </a:p>
        </p:txBody>
      </p:sp>
      <p:sp>
        <p:nvSpPr>
          <p:cNvPr id="4" name="Title 3"/>
          <p:cNvSpPr txBox="1">
            <a:spLocks/>
          </p:cNvSpPr>
          <p:nvPr/>
        </p:nvSpPr>
        <p:spPr>
          <a:xfrm>
            <a:off x="1981200" y="152400"/>
            <a:ext cx="8229600" cy="684312"/>
          </a:xfrm>
          <a:prstGeom prst="rect">
            <a:avLst/>
          </a:prstGeom>
        </p:spPr>
        <p:txBody>
          <a:bodyPr vert="horz" anchor="b">
            <a:normAutofit fontScale="97500"/>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IN" b="1" dirty="0">
                <a:solidFill>
                  <a:schemeClr val="accent1">
                    <a:lumMod val="75000"/>
                  </a:schemeClr>
                </a:solidFill>
                <a:latin typeface="Times New Roman" pitchFamily="18" charset="0"/>
                <a:cs typeface="Times New Roman" pitchFamily="18" charset="0"/>
              </a:rPr>
              <a:t>LITERATURE</a:t>
            </a:r>
            <a:r>
              <a:rPr lang="en-IN" b="1" dirty="0">
                <a:solidFill>
                  <a:schemeClr val="accent1"/>
                </a:solidFill>
                <a:latin typeface="Times New Roman" pitchFamily="18" charset="0"/>
                <a:cs typeface="Times New Roman" pitchFamily="18" charset="0"/>
              </a:rPr>
              <a:t> </a:t>
            </a:r>
            <a:r>
              <a:rPr lang="en-IN" b="1" dirty="0">
                <a:solidFill>
                  <a:schemeClr val="accent1">
                    <a:lumMod val="75000"/>
                  </a:schemeClr>
                </a:solidFill>
                <a:latin typeface="Times New Roman" pitchFamily="18" charset="0"/>
                <a:cs typeface="Times New Roman" pitchFamily="18" charset="0"/>
              </a:rPr>
              <a:t>SURVEY</a:t>
            </a:r>
          </a:p>
        </p:txBody>
      </p:sp>
      <p:sp>
        <p:nvSpPr>
          <p:cNvPr id="2" name="Slide Number Placeholder 1">
            <a:extLst>
              <a:ext uri="{FF2B5EF4-FFF2-40B4-BE49-F238E27FC236}">
                <a16:creationId xmlns:a16="http://schemas.microsoft.com/office/drawing/2014/main" id="{A10D85D3-EAD9-4C96-869F-7DA3C3441C3B}"/>
              </a:ext>
            </a:extLst>
          </p:cNvPr>
          <p:cNvSpPr>
            <a:spLocks noGrp="1"/>
          </p:cNvSpPr>
          <p:nvPr>
            <p:ph type="sldNum" sz="quarter" idx="12"/>
          </p:nvPr>
        </p:nvSpPr>
        <p:spPr/>
        <p:txBody>
          <a:bodyPr/>
          <a:lstStyle/>
          <a:p>
            <a:fld id="{5B4F5413-E548-45A8-B9DD-11B71454D5CA}" type="slidenum">
              <a:rPr lang="en-US" smtClean="0"/>
              <a:pPr/>
              <a:t>9</a:t>
            </a:fld>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4173884926"/>
              </p:ext>
            </p:extLst>
          </p:nvPr>
        </p:nvGraphicFramePr>
        <p:xfrm>
          <a:off x="838201" y="1196753"/>
          <a:ext cx="10515599" cy="4814663"/>
        </p:xfrm>
        <a:graphic>
          <a:graphicData uri="http://schemas.openxmlformats.org/drawingml/2006/table">
            <a:tbl>
              <a:tblPr firstRow="1" bandRow="1">
                <a:tableStyleId>{5C22544A-7EE6-4342-B048-85BDC9FD1C3A}</a:tableStyleId>
              </a:tblPr>
              <a:tblGrid>
                <a:gridCol w="671207">
                  <a:extLst>
                    <a:ext uri="{9D8B030D-6E8A-4147-A177-3AD203B41FA5}">
                      <a16:colId xmlns:a16="http://schemas.microsoft.com/office/drawing/2014/main" val="20000"/>
                    </a:ext>
                  </a:extLst>
                </a:gridCol>
                <a:gridCol w="170627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3816424">
                  <a:extLst>
                    <a:ext uri="{9D8B030D-6E8A-4147-A177-3AD203B41FA5}">
                      <a16:colId xmlns:a16="http://schemas.microsoft.com/office/drawing/2014/main" val="20003"/>
                    </a:ext>
                  </a:extLst>
                </a:gridCol>
                <a:gridCol w="1873424">
                  <a:extLst>
                    <a:ext uri="{9D8B030D-6E8A-4147-A177-3AD203B41FA5}">
                      <a16:colId xmlns:a16="http://schemas.microsoft.com/office/drawing/2014/main" val="4055658013"/>
                    </a:ext>
                  </a:extLst>
                </a:gridCol>
              </a:tblGrid>
              <a:tr h="9742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a:latin typeface="Times New Roman" panose="02020603050405020304" pitchFamily="18" charset="0"/>
                          <a:cs typeface="Times New Roman" panose="02020603050405020304" pitchFamily="18" charset="0"/>
                        </a:rPr>
                        <a:t>Sl </a:t>
                      </a:r>
                      <a:r>
                        <a:rPr lang="en-IN" sz="1400" dirty="0">
                          <a:latin typeface="Times New Roman" panose="02020603050405020304" pitchFamily="18" charset="0"/>
                          <a:cs typeface="Times New Roman" panose="02020603050405020304" pitchFamily="18" charset="0"/>
                        </a:rPr>
                        <a:t>No</a:t>
                      </a:r>
                    </a:p>
                    <a:p>
                      <a:pPr algn="ct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Title of the paper</a:t>
                      </a:r>
                    </a:p>
                    <a:p>
                      <a:pPr algn="ct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Authors</a:t>
                      </a:r>
                    </a:p>
                    <a:p>
                      <a:pPr algn="ctr"/>
                      <a:r>
                        <a:rPr lang="en-US" sz="1400">
                          <a:latin typeface="Times New Roman" panose="02020603050405020304" pitchFamily="18" charset="0"/>
                          <a:cs typeface="Times New Roman" panose="02020603050405020304" pitchFamily="18" charset="0"/>
                        </a:rPr>
                        <a:t>and year of publication</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Summary</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Future Enhancement</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402055">
                <a:tc>
                  <a:txBody>
                    <a:bodyPr/>
                    <a:lstStyle/>
                    <a:p>
                      <a:pPr algn="ctr"/>
                      <a:r>
                        <a:rPr lang="en-US" sz="1400" dirty="0">
                          <a:latin typeface="Times New Roman" panose="02020603050405020304" pitchFamily="18" charset="0"/>
                          <a:cs typeface="Times New Roman" panose="02020603050405020304" pitchFamily="18" charset="0"/>
                        </a:rPr>
                        <a:t>5</a:t>
                      </a:r>
                      <a:r>
                        <a:rPr lang="en-US" sz="140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685800" rtl="0" eaLnBrk="1" fontAlgn="auto" latinLnBrk="0" hangingPunct="1">
                        <a:lnSpc>
                          <a:spcPct val="107000"/>
                        </a:lnSpc>
                        <a:spcBef>
                          <a:spcPts val="0"/>
                        </a:spcBef>
                        <a:spcAft>
                          <a:spcPts val="800"/>
                        </a:spcAft>
                        <a:buClrTx/>
                        <a:buSzTx/>
                        <a:buFontTx/>
                        <a:buNone/>
                        <a:tabLst/>
                        <a:defRPr/>
                      </a:pPr>
                      <a:r>
                        <a:rPr lang="en-US" sz="1400" b="0" i="0" kern="1200">
                          <a:solidFill>
                            <a:schemeClr val="dk1"/>
                          </a:solidFill>
                          <a:effectLst/>
                          <a:latin typeface="+mn-lt"/>
                          <a:ea typeface="+mn-ea"/>
                          <a:cs typeface="Times New Roman" panose="02020603050405020304" pitchFamily="18" charset="0"/>
                        </a:rPr>
                        <a:t>Emergent vehicle tracking system using IR sensor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IN" sz="1400" b="0" i="0" u="none" strike="noStrike" kern="1200">
                          <a:solidFill>
                            <a:schemeClr val="dk1"/>
                          </a:solidFill>
                          <a:effectLst/>
                          <a:latin typeface="+mn-lt"/>
                          <a:ea typeface="+mn-ea"/>
                          <a:cs typeface="Times New Roman" panose="02020603050405020304" pitchFamily="18" charset="0"/>
                          <a:hlinkClick r:id="rId2"/>
                        </a:rPr>
                        <a:t>Manjunath Managuli</a:t>
                      </a:r>
                      <a:r>
                        <a:rPr lang="en-IN" sz="1400" b="0" i="0" kern="1200">
                          <a:solidFill>
                            <a:schemeClr val="dk1"/>
                          </a:solidFill>
                          <a:effectLst/>
                          <a:latin typeface="+mn-lt"/>
                          <a:ea typeface="+mn-ea"/>
                          <a:cs typeface="Times New Roman" panose="02020603050405020304" pitchFamily="18" charset="0"/>
                        </a:rPr>
                        <a:t>; </a:t>
                      </a:r>
                      <a:r>
                        <a:rPr lang="en-IN" sz="1400" b="0" i="0" u="none" strike="noStrike" kern="1200">
                          <a:solidFill>
                            <a:schemeClr val="dk1"/>
                          </a:solidFill>
                          <a:effectLst/>
                          <a:latin typeface="+mn-lt"/>
                          <a:ea typeface="+mn-ea"/>
                          <a:cs typeface="Times New Roman" panose="02020603050405020304" pitchFamily="18" charset="0"/>
                          <a:hlinkClick r:id="rId3"/>
                        </a:rPr>
                        <a:t>Abhaya Deshpande</a:t>
                      </a:r>
                      <a:r>
                        <a:rPr lang="en-IN" sz="1400" b="0" i="0" kern="1200">
                          <a:solidFill>
                            <a:schemeClr val="dk1"/>
                          </a:solidFill>
                          <a:effectLst/>
                          <a:latin typeface="+mn-lt"/>
                          <a:ea typeface="+mn-ea"/>
                          <a:cs typeface="Times New Roman" panose="02020603050405020304" pitchFamily="18" charset="0"/>
                        </a:rPr>
                        <a:t>; </a:t>
                      </a:r>
                      <a:r>
                        <a:rPr lang="en-IN" sz="1400" b="0" i="0" u="sng" kern="1200">
                          <a:solidFill>
                            <a:schemeClr val="dk1"/>
                          </a:solidFill>
                          <a:effectLst/>
                          <a:latin typeface="+mn-lt"/>
                          <a:ea typeface="+mn-ea"/>
                          <a:cs typeface="Times New Roman" panose="02020603050405020304" pitchFamily="18" charset="0"/>
                          <a:hlinkClick r:id="rId4"/>
                        </a:rPr>
                        <a:t>Sudha H Ayatti</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lnSpc>
                          <a:spcPct val="100000"/>
                        </a:lnSpc>
                        <a:spcAft>
                          <a:spcPts val="800"/>
                        </a:spcAft>
                      </a:pPr>
                      <a:r>
                        <a:rPr lang="en-IN" sz="1400" b="0" i="0" u="sng" kern="1200">
                          <a:solidFill>
                            <a:schemeClr val="dk1"/>
                          </a:solidFill>
                          <a:effectLst/>
                          <a:latin typeface="+mn-lt"/>
                          <a:ea typeface="+mn-ea"/>
                          <a:cs typeface="+mn-cs"/>
                        </a:rPr>
                        <a:t>2017</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0000"/>
                        </a:lnSpc>
                        <a:spcAft>
                          <a:spcPts val="800"/>
                        </a:spcAft>
                      </a:pPr>
                      <a:r>
                        <a:rPr lang="en-US" sz="1400" b="0" i="0" kern="1200">
                          <a:solidFill>
                            <a:schemeClr val="dk1"/>
                          </a:solidFill>
                          <a:effectLst/>
                          <a:latin typeface="+mn-lt"/>
                          <a:ea typeface="+mn-ea"/>
                          <a:cs typeface="Times New Roman" panose="02020603050405020304" pitchFamily="18" charset="0"/>
                        </a:rPr>
                        <a:t>During object motion IR sensors detect the ambulance, pass the message to main controller which reflects the LED bulb to glow leading to closing of all the signals track, and immediately the emergent vehicle pass the signal track.</a:t>
                      </a:r>
                      <a:endParaRPr lang="en-US" sz="1400" dirty="0">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US" sz="1400" b="0" kern="1200">
                          <a:solidFill>
                            <a:schemeClr val="dk1"/>
                          </a:solidFill>
                          <a:latin typeface="+mn-lt"/>
                          <a:ea typeface="+mn-ea"/>
                          <a:cs typeface="Times New Roman" panose="02020603050405020304" pitchFamily="18" charset="0"/>
                        </a:rPr>
                        <a:t>Sunlight can cause interference with IR signals.</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1"/>
                  </a:ext>
                </a:extLst>
              </a:tr>
              <a:tr h="1695441">
                <a:tc>
                  <a:txBody>
                    <a:bodyPr/>
                    <a:lstStyle/>
                    <a:p>
                      <a:pPr algn="ctr"/>
                      <a:r>
                        <a:rPr lang="en-US" sz="1400" dirty="0">
                          <a:latin typeface="Times New Roman" panose="02020603050405020304" pitchFamily="18" charset="0"/>
                          <a:cs typeface="Times New Roman" panose="02020603050405020304" pitchFamily="18" charset="0"/>
                        </a:rPr>
                        <a:t>6</a:t>
                      </a:r>
                      <a:r>
                        <a:rPr lang="en-US" sz="140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800"/>
                        </a:spcAft>
                      </a:pPr>
                      <a:r>
                        <a:rPr lang="en-US" sz="1400" b="0" kern="1200">
                          <a:solidFill>
                            <a:schemeClr val="dk1"/>
                          </a:solidFill>
                          <a:latin typeface="+mn-lt"/>
                          <a:ea typeface="+mn-ea"/>
                          <a:cs typeface="+mn-cs"/>
                        </a:rPr>
                        <a:t>Leveraging Emergency Response System Using the Internet of Things. A Preliminary Approach</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0000"/>
                        </a:lnSpc>
                        <a:spcAft>
                          <a:spcPts val="800"/>
                        </a:spcAft>
                      </a:pPr>
                      <a:r>
                        <a:rPr lang="en-IN" sz="1400" b="0" i="0" u="none" strike="noStrike" kern="1200">
                          <a:solidFill>
                            <a:schemeClr val="dk1"/>
                          </a:solidFill>
                          <a:effectLst/>
                          <a:latin typeface="+mn-lt"/>
                          <a:ea typeface="+mn-ea"/>
                          <a:cs typeface="+mn-cs"/>
                          <a:hlinkClick r:id="rId5"/>
                        </a:rPr>
                        <a:t>Luz A. Magre Colorado</a:t>
                      </a:r>
                      <a:r>
                        <a:rPr lang="en-IN" sz="1400" b="0" i="0" kern="1200">
                          <a:solidFill>
                            <a:schemeClr val="dk1"/>
                          </a:solidFill>
                          <a:effectLst/>
                          <a:latin typeface="+mn-lt"/>
                          <a:ea typeface="+mn-ea"/>
                          <a:cs typeface="+mn-cs"/>
                        </a:rPr>
                        <a:t>; </a:t>
                      </a:r>
                      <a:r>
                        <a:rPr lang="en-IN" sz="1400" b="0" i="0" u="none" strike="noStrike" kern="1200">
                          <a:solidFill>
                            <a:schemeClr val="dk1"/>
                          </a:solidFill>
                          <a:effectLst/>
                          <a:latin typeface="+mn-lt"/>
                          <a:ea typeface="+mn-ea"/>
                          <a:cs typeface="+mn-cs"/>
                          <a:hlinkClick r:id="rId6"/>
                        </a:rPr>
                        <a:t>Jorge Franco Ibañez</a:t>
                      </a:r>
                      <a:r>
                        <a:rPr lang="en-IN" sz="1400" b="0" i="0" kern="1200">
                          <a:solidFill>
                            <a:schemeClr val="dk1"/>
                          </a:solidFill>
                          <a:effectLst/>
                          <a:latin typeface="+mn-lt"/>
                          <a:ea typeface="+mn-ea"/>
                          <a:cs typeface="+mn-cs"/>
                        </a:rPr>
                        <a:t>; </a:t>
                      </a:r>
                      <a:r>
                        <a:rPr lang="en-IN" sz="1400" b="0" i="0" u="none" strike="noStrike" kern="1200">
                          <a:solidFill>
                            <a:schemeClr val="dk1"/>
                          </a:solidFill>
                          <a:effectLst/>
                          <a:latin typeface="+mn-lt"/>
                          <a:ea typeface="+mn-ea"/>
                          <a:cs typeface="+mn-cs"/>
                          <a:hlinkClick r:id="rId7"/>
                        </a:rPr>
                        <a:t>Juan Carlos Martinez-Santos</a:t>
                      </a:r>
                      <a:endParaRPr lang="en-IN" sz="1400" b="0" i="0" u="none" strike="noStrike" kern="1200">
                        <a:solidFill>
                          <a:schemeClr val="dk1"/>
                        </a:solidFill>
                        <a:effectLst/>
                        <a:latin typeface="+mn-lt"/>
                        <a:ea typeface="+mn-ea"/>
                        <a:cs typeface="+mn-cs"/>
                      </a:endParaRPr>
                    </a:p>
                    <a:p>
                      <a:pPr algn="l">
                        <a:lnSpc>
                          <a:spcPct val="100000"/>
                        </a:lnSpc>
                        <a:spcAft>
                          <a:spcPts val="800"/>
                        </a:spcAft>
                      </a:pPr>
                      <a:r>
                        <a:rPr lang="en-IN" sz="1400" b="0" i="0" u="none" strike="noStrike" kern="1200">
                          <a:solidFill>
                            <a:schemeClr val="dk1"/>
                          </a:solidFill>
                          <a:effectLst/>
                          <a:latin typeface="+mn-lt"/>
                          <a:ea typeface="+mn-ea"/>
                          <a:cs typeface="+mn-cs"/>
                        </a:rPr>
                        <a:t>2020</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0000"/>
                        </a:lnSpc>
                        <a:spcAft>
                          <a:spcPts val="800"/>
                        </a:spcAft>
                      </a:pPr>
                      <a:r>
                        <a:rPr lang="en-US" sz="1400" b="0" kern="1200">
                          <a:solidFill>
                            <a:schemeClr val="dk1"/>
                          </a:solidFill>
                          <a:latin typeface="+mn-lt"/>
                          <a:ea typeface="+mn-ea"/>
                          <a:cs typeface="+mn-cs"/>
                        </a:rPr>
                        <a:t>Hybrid system that uses both QR code detection and a GPS/GPRS tracking system. With this mixed implementation we are trying to lower the chances of getting errors when detecting the current location and improve the times of response of the emergency vehicle</a:t>
                      </a:r>
                      <a:r>
                        <a:rPr lang="en-US" sz="1400" b="0" kern="1200" dirty="0">
                          <a:solidFill>
                            <a:schemeClr val="dk1"/>
                          </a:solidFill>
                          <a:latin typeface="Times New Roman" panose="02020603050405020304" pitchFamily="18" charset="0"/>
                          <a:ea typeface="+mn-ea"/>
                          <a:cs typeface="Times New Roman" panose="02020603050405020304" pitchFamily="18" charset="0"/>
                        </a:rPr>
                        <a:t>.</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dk1"/>
                          </a:solidFill>
                          <a:latin typeface="+mn-lt"/>
                          <a:ea typeface="+mn-ea"/>
                          <a:cs typeface="+mn-cs"/>
                        </a:rPr>
                        <a:t>At the moment, a simple test over an intersection of the city is ongoing, but not finished. For future experiments, we expect to include more extensive areas and integrate MATLAB to the simulation to measure times.</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29597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p:txBody>
          <a:bodyPr/>
          <a:lstStyle/>
          <a:p>
            <a:r>
              <a:rPr lang="en-US"/>
              <a:t>VIII Semester, Department of ISE, RNSIT</a:t>
            </a:r>
            <a:endParaRPr lang="en-US" dirty="0"/>
          </a:p>
        </p:txBody>
      </p:sp>
      <p:sp>
        <p:nvSpPr>
          <p:cNvPr id="7"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p:txBody>
          <a:bodyPr/>
          <a:lstStyle/>
          <a:p>
            <a:r>
              <a:rPr lang="en-US" dirty="0"/>
              <a:t>2022 - 2023</a:t>
            </a:r>
          </a:p>
        </p:txBody>
      </p:sp>
      <p:sp>
        <p:nvSpPr>
          <p:cNvPr id="4" name="Title 3"/>
          <p:cNvSpPr txBox="1">
            <a:spLocks/>
          </p:cNvSpPr>
          <p:nvPr/>
        </p:nvSpPr>
        <p:spPr>
          <a:xfrm>
            <a:off x="1981200" y="152400"/>
            <a:ext cx="8229600" cy="684312"/>
          </a:xfrm>
          <a:prstGeom prst="rect">
            <a:avLst/>
          </a:prstGeom>
        </p:spPr>
        <p:txBody>
          <a:bodyPr vert="horz" anchor="b">
            <a:normAutofit fontScale="97500"/>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IN" b="1" dirty="0">
                <a:solidFill>
                  <a:schemeClr val="accent1">
                    <a:lumMod val="75000"/>
                  </a:schemeClr>
                </a:solidFill>
                <a:latin typeface="Times New Roman" pitchFamily="18" charset="0"/>
                <a:cs typeface="Times New Roman" pitchFamily="18" charset="0"/>
              </a:rPr>
              <a:t>LITERATURE</a:t>
            </a:r>
            <a:r>
              <a:rPr lang="en-IN" b="1" dirty="0">
                <a:solidFill>
                  <a:schemeClr val="accent1"/>
                </a:solidFill>
                <a:latin typeface="Times New Roman" pitchFamily="18" charset="0"/>
                <a:cs typeface="Times New Roman" pitchFamily="18" charset="0"/>
              </a:rPr>
              <a:t> </a:t>
            </a:r>
            <a:r>
              <a:rPr lang="en-IN" b="1" dirty="0">
                <a:solidFill>
                  <a:schemeClr val="accent1">
                    <a:lumMod val="75000"/>
                  </a:schemeClr>
                </a:solidFill>
                <a:latin typeface="Times New Roman" pitchFamily="18" charset="0"/>
                <a:cs typeface="Times New Roman" pitchFamily="18" charset="0"/>
              </a:rPr>
              <a:t>SURVEY</a:t>
            </a:r>
          </a:p>
        </p:txBody>
      </p:sp>
      <p:sp>
        <p:nvSpPr>
          <p:cNvPr id="2" name="Slide Number Placeholder 1">
            <a:extLst>
              <a:ext uri="{FF2B5EF4-FFF2-40B4-BE49-F238E27FC236}">
                <a16:creationId xmlns:a16="http://schemas.microsoft.com/office/drawing/2014/main" id="{A10D85D3-EAD9-4C96-869F-7DA3C3441C3B}"/>
              </a:ext>
            </a:extLst>
          </p:cNvPr>
          <p:cNvSpPr>
            <a:spLocks noGrp="1"/>
          </p:cNvSpPr>
          <p:nvPr>
            <p:ph type="sldNum" sz="quarter" idx="12"/>
          </p:nvPr>
        </p:nvSpPr>
        <p:spPr/>
        <p:txBody>
          <a:bodyPr/>
          <a:lstStyle/>
          <a:p>
            <a:fld id="{5B4F5413-E548-45A8-B9DD-11B71454D5CA}" type="slidenum">
              <a:rPr lang="en-US" smtClean="0"/>
              <a:pPr/>
              <a:t>10</a:t>
            </a:fld>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3694889700"/>
              </p:ext>
            </p:extLst>
          </p:nvPr>
        </p:nvGraphicFramePr>
        <p:xfrm>
          <a:off x="838201" y="1196753"/>
          <a:ext cx="10298359" cy="4824536"/>
        </p:xfrm>
        <a:graphic>
          <a:graphicData uri="http://schemas.openxmlformats.org/drawingml/2006/table">
            <a:tbl>
              <a:tblPr firstRow="1" bandRow="1">
                <a:tableStyleId>{5C22544A-7EE6-4342-B048-85BDC9FD1C3A}</a:tableStyleId>
              </a:tblPr>
              <a:tblGrid>
                <a:gridCol w="841927">
                  <a:extLst>
                    <a:ext uri="{9D8B030D-6E8A-4147-A177-3AD203B41FA5}">
                      <a16:colId xmlns:a16="http://schemas.microsoft.com/office/drawing/2014/main" val="20000"/>
                    </a:ext>
                  </a:extLst>
                </a:gridCol>
                <a:gridCol w="2140259">
                  <a:extLst>
                    <a:ext uri="{9D8B030D-6E8A-4147-A177-3AD203B41FA5}">
                      <a16:colId xmlns:a16="http://schemas.microsoft.com/office/drawing/2014/main" val="20001"/>
                    </a:ext>
                  </a:extLst>
                </a:gridCol>
                <a:gridCol w="2890340">
                  <a:extLst>
                    <a:ext uri="{9D8B030D-6E8A-4147-A177-3AD203B41FA5}">
                      <a16:colId xmlns:a16="http://schemas.microsoft.com/office/drawing/2014/main" val="20002"/>
                    </a:ext>
                  </a:extLst>
                </a:gridCol>
                <a:gridCol w="4425833">
                  <a:extLst>
                    <a:ext uri="{9D8B030D-6E8A-4147-A177-3AD203B41FA5}">
                      <a16:colId xmlns:a16="http://schemas.microsoft.com/office/drawing/2014/main" val="20003"/>
                    </a:ext>
                  </a:extLst>
                </a:gridCol>
              </a:tblGrid>
              <a:tr h="9407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a:latin typeface="Times New Roman" panose="02020603050405020304" pitchFamily="18" charset="0"/>
                          <a:cs typeface="Times New Roman" panose="02020603050405020304" pitchFamily="18" charset="0"/>
                        </a:rPr>
                        <a:t>Sl </a:t>
                      </a:r>
                      <a:r>
                        <a:rPr lang="en-IN" sz="1400" dirty="0">
                          <a:latin typeface="Times New Roman" panose="02020603050405020304" pitchFamily="18" charset="0"/>
                          <a:cs typeface="Times New Roman" panose="02020603050405020304" pitchFamily="18" charset="0"/>
                        </a:rPr>
                        <a:t>No</a:t>
                      </a:r>
                    </a:p>
                    <a:p>
                      <a:pPr algn="ct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Title of the paper</a:t>
                      </a:r>
                    </a:p>
                    <a:p>
                      <a:pPr algn="ct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Authors</a:t>
                      </a:r>
                    </a:p>
                    <a:p>
                      <a:pPr algn="ctr"/>
                      <a:r>
                        <a:rPr lang="en-US" sz="1400">
                          <a:latin typeface="Times New Roman" panose="02020603050405020304" pitchFamily="18" charset="0"/>
                          <a:cs typeface="Times New Roman" panose="02020603050405020304" pitchFamily="18" charset="0"/>
                        </a:rPr>
                        <a:t>and year of publication</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Summary</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943750">
                <a:tc>
                  <a:txBody>
                    <a:bodyPr/>
                    <a:lstStyle/>
                    <a:p>
                      <a:pPr algn="ctr"/>
                      <a:r>
                        <a:rPr lang="en-US" sz="1400" dirty="0">
                          <a:latin typeface="Times New Roman" panose="02020603050405020304" pitchFamily="18" charset="0"/>
                          <a:cs typeface="Times New Roman" panose="02020603050405020304" pitchFamily="18" charset="0"/>
                        </a:rPr>
                        <a:t>7</a:t>
                      </a:r>
                      <a:r>
                        <a:rPr lang="en-US" sz="140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dk1"/>
                          </a:solidFill>
                          <a:effectLst/>
                          <a:latin typeface="+mn-lt"/>
                          <a:ea typeface="+mn-ea"/>
                          <a:cs typeface="+mn-cs"/>
                        </a:rPr>
                        <a:t>Efficiency of opportunistic cellular/LiFi traffic offloading</a:t>
                      </a:r>
                    </a:p>
                    <a:p>
                      <a:pPr algn="l"/>
                      <a:endParaRPr lang="en-US" sz="140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800"/>
                        </a:spcAft>
                      </a:pPr>
                      <a:r>
                        <a:rPr lang="en-IN" sz="1400" b="0" kern="1200">
                          <a:solidFill>
                            <a:schemeClr val="dk1"/>
                          </a:solidFill>
                          <a:effectLst/>
                          <a:latin typeface="+mn-lt"/>
                          <a:ea typeface="Calibri" panose="020F0502020204030204" pitchFamily="34" charset="0"/>
                          <a:cs typeface="Times New Roman" panose="02020603050405020304" pitchFamily="18" charset="0"/>
                        </a:rPr>
                        <a:t>Vishnu Raj RS,Athi Narayanan  S,Kamal Bijlani</a:t>
                      </a:r>
                    </a:p>
                    <a:p>
                      <a:pPr algn="l">
                        <a:lnSpc>
                          <a:spcPct val="100000"/>
                        </a:lnSpc>
                        <a:spcAft>
                          <a:spcPts val="800"/>
                        </a:spcAft>
                      </a:pPr>
                      <a:r>
                        <a:rPr lang="en-IN" sz="1400" b="0" i="0" u="sng" kern="1200">
                          <a:solidFill>
                            <a:schemeClr val="dk1"/>
                          </a:solidFill>
                          <a:effectLst/>
                          <a:latin typeface="+mn-lt"/>
                          <a:ea typeface="+mn-ea"/>
                          <a:cs typeface="+mn-cs"/>
                        </a:rPr>
                        <a:t>2016</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lnSpc>
                          <a:spcPct val="100000"/>
                        </a:lnSpc>
                        <a:spcAft>
                          <a:spcPts val="800"/>
                        </a:spcAft>
                      </a:pP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dk1"/>
                          </a:solidFill>
                          <a:effectLst/>
                          <a:latin typeface="+mn-lt"/>
                          <a:ea typeface="+mn-ea"/>
                          <a:cs typeface="+mn-cs"/>
                        </a:rPr>
                        <a:t>This offloading efficiency is a measure of the ratio of traffic carried by light fidelity (LiFi) network to total traffic carried by both LiFi and cellular networks. The effect of LiFi-signal blocking and channel characteristics are considered. Different LiFi offloading timing cases are discussed. </a:t>
                      </a:r>
                      <a:endParaRPr lang="en-US" sz="1400">
                        <a:latin typeface="Times New Roman" panose="02020603050405020304" pitchFamily="18"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940039">
                <a:tc>
                  <a:txBody>
                    <a:bodyPr/>
                    <a:lstStyle/>
                    <a:p>
                      <a:pPr algn="ctr"/>
                      <a:r>
                        <a:rPr lang="en-US" sz="1400" dirty="0">
                          <a:latin typeface="Times New Roman" panose="02020603050405020304" pitchFamily="18" charset="0"/>
                          <a:cs typeface="Times New Roman" panose="02020603050405020304" pitchFamily="18" charset="0"/>
                        </a:rPr>
                        <a:t>8</a:t>
                      </a:r>
                      <a:r>
                        <a:rPr lang="en-US" sz="140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txBody>
                  <a:tcPr/>
                </a:tc>
                <a:tc>
                  <a:txBody>
                    <a:bodyPr/>
                    <a:lstStyle/>
                    <a:p>
                      <a:pPr>
                        <a:lnSpc>
                          <a:spcPct val="100000"/>
                        </a:lnSpc>
                      </a:pPr>
                      <a:r>
                        <a:rPr lang="en-US" sz="1400" b="0" i="0" kern="1200">
                          <a:solidFill>
                            <a:schemeClr val="dk1"/>
                          </a:solidFill>
                          <a:effectLst/>
                          <a:latin typeface="+mn-lt"/>
                          <a:ea typeface="+mn-ea"/>
                          <a:cs typeface="+mn-cs"/>
                        </a:rPr>
                        <a:t>Li-Fi technology in traffic light</a:t>
                      </a:r>
                    </a:p>
                  </a:txBody>
                  <a:tcPr/>
                </a:tc>
                <a:tc>
                  <a:txBody>
                    <a:bodyPr/>
                    <a:lstStyle/>
                    <a:p>
                      <a:pPr algn="l">
                        <a:lnSpc>
                          <a:spcPct val="100000"/>
                        </a:lnSpc>
                        <a:spcAft>
                          <a:spcPts val="800"/>
                        </a:spcAft>
                      </a:pPr>
                      <a:r>
                        <a:rPr lang="fi-FI" sz="1400" b="0" i="0" u="none" strike="noStrike" kern="1200">
                          <a:solidFill>
                            <a:schemeClr val="dk1"/>
                          </a:solidFill>
                          <a:effectLst/>
                          <a:latin typeface="+mn-lt"/>
                          <a:ea typeface="+mn-ea"/>
                          <a:cs typeface="+mn-cs"/>
                          <a:hlinkClick r:id="rId2"/>
                        </a:rPr>
                        <a:t>V.K.G. Kalaiselvi</a:t>
                      </a:r>
                      <a:r>
                        <a:rPr lang="fi-FI" sz="1400" b="0" i="0" kern="1200">
                          <a:solidFill>
                            <a:schemeClr val="dk1"/>
                          </a:solidFill>
                          <a:effectLst/>
                          <a:latin typeface="+mn-lt"/>
                          <a:ea typeface="+mn-ea"/>
                          <a:cs typeface="+mn-cs"/>
                        </a:rPr>
                        <a:t>; </a:t>
                      </a:r>
                      <a:r>
                        <a:rPr lang="fi-FI" sz="1400" b="0" i="0" u="none" strike="noStrike" kern="1200">
                          <a:solidFill>
                            <a:schemeClr val="dk1"/>
                          </a:solidFill>
                          <a:effectLst/>
                          <a:latin typeface="+mn-lt"/>
                          <a:ea typeface="+mn-ea"/>
                          <a:cs typeface="+mn-cs"/>
                          <a:hlinkClick r:id="rId3"/>
                        </a:rPr>
                        <a:t>A. Sangavi</a:t>
                      </a:r>
                      <a:r>
                        <a:rPr lang="fi-FI" sz="1400" b="0" i="0" kern="1200">
                          <a:solidFill>
                            <a:schemeClr val="dk1"/>
                          </a:solidFill>
                          <a:effectLst/>
                          <a:latin typeface="+mn-lt"/>
                          <a:ea typeface="+mn-ea"/>
                          <a:cs typeface="+mn-cs"/>
                        </a:rPr>
                        <a:t>; </a:t>
                      </a:r>
                      <a:r>
                        <a:rPr lang="fi-FI" sz="1400" b="0" i="0" u="sng" kern="1200">
                          <a:solidFill>
                            <a:schemeClr val="dk1"/>
                          </a:solidFill>
                          <a:effectLst/>
                          <a:latin typeface="+mn-lt"/>
                          <a:ea typeface="+mn-ea"/>
                          <a:cs typeface="+mn-cs"/>
                          <a:hlinkClick r:id="rId4"/>
                        </a:rPr>
                        <a:t>Dhivya</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pPr>
                      <a:r>
                        <a:rPr lang="en-IN" sz="1400" b="0" kern="1200">
                          <a:solidFill>
                            <a:schemeClr val="dk1"/>
                          </a:solidFill>
                          <a:effectLst/>
                          <a:latin typeface="+mn-lt"/>
                          <a:ea typeface="+mn-ea"/>
                          <a:cs typeface="Times New Roman" panose="02020603050405020304" pitchFamily="18" charset="0"/>
                        </a:rPr>
                        <a:t>2017</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0000"/>
                        </a:lnSpc>
                        <a:spcAft>
                          <a:spcPts val="800"/>
                        </a:spcAft>
                      </a:pPr>
                      <a:r>
                        <a:rPr lang="en-US" sz="1400" b="0" i="0" kern="1200">
                          <a:solidFill>
                            <a:schemeClr val="dk1"/>
                          </a:solidFill>
                          <a:effectLst/>
                          <a:latin typeface="+mn-lt"/>
                          <a:ea typeface="+mn-ea"/>
                          <a:cs typeface="+mn-cs"/>
                        </a:rPr>
                        <a:t>The proposed paper aims in using the Li-Fi technology and enabling communication of vehicles with the traffic light system in order to prioritize the vehicles and change the signals accordingly rather than by a process of pre-defined order or by manual order.</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75824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p:txBody>
          <a:bodyPr/>
          <a:lstStyle/>
          <a:p>
            <a:r>
              <a:rPr lang="en-US"/>
              <a:t>VIII Semester, Department of ISE, RNSIT</a:t>
            </a:r>
            <a:endParaRPr lang="en-US" dirty="0"/>
          </a:p>
        </p:txBody>
      </p:sp>
      <p:sp>
        <p:nvSpPr>
          <p:cNvPr id="7"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p:txBody>
          <a:bodyPr/>
          <a:lstStyle/>
          <a:p>
            <a:r>
              <a:rPr lang="en-US" dirty="0"/>
              <a:t>2022 - 2023</a:t>
            </a:r>
          </a:p>
        </p:txBody>
      </p:sp>
      <p:sp>
        <p:nvSpPr>
          <p:cNvPr id="4" name="Title 3"/>
          <p:cNvSpPr txBox="1">
            <a:spLocks/>
          </p:cNvSpPr>
          <p:nvPr/>
        </p:nvSpPr>
        <p:spPr>
          <a:xfrm>
            <a:off x="1981200" y="152400"/>
            <a:ext cx="8229600" cy="684312"/>
          </a:xfrm>
          <a:prstGeom prst="rect">
            <a:avLst/>
          </a:prstGeom>
        </p:spPr>
        <p:txBody>
          <a:bodyPr vert="horz" anchor="b">
            <a:normAutofit fontScale="97500"/>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IN" b="1" dirty="0">
                <a:solidFill>
                  <a:schemeClr val="accent1">
                    <a:lumMod val="75000"/>
                  </a:schemeClr>
                </a:solidFill>
                <a:latin typeface="Times New Roman" pitchFamily="18" charset="0"/>
                <a:cs typeface="Times New Roman" pitchFamily="18" charset="0"/>
              </a:rPr>
              <a:t>LITERATURE</a:t>
            </a:r>
            <a:r>
              <a:rPr lang="en-IN" b="1" dirty="0">
                <a:solidFill>
                  <a:schemeClr val="accent1"/>
                </a:solidFill>
                <a:latin typeface="Times New Roman" pitchFamily="18" charset="0"/>
                <a:cs typeface="Times New Roman" pitchFamily="18" charset="0"/>
              </a:rPr>
              <a:t> </a:t>
            </a:r>
            <a:r>
              <a:rPr lang="en-IN" b="1" dirty="0">
                <a:solidFill>
                  <a:schemeClr val="accent1">
                    <a:lumMod val="75000"/>
                  </a:schemeClr>
                </a:solidFill>
                <a:latin typeface="Times New Roman" pitchFamily="18" charset="0"/>
                <a:cs typeface="Times New Roman" pitchFamily="18" charset="0"/>
              </a:rPr>
              <a:t>SURVEY</a:t>
            </a:r>
          </a:p>
        </p:txBody>
      </p:sp>
      <p:sp>
        <p:nvSpPr>
          <p:cNvPr id="2" name="Slide Number Placeholder 1">
            <a:extLst>
              <a:ext uri="{FF2B5EF4-FFF2-40B4-BE49-F238E27FC236}">
                <a16:creationId xmlns:a16="http://schemas.microsoft.com/office/drawing/2014/main" id="{A10D85D3-EAD9-4C96-869F-7DA3C3441C3B}"/>
              </a:ext>
            </a:extLst>
          </p:cNvPr>
          <p:cNvSpPr>
            <a:spLocks noGrp="1"/>
          </p:cNvSpPr>
          <p:nvPr>
            <p:ph type="sldNum" sz="quarter" idx="12"/>
          </p:nvPr>
        </p:nvSpPr>
        <p:spPr/>
        <p:txBody>
          <a:bodyPr/>
          <a:lstStyle/>
          <a:p>
            <a:fld id="{5B4F5413-E548-45A8-B9DD-11B71454D5CA}" type="slidenum">
              <a:rPr lang="en-US" smtClean="0"/>
              <a:pPr/>
              <a:t>11</a:t>
            </a:fld>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4180491443"/>
              </p:ext>
            </p:extLst>
          </p:nvPr>
        </p:nvGraphicFramePr>
        <p:xfrm>
          <a:off x="1174939" y="1124744"/>
          <a:ext cx="10153128" cy="4680520"/>
        </p:xfrm>
        <a:graphic>
          <a:graphicData uri="http://schemas.openxmlformats.org/drawingml/2006/table">
            <a:tbl>
              <a:tblPr firstRow="1" bandRow="1">
                <a:tableStyleId>{5C22544A-7EE6-4342-B048-85BDC9FD1C3A}</a:tableStyleId>
              </a:tblPr>
              <a:tblGrid>
                <a:gridCol w="767248">
                  <a:extLst>
                    <a:ext uri="{9D8B030D-6E8A-4147-A177-3AD203B41FA5}">
                      <a16:colId xmlns:a16="http://schemas.microsoft.com/office/drawing/2014/main" val="20000"/>
                    </a:ext>
                  </a:extLst>
                </a:gridCol>
                <a:gridCol w="1950415">
                  <a:extLst>
                    <a:ext uri="{9D8B030D-6E8A-4147-A177-3AD203B41FA5}">
                      <a16:colId xmlns:a16="http://schemas.microsoft.com/office/drawing/2014/main" val="20001"/>
                    </a:ext>
                  </a:extLst>
                </a:gridCol>
                <a:gridCol w="2798586">
                  <a:extLst>
                    <a:ext uri="{9D8B030D-6E8A-4147-A177-3AD203B41FA5}">
                      <a16:colId xmlns:a16="http://schemas.microsoft.com/office/drawing/2014/main" val="20002"/>
                    </a:ext>
                  </a:extLst>
                </a:gridCol>
                <a:gridCol w="4636879">
                  <a:extLst>
                    <a:ext uri="{9D8B030D-6E8A-4147-A177-3AD203B41FA5}">
                      <a16:colId xmlns:a16="http://schemas.microsoft.com/office/drawing/2014/main" val="20003"/>
                    </a:ext>
                  </a:extLst>
                </a:gridCol>
              </a:tblGrid>
              <a:tr h="7797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a:latin typeface="Times New Roman" panose="02020603050405020304" pitchFamily="18" charset="0"/>
                          <a:cs typeface="Times New Roman" panose="02020603050405020304" pitchFamily="18" charset="0"/>
                        </a:rPr>
                        <a:t>Sl </a:t>
                      </a:r>
                      <a:r>
                        <a:rPr lang="en-IN" sz="1400" dirty="0">
                          <a:latin typeface="Times New Roman" panose="02020603050405020304" pitchFamily="18" charset="0"/>
                          <a:cs typeface="Times New Roman" panose="02020603050405020304" pitchFamily="18" charset="0"/>
                        </a:rPr>
                        <a:t>No</a:t>
                      </a:r>
                    </a:p>
                    <a:p>
                      <a:pPr algn="ct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Title of the paper</a:t>
                      </a:r>
                    </a:p>
                    <a:p>
                      <a:pPr algn="ct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Authors</a:t>
                      </a:r>
                    </a:p>
                    <a:p>
                      <a:pPr algn="ctr"/>
                      <a:r>
                        <a:rPr lang="en-US" sz="1400">
                          <a:latin typeface="Times New Roman" panose="02020603050405020304" pitchFamily="18" charset="0"/>
                          <a:cs typeface="Times New Roman" panose="02020603050405020304" pitchFamily="18" charset="0"/>
                        </a:rPr>
                        <a:t>and year of publication</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Summary</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760356">
                <a:tc>
                  <a:txBody>
                    <a:bodyPr/>
                    <a:lstStyle/>
                    <a:p>
                      <a:pPr algn="ctr"/>
                      <a:r>
                        <a:rPr lang="en-US" sz="1400">
                          <a:latin typeface="Times New Roman" panose="02020603050405020304" pitchFamily="18" charset="0"/>
                          <a:cs typeface="Times New Roman" panose="02020603050405020304" pitchFamily="18" charset="0"/>
                        </a:rPr>
                        <a:t>9.</a:t>
                      </a:r>
                      <a:endParaRPr lang="en-US" sz="1400" dirty="0">
                        <a:latin typeface="Times New Roman" panose="02020603050405020304" pitchFamily="18" charset="0"/>
                        <a:cs typeface="Times New Roman" panose="02020603050405020304" pitchFamily="18" charset="0"/>
                      </a:endParaRPr>
                    </a:p>
                  </a:txBody>
                  <a:tcPr/>
                </a:tc>
                <a:tc>
                  <a:txBody>
                    <a:bodyPr/>
                    <a:lstStyle/>
                    <a:p>
                      <a:pPr>
                        <a:lnSpc>
                          <a:spcPct val="100000"/>
                        </a:lnSpc>
                      </a:pPr>
                      <a:r>
                        <a:rPr lang="en-IN" sz="1400" b="0" i="0" kern="1200">
                          <a:solidFill>
                            <a:schemeClr val="dk1"/>
                          </a:solidFill>
                          <a:effectLst/>
                          <a:latin typeface="+mn-lt"/>
                          <a:ea typeface="+mn-ea"/>
                          <a:cs typeface="+mn-cs"/>
                        </a:rPr>
                        <a:t>Li-Fi Based Smart Traffic Network</a:t>
                      </a:r>
                    </a:p>
                  </a:txBody>
                  <a:tcPr/>
                </a:tc>
                <a:tc>
                  <a:txBody>
                    <a:bodyPr/>
                    <a:lstStyle/>
                    <a:p>
                      <a:pPr marL="0" indent="0">
                        <a:lnSpc>
                          <a:spcPct val="100000"/>
                        </a:lnSpc>
                        <a:buNone/>
                      </a:pPr>
                      <a:r>
                        <a:rPr lang="en-US" sz="1400" b="0" i="0" u="sng" kern="1200">
                          <a:solidFill>
                            <a:schemeClr val="dk1"/>
                          </a:solidFill>
                          <a:effectLst/>
                          <a:latin typeface="+mn-lt"/>
                          <a:ea typeface="+mn-ea"/>
                          <a:cs typeface="+mn-cs"/>
                          <a:hlinkClick r:id="rId2"/>
                        </a:rPr>
                        <a:t>A. Correa</a:t>
                      </a:r>
                      <a:r>
                        <a:rPr lang="en-US" sz="1400" b="0" i="0" kern="1200">
                          <a:solidFill>
                            <a:schemeClr val="dk1"/>
                          </a:solidFill>
                          <a:effectLst/>
                          <a:latin typeface="+mn-lt"/>
                          <a:ea typeface="+mn-ea"/>
                          <a:cs typeface="+mn-cs"/>
                        </a:rPr>
                        <a:t>; </a:t>
                      </a:r>
                      <a:r>
                        <a:rPr lang="en-US" sz="1400" b="0" i="0" u="none" strike="noStrike" kern="1200">
                          <a:solidFill>
                            <a:schemeClr val="dk1"/>
                          </a:solidFill>
                          <a:effectLst/>
                          <a:latin typeface="+mn-lt"/>
                          <a:ea typeface="+mn-ea"/>
                          <a:cs typeface="+mn-cs"/>
                          <a:hlinkClick r:id="rId3"/>
                        </a:rPr>
                        <a:t>A. Hamid</a:t>
                      </a:r>
                      <a:r>
                        <a:rPr lang="en-US" sz="1400" b="0" i="0" kern="1200">
                          <a:solidFill>
                            <a:schemeClr val="dk1"/>
                          </a:solidFill>
                          <a:effectLst/>
                          <a:latin typeface="+mn-lt"/>
                          <a:ea typeface="+mn-ea"/>
                          <a:cs typeface="+mn-cs"/>
                        </a:rPr>
                        <a:t>; </a:t>
                      </a:r>
                      <a:r>
                        <a:rPr lang="en-US" sz="1400" b="0" i="0" u="none" strike="noStrike" kern="1200">
                          <a:solidFill>
                            <a:schemeClr val="dk1"/>
                          </a:solidFill>
                          <a:effectLst/>
                          <a:latin typeface="+mn-lt"/>
                          <a:ea typeface="+mn-ea"/>
                          <a:cs typeface="+mn-cs"/>
                          <a:hlinkClick r:id="rId4"/>
                        </a:rPr>
                        <a:t>E. Sparks</a:t>
                      </a:r>
                      <a:r>
                        <a:rPr lang="en-US" sz="1400" b="0" i="0" u="none" strike="noStrike" kern="1200">
                          <a:solidFill>
                            <a:schemeClr val="dk1"/>
                          </a:solidFill>
                          <a:effectLst/>
                          <a:latin typeface="+mn-lt"/>
                          <a:ea typeface="+mn-ea"/>
                          <a:cs typeface="+mn-cs"/>
                        </a:rPr>
                        <a:t>      </a:t>
                      </a:r>
                    </a:p>
                    <a:p>
                      <a:pPr marL="0" indent="0">
                        <a:lnSpc>
                          <a:spcPct val="100000"/>
                        </a:lnSpc>
                        <a:buNone/>
                      </a:pP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pPr>
                      <a:r>
                        <a:rPr lang="en-IN" sz="1400" b="0" kern="1200">
                          <a:solidFill>
                            <a:schemeClr val="dk1"/>
                          </a:solidFill>
                          <a:effectLst/>
                          <a:latin typeface="+mn-lt"/>
                          <a:ea typeface="+mn-ea"/>
                          <a:cs typeface="Times New Roman" panose="02020603050405020304" pitchFamily="18" charset="0"/>
                        </a:rPr>
                        <a:t>2018</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0000"/>
                        </a:lnSpc>
                        <a:spcAft>
                          <a:spcPts val="800"/>
                        </a:spcAft>
                      </a:pPr>
                      <a:r>
                        <a:rPr lang="en-US" sz="1400" b="0" kern="1200">
                          <a:solidFill>
                            <a:schemeClr val="dk1"/>
                          </a:solidFill>
                          <a:latin typeface="+mn-lt"/>
                          <a:ea typeface="+mn-ea"/>
                          <a:cs typeface="+mn-cs"/>
                        </a:rPr>
                        <a:t>Using Li-Fi, a visible light communications system, autonomous cars will be able to communicate with each other and with the traffic network to eradicate any human error that might occur while driving today. </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2"/>
                  </a:ext>
                </a:extLst>
              </a:tr>
              <a:tr h="2140373">
                <a:tc>
                  <a:txBody>
                    <a:bodyPr/>
                    <a:lstStyle/>
                    <a:p>
                      <a:pPr algn="ctr"/>
                      <a:r>
                        <a:rPr lang="en-US" sz="1400">
                          <a:latin typeface="Times New Roman" panose="02020603050405020304" pitchFamily="18" charset="0"/>
                          <a:cs typeface="Times New Roman" panose="02020603050405020304" pitchFamily="18" charset="0"/>
                        </a:rPr>
                        <a:t>10.</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dk1"/>
                          </a:solidFill>
                          <a:effectLst/>
                          <a:latin typeface="+mn-lt"/>
                          <a:ea typeface="+mn-ea"/>
                          <a:cs typeface="+mn-cs"/>
                        </a:rPr>
                        <a:t>Li-Fi Based Automatic Traffic Signal Control for Emergency Vehicles</a:t>
                      </a:r>
                    </a:p>
                    <a:p>
                      <a:pPr algn="l"/>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IN" sz="1400" b="0" i="0" u="none" strike="noStrike" kern="1200">
                          <a:solidFill>
                            <a:schemeClr val="dk1"/>
                          </a:solidFill>
                          <a:effectLst/>
                          <a:latin typeface="+mn-lt"/>
                          <a:ea typeface="+mn-ea"/>
                          <a:cs typeface="+mn-cs"/>
                          <a:hlinkClick r:id="rId5"/>
                        </a:rPr>
                        <a:t>R Shanmughasundaram</a:t>
                      </a:r>
                      <a:r>
                        <a:rPr lang="en-IN" sz="1400" b="0" i="0" kern="1200">
                          <a:solidFill>
                            <a:schemeClr val="dk1"/>
                          </a:solidFill>
                          <a:effectLst/>
                          <a:latin typeface="+mn-lt"/>
                          <a:ea typeface="+mn-ea"/>
                          <a:cs typeface="+mn-cs"/>
                        </a:rPr>
                        <a:t>; </a:t>
                      </a:r>
                      <a:r>
                        <a:rPr lang="en-IN" sz="1400" b="0" i="0" u="none" strike="noStrike" kern="1200">
                          <a:solidFill>
                            <a:schemeClr val="dk1"/>
                          </a:solidFill>
                          <a:effectLst/>
                          <a:latin typeface="+mn-lt"/>
                          <a:ea typeface="+mn-ea"/>
                          <a:cs typeface="+mn-cs"/>
                          <a:hlinkClick r:id="rId6"/>
                        </a:rPr>
                        <a:t>S Prasanna Vadanan</a:t>
                      </a:r>
                      <a:r>
                        <a:rPr lang="en-IN" sz="1400" b="0" i="0" kern="1200">
                          <a:solidFill>
                            <a:schemeClr val="dk1"/>
                          </a:solidFill>
                          <a:effectLst/>
                          <a:latin typeface="+mn-lt"/>
                          <a:ea typeface="+mn-ea"/>
                          <a:cs typeface="+mn-cs"/>
                        </a:rPr>
                        <a:t>; </a:t>
                      </a:r>
                      <a:r>
                        <a:rPr lang="en-IN" sz="1400" b="0" i="0" u="sng" kern="1200">
                          <a:solidFill>
                            <a:schemeClr val="dk1"/>
                          </a:solidFill>
                          <a:effectLst/>
                          <a:latin typeface="+mn-lt"/>
                          <a:ea typeface="+mn-ea"/>
                          <a:cs typeface="+mn-cs"/>
                          <a:hlinkClick r:id="rId7"/>
                        </a:rPr>
                        <a:t>Vivek Dharmarajan</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pPr>
                      <a:r>
                        <a:rPr lang="en-IN" sz="1400" b="0" kern="1200">
                          <a:solidFill>
                            <a:schemeClr val="dk1"/>
                          </a:solidFill>
                          <a:effectLst/>
                          <a:latin typeface="+mn-lt"/>
                          <a:ea typeface="Calibri" panose="020F0502020204030204" pitchFamily="34" charset="0"/>
                          <a:cs typeface="Times New Roman" panose="02020603050405020304" pitchFamily="18" charset="0"/>
                        </a:rPr>
                        <a:t>2018</a:t>
                      </a:r>
                      <a:endParaRPr lang="en-IN" sz="1400" b="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dk1"/>
                          </a:solidFill>
                          <a:effectLst/>
                          <a:latin typeface="+mn-lt"/>
                          <a:ea typeface="+mn-ea"/>
                          <a:cs typeface="+mn-cs"/>
                        </a:rPr>
                        <a:t>In this paper, a V2V communication system is proposed in which the headlight and tail light of a vehicle are made as Li-Fi transmitter and Li-Fi receiver respectively. Using the proposed system, when a traffic signal receives an alert regarding an emergency vehicle, the traffic signal would immediately turn green. Thus, decreasing the waiting time of emergency vehicles in traffic dense lanes</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a:t>
                      </a:r>
                      <a:endParaRPr lang="en-IN" sz="1400" b="0" kern="120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081901632"/>
                  </a:ext>
                </a:extLst>
              </a:tr>
            </a:tbl>
          </a:graphicData>
        </a:graphic>
      </p:graphicFrame>
    </p:spTree>
    <p:extLst>
      <p:ext uri="{BB962C8B-B14F-4D97-AF65-F5344CB8AC3E}">
        <p14:creationId xmlns:p14="http://schemas.microsoft.com/office/powerpoint/2010/main" val="1235446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CAF4-2354-691A-9AED-E104BA5C0A0E}"/>
              </a:ext>
            </a:extLst>
          </p:cNvPr>
          <p:cNvSpPr>
            <a:spLocks noGrp="1"/>
          </p:cNvSpPr>
          <p:nvPr>
            <p:ph type="title"/>
          </p:nvPr>
        </p:nvSpPr>
        <p:spPr/>
        <p:txBody>
          <a:bodyPr>
            <a:normAutofit fontScale="90000"/>
          </a:bodyPr>
          <a:lstStyle/>
          <a:p>
            <a:pPr algn="ctr"/>
            <a:r>
              <a:rPr lang="en-IN"/>
              <a:t>ANALYSIS</a:t>
            </a:r>
            <a:endParaRPr lang="en-IN" dirty="0"/>
          </a:p>
        </p:txBody>
      </p:sp>
      <p:sp>
        <p:nvSpPr>
          <p:cNvPr id="3" name="Content Placeholder 2">
            <a:extLst>
              <a:ext uri="{FF2B5EF4-FFF2-40B4-BE49-F238E27FC236}">
                <a16:creationId xmlns:a16="http://schemas.microsoft.com/office/drawing/2014/main" id="{6F880E55-D126-1DA2-575F-5A1681A3269B}"/>
              </a:ext>
            </a:extLst>
          </p:cNvPr>
          <p:cNvSpPr>
            <a:spLocks noGrp="1"/>
          </p:cNvSpPr>
          <p:nvPr>
            <p:ph idx="1"/>
          </p:nvPr>
        </p:nvSpPr>
        <p:spPr/>
        <p:txBody>
          <a:bodyPr>
            <a:normAutofit lnSpcReduction="10000"/>
          </a:bodyPr>
          <a:lstStyle/>
          <a:p>
            <a:pPr marL="0" indent="0" algn="just">
              <a:lnSpc>
                <a:spcPct val="150000"/>
              </a:lnSpc>
              <a:buNone/>
            </a:pPr>
            <a:r>
              <a:rPr lang="en-US" sz="2400" b="1" i="0">
                <a:effectLst/>
                <a:latin typeface="Times New Roman" panose="02020603050405020304" pitchFamily="18" charset="0"/>
                <a:cs typeface="Times New Roman" panose="02020603050405020304" pitchFamily="18" charset="0"/>
              </a:rPr>
              <a:t>PROBLEM IDENTIFICATION</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Cities with continually growing populations but the same infrastructure cause more traffic through the same points, making it difficult to follow the recommended 8-10 minute response time for medical emergencies like cardiac arrest or stroke.</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There are specific critical points in every city where traffic slows down, making emergency response time longer than it should be.</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The existing traffic signal control systems are not designed to prioritize emergency vehicles like ambulances, firefighting, and police vehicles, resulting in delayed response times, which can have catastrophic consequences, especially in cases of medical emergencies.</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The current systems are based on fixed timers or sensors and do not take into account the priority of emergency vehicles.</a:t>
            </a:r>
          </a:p>
        </p:txBody>
      </p:sp>
      <p:sp>
        <p:nvSpPr>
          <p:cNvPr id="4" name="Date Placeholder 3">
            <a:extLst>
              <a:ext uri="{FF2B5EF4-FFF2-40B4-BE49-F238E27FC236}">
                <a16:creationId xmlns:a16="http://schemas.microsoft.com/office/drawing/2014/main" id="{C9410A4C-D549-6AA1-1B01-2377C3FBB560}"/>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BC810688-9E3A-B0A1-E7BE-5697B516C3D5}"/>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F6FB050D-97FB-A4F5-5E0E-360D3884F25B}"/>
              </a:ext>
            </a:extLst>
          </p:cNvPr>
          <p:cNvSpPr>
            <a:spLocks noGrp="1"/>
          </p:cNvSpPr>
          <p:nvPr>
            <p:ph type="sldNum" sz="quarter" idx="12"/>
          </p:nvPr>
        </p:nvSpPr>
        <p:spPr/>
        <p:txBody>
          <a:bodyPr/>
          <a:lstStyle/>
          <a:p>
            <a:fld id="{5B4F5413-E548-45A8-B9DD-11B71454D5CA}" type="slidenum">
              <a:rPr lang="en-US" smtClean="0"/>
              <a:pPr/>
              <a:t>12</a:t>
            </a:fld>
            <a:endParaRPr lang="en-US" dirty="0"/>
          </a:p>
        </p:txBody>
      </p:sp>
    </p:spTree>
    <p:extLst>
      <p:ext uri="{BB962C8B-B14F-4D97-AF65-F5344CB8AC3E}">
        <p14:creationId xmlns:p14="http://schemas.microsoft.com/office/powerpoint/2010/main" val="3579099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A2278-81C5-CC3E-B0B1-4A3FE71EF0E9}"/>
              </a:ext>
            </a:extLst>
          </p:cNvPr>
          <p:cNvSpPr>
            <a:spLocks noGrp="1"/>
          </p:cNvSpPr>
          <p:nvPr>
            <p:ph type="title"/>
          </p:nvPr>
        </p:nvSpPr>
        <p:spPr/>
        <p:txBody>
          <a:bodyPr>
            <a:normAutofit fontScale="90000"/>
          </a:bodyPr>
          <a:lstStyle/>
          <a:p>
            <a:pPr algn="ctr"/>
            <a:r>
              <a:rPr lang="en-IN"/>
              <a:t>ANALYSIS </a:t>
            </a:r>
            <a:endParaRPr lang="en-IN" dirty="0"/>
          </a:p>
        </p:txBody>
      </p:sp>
      <p:sp>
        <p:nvSpPr>
          <p:cNvPr id="3" name="Content Placeholder 2">
            <a:extLst>
              <a:ext uri="{FF2B5EF4-FFF2-40B4-BE49-F238E27FC236}">
                <a16:creationId xmlns:a16="http://schemas.microsoft.com/office/drawing/2014/main" id="{D0778D5F-2130-C0B7-6BCF-A9109C05D76E}"/>
              </a:ext>
            </a:extLst>
          </p:cNvPr>
          <p:cNvSpPr>
            <a:spLocks noGrp="1"/>
          </p:cNvSpPr>
          <p:nvPr>
            <p:ph idx="1"/>
          </p:nvPr>
        </p:nvSpPr>
        <p:spPr/>
        <p:txBody>
          <a:bodyPr>
            <a:normAutofit/>
          </a:bodyPr>
          <a:lstStyle/>
          <a:p>
            <a:pPr marL="0" indent="0" algn="just">
              <a:lnSpc>
                <a:spcPct val="150000"/>
              </a:lnSpc>
              <a:buNone/>
            </a:pPr>
            <a:r>
              <a:rPr lang="en-US" sz="2400" b="1" i="0">
                <a:effectLst/>
                <a:latin typeface="Times New Roman" panose="02020603050405020304" pitchFamily="18" charset="0"/>
                <a:cs typeface="Times New Roman" panose="02020603050405020304" pitchFamily="18" charset="0"/>
              </a:rPr>
              <a:t>OBJECTIVES</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Reduce response time of emergency vehicles, especially ambulances, by providing them with priority passage through traffic signals.</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Improve overall traffic flow in the city while providing emergency vehicles with priority passage.</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Minimize risks of accidents and loss of lives due to delayed response times of emergency vehicles.</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Provide maximum communication for ambulance from environment and hospitals.</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Provide immediate response from hospital side for emergency vehicle and connect all hospitals to one platform using IoT.</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Increase adoption of LiFi technology for communication and traffic management in smart cities.</a:t>
            </a:r>
          </a:p>
        </p:txBody>
      </p:sp>
      <p:sp>
        <p:nvSpPr>
          <p:cNvPr id="4" name="Date Placeholder 3">
            <a:extLst>
              <a:ext uri="{FF2B5EF4-FFF2-40B4-BE49-F238E27FC236}">
                <a16:creationId xmlns:a16="http://schemas.microsoft.com/office/drawing/2014/main" id="{D60880E2-662A-286D-C410-6BC0BCFD6F35}"/>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F8A6644B-2312-8E22-F60E-AC0A49D617FD}"/>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B3B59367-5864-2CB2-E5FE-38D361066AC9}"/>
              </a:ext>
            </a:extLst>
          </p:cNvPr>
          <p:cNvSpPr>
            <a:spLocks noGrp="1"/>
          </p:cNvSpPr>
          <p:nvPr>
            <p:ph type="sldNum" sz="quarter" idx="12"/>
          </p:nvPr>
        </p:nvSpPr>
        <p:spPr/>
        <p:txBody>
          <a:bodyPr/>
          <a:lstStyle/>
          <a:p>
            <a:fld id="{5B4F5413-E548-45A8-B9DD-11B71454D5CA}" type="slidenum">
              <a:rPr lang="en-US" smtClean="0"/>
              <a:pPr/>
              <a:t>13</a:t>
            </a:fld>
            <a:endParaRPr lang="en-US" dirty="0"/>
          </a:p>
        </p:txBody>
      </p:sp>
    </p:spTree>
    <p:extLst>
      <p:ext uri="{BB962C8B-B14F-4D97-AF65-F5344CB8AC3E}">
        <p14:creationId xmlns:p14="http://schemas.microsoft.com/office/powerpoint/2010/main" val="2130071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EE0B7-8C78-7168-F36C-AC5ED142AD85}"/>
              </a:ext>
            </a:extLst>
          </p:cNvPr>
          <p:cNvSpPr>
            <a:spLocks noGrp="1"/>
          </p:cNvSpPr>
          <p:nvPr>
            <p:ph type="title"/>
          </p:nvPr>
        </p:nvSpPr>
        <p:spPr/>
        <p:txBody>
          <a:bodyPr>
            <a:normAutofit fontScale="90000"/>
          </a:bodyPr>
          <a:lstStyle/>
          <a:p>
            <a:pPr algn="ctr"/>
            <a:r>
              <a:rPr lang="en-IN"/>
              <a:t>ANALYSIS </a:t>
            </a:r>
            <a:endParaRPr lang="en-IN" dirty="0"/>
          </a:p>
        </p:txBody>
      </p:sp>
      <p:sp>
        <p:nvSpPr>
          <p:cNvPr id="3" name="Content Placeholder 2">
            <a:extLst>
              <a:ext uri="{FF2B5EF4-FFF2-40B4-BE49-F238E27FC236}">
                <a16:creationId xmlns:a16="http://schemas.microsoft.com/office/drawing/2014/main" id="{73770D6E-DB4F-7D7B-198B-C2E710D372B6}"/>
              </a:ext>
            </a:extLst>
          </p:cNvPr>
          <p:cNvSpPr>
            <a:spLocks noGrp="1"/>
          </p:cNvSpPr>
          <p:nvPr>
            <p:ph idx="1"/>
          </p:nvPr>
        </p:nvSpPr>
        <p:spPr/>
        <p:txBody>
          <a:bodyPr>
            <a:normAutofit/>
          </a:bodyPr>
          <a:lstStyle/>
          <a:p>
            <a:pPr marL="0" indent="0">
              <a:buNone/>
            </a:pPr>
            <a:r>
              <a:rPr lang="en-IN" sz="2400" b="1">
                <a:latin typeface="Times New Roman" panose="02020603050405020304" pitchFamily="18" charset="0"/>
                <a:cs typeface="Times New Roman" panose="02020603050405020304" pitchFamily="18" charset="0"/>
              </a:rPr>
              <a:t>METHODOLOGY</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Li-Fi protocol represents data by varying the intensity of LED light.</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High intensity represents a binary 1, while low intensity represents a binary 0.</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Any LED fixture with a signal processing circuit can work as a Li-Fi transmitter, while a photodiode with a demodulation circuit can work as a receiver.</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Li-Fi achieves high-speed data transmission, up to several gigabits per second.</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The working of Li-Fi involves modulating a light source, typically an LED, to encode data in light pulses.</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The photodetector receives the light pulses and converts them back into electrical signals.</a:t>
            </a:r>
          </a:p>
          <a:p>
            <a:pPr algn="just">
              <a:lnSpc>
                <a:spcPct val="150000"/>
              </a:lnSpc>
              <a:buFont typeface="Wingdings" panose="05000000000000000000" pitchFamily="2" charset="2"/>
              <a:buChar char="Ø"/>
            </a:pPr>
            <a:r>
              <a:rPr lang="en-US" sz="1800" b="0" i="0">
                <a:effectLst/>
                <a:latin typeface="Times New Roman" panose="02020603050405020304" pitchFamily="18" charset="0"/>
                <a:cs typeface="Times New Roman" panose="02020603050405020304" pitchFamily="18" charset="0"/>
              </a:rPr>
              <a:t>The receiver then detects changes in light intensity and decodes the data from the light signals.</a:t>
            </a:r>
          </a:p>
        </p:txBody>
      </p:sp>
      <p:sp>
        <p:nvSpPr>
          <p:cNvPr id="4" name="Date Placeholder 3">
            <a:extLst>
              <a:ext uri="{FF2B5EF4-FFF2-40B4-BE49-F238E27FC236}">
                <a16:creationId xmlns:a16="http://schemas.microsoft.com/office/drawing/2014/main" id="{BD0D0128-1479-5CF4-57F3-542B6FAD8802}"/>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DDF0C5AF-94F1-1A97-D61B-6BA7779BFD6D}"/>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59AFB260-9CB8-B253-0104-F3296C1AA079}"/>
              </a:ext>
            </a:extLst>
          </p:cNvPr>
          <p:cNvSpPr>
            <a:spLocks noGrp="1"/>
          </p:cNvSpPr>
          <p:nvPr>
            <p:ph type="sldNum" sz="quarter" idx="12"/>
          </p:nvPr>
        </p:nvSpPr>
        <p:spPr/>
        <p:txBody>
          <a:bodyPr/>
          <a:lstStyle/>
          <a:p>
            <a:fld id="{5B4F5413-E548-45A8-B9DD-11B71454D5CA}" type="slidenum">
              <a:rPr lang="en-US" smtClean="0"/>
              <a:pPr/>
              <a:t>14</a:t>
            </a:fld>
            <a:endParaRPr lang="en-US" dirty="0"/>
          </a:p>
        </p:txBody>
      </p:sp>
    </p:spTree>
    <p:extLst>
      <p:ext uri="{BB962C8B-B14F-4D97-AF65-F5344CB8AC3E}">
        <p14:creationId xmlns:p14="http://schemas.microsoft.com/office/powerpoint/2010/main" val="2293412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EE0B7-8C78-7168-F36C-AC5ED142AD85}"/>
              </a:ext>
            </a:extLst>
          </p:cNvPr>
          <p:cNvSpPr>
            <a:spLocks noGrp="1"/>
          </p:cNvSpPr>
          <p:nvPr>
            <p:ph type="title"/>
          </p:nvPr>
        </p:nvSpPr>
        <p:spPr/>
        <p:txBody>
          <a:bodyPr>
            <a:normAutofit fontScale="90000"/>
          </a:bodyPr>
          <a:lstStyle/>
          <a:p>
            <a:pPr algn="ctr"/>
            <a:r>
              <a:rPr lang="en-IN"/>
              <a:t>ANALYSIS </a:t>
            </a:r>
            <a:endParaRPr lang="en-IN" dirty="0"/>
          </a:p>
        </p:txBody>
      </p:sp>
      <p:sp>
        <p:nvSpPr>
          <p:cNvPr id="3" name="Content Placeholder 2">
            <a:extLst>
              <a:ext uri="{FF2B5EF4-FFF2-40B4-BE49-F238E27FC236}">
                <a16:creationId xmlns:a16="http://schemas.microsoft.com/office/drawing/2014/main" id="{73770D6E-DB4F-7D7B-198B-C2E710D372B6}"/>
              </a:ext>
            </a:extLst>
          </p:cNvPr>
          <p:cNvSpPr>
            <a:spLocks noGrp="1"/>
          </p:cNvSpPr>
          <p:nvPr>
            <p:ph idx="1"/>
          </p:nvPr>
        </p:nvSpPr>
        <p:spPr/>
        <p:txBody>
          <a:bodyPr>
            <a:normAutofit/>
          </a:bodyPr>
          <a:lstStyle/>
          <a:p>
            <a:pPr marL="0" indent="0">
              <a:buNone/>
            </a:pPr>
            <a:r>
              <a:rPr lang="en-IN" sz="2400" b="1">
                <a:latin typeface="Times New Roman" panose="02020603050405020304" pitchFamily="18" charset="0"/>
                <a:cs typeface="Times New Roman" panose="02020603050405020304" pitchFamily="18" charset="0"/>
              </a:rPr>
              <a:t>SYSTEM REQUIREMENTS</a:t>
            </a:r>
          </a:p>
          <a:p>
            <a:pPr marL="0" indent="0">
              <a:buNone/>
            </a:pPr>
            <a:endParaRPr lang="en-IN" sz="2400" b="1">
              <a:latin typeface="Times New Roman" panose="02020603050405020304" pitchFamily="18" charset="0"/>
              <a:cs typeface="Times New Roman" panose="02020603050405020304" pitchFamily="18" charset="0"/>
            </a:endParaRPr>
          </a:p>
          <a:p>
            <a:pPr marL="1905" indent="0" algn="just" fontAlgn="base">
              <a:lnSpc>
                <a:spcPct val="120000"/>
              </a:lnSpc>
              <a:spcBef>
                <a:spcPts val="0"/>
              </a:spcBef>
              <a:buNone/>
            </a:pPr>
            <a:r>
              <a:rPr lang="en-IN" sz="1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HARDWARE</a:t>
            </a:r>
            <a:r>
              <a:rPr lang="en-IN"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Controller - Arduino Uno ATmega328</a:t>
            </a:r>
          </a:p>
          <a:p>
            <a:pPr marL="457200" indent="-226695" algn="just" fontAlgn="base">
              <a:lnSpc>
                <a:spcPct val="120000"/>
              </a:lnSpc>
              <a:spcBef>
                <a:spcPts val="0"/>
              </a:spcBef>
            </a:pPr>
            <a:r>
              <a:rPr lang="en-IN" sz="1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Lifi Transmitter - LED lamp</a:t>
            </a:r>
          </a:p>
          <a:p>
            <a:pPr marL="457200" indent="-226695" algn="just" fontAlgn="base">
              <a:lnSpc>
                <a:spcPct val="120000"/>
              </a:lnSpc>
              <a:spcBef>
                <a:spcPts val="0"/>
              </a:spcBef>
            </a:pPr>
            <a:r>
              <a:rPr lang="en-IN"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Lifi Reciever - Solar panel</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Traffic lights - LED lights</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Information display - LCD display</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Wifi module - NodeMCU ESP8266</a:t>
            </a:r>
          </a:p>
          <a:p>
            <a:pPr marL="457200" indent="-226695" algn="just" fontAlgn="base">
              <a:lnSpc>
                <a:spcPct val="120000"/>
              </a:lnSpc>
              <a:spcBef>
                <a:spcPts val="0"/>
              </a:spcBef>
            </a:pPr>
            <a:r>
              <a:rPr lang="en-IN" sz="1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Transformer - 12V-0-12V</a:t>
            </a:r>
          </a:p>
          <a:p>
            <a:pPr marL="230505" indent="0" algn="just" fontAlgn="base">
              <a:lnSpc>
                <a:spcPct val="120000"/>
              </a:lnSpc>
              <a:spcBef>
                <a:spcPts val="0"/>
              </a:spcBef>
              <a:buNone/>
            </a:pP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p>
            <a:pPr marL="1905" indent="0" algn="just" fontAlgn="base">
              <a:lnSpc>
                <a:spcPct val="120000"/>
              </a:lnSpc>
              <a:spcBef>
                <a:spcPts val="0"/>
              </a:spcBef>
              <a:buNone/>
            </a:pPr>
            <a:r>
              <a:rPr lang="en-IN" sz="1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SOFTWARE</a:t>
            </a:r>
            <a:r>
              <a:rPr lang="en-IN"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Arduino IDE</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Adafruit IO</a:t>
            </a:r>
          </a:p>
          <a:p>
            <a:pPr marL="457200" indent="-226695" algn="just" fontAlgn="base">
              <a:lnSpc>
                <a:spcPct val="120000"/>
              </a:lnSpc>
              <a:spcBef>
                <a:spcPts val="0"/>
              </a:spcBef>
            </a:pP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D0D0128-1479-5CF4-57F3-542B6FAD8802}"/>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DDF0C5AF-94F1-1A97-D61B-6BA7779BFD6D}"/>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59AFB260-9CB8-B253-0104-F3296C1AA079}"/>
              </a:ext>
            </a:extLst>
          </p:cNvPr>
          <p:cNvSpPr>
            <a:spLocks noGrp="1"/>
          </p:cNvSpPr>
          <p:nvPr>
            <p:ph type="sldNum" sz="quarter" idx="12"/>
          </p:nvPr>
        </p:nvSpPr>
        <p:spPr/>
        <p:txBody>
          <a:bodyPr/>
          <a:lstStyle/>
          <a:p>
            <a:fld id="{5B4F5413-E548-45A8-B9DD-11B71454D5CA}" type="slidenum">
              <a:rPr lang="en-US" smtClean="0"/>
              <a:pPr/>
              <a:t>15</a:t>
            </a:fld>
            <a:endParaRPr lang="en-US" dirty="0"/>
          </a:p>
        </p:txBody>
      </p:sp>
    </p:spTree>
    <p:extLst>
      <p:ext uri="{BB962C8B-B14F-4D97-AF65-F5344CB8AC3E}">
        <p14:creationId xmlns:p14="http://schemas.microsoft.com/office/powerpoint/2010/main" val="2209114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EE0B7-8C78-7168-F36C-AC5ED142AD85}"/>
              </a:ext>
            </a:extLst>
          </p:cNvPr>
          <p:cNvSpPr>
            <a:spLocks noGrp="1"/>
          </p:cNvSpPr>
          <p:nvPr>
            <p:ph type="title"/>
          </p:nvPr>
        </p:nvSpPr>
        <p:spPr>
          <a:xfrm>
            <a:off x="819400" y="136525"/>
            <a:ext cx="10515600" cy="694162"/>
          </a:xfrm>
        </p:spPr>
        <p:txBody>
          <a:bodyPr>
            <a:normAutofit fontScale="90000"/>
          </a:bodyPr>
          <a:lstStyle/>
          <a:p>
            <a:pPr algn="ctr"/>
            <a:r>
              <a:rPr lang="en-IN"/>
              <a:t>SYSTEM DESIGN </a:t>
            </a:r>
            <a:endParaRPr lang="en-IN" dirty="0"/>
          </a:p>
        </p:txBody>
      </p:sp>
      <p:pic>
        <p:nvPicPr>
          <p:cNvPr id="8" name="Content Placeholder 7">
            <a:extLst>
              <a:ext uri="{FF2B5EF4-FFF2-40B4-BE49-F238E27FC236}">
                <a16:creationId xmlns:a16="http://schemas.microsoft.com/office/drawing/2014/main" id="{FE517B17-0422-738F-DD12-BFD59CB2DAE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118" t="3591" r="8935" b="4861"/>
          <a:stretch/>
        </p:blipFill>
        <p:spPr>
          <a:xfrm>
            <a:off x="8760296" y="1260338"/>
            <a:ext cx="3127176" cy="5034008"/>
          </a:xfrm>
        </p:spPr>
      </p:pic>
      <p:sp>
        <p:nvSpPr>
          <p:cNvPr id="4" name="Date Placeholder 3">
            <a:extLst>
              <a:ext uri="{FF2B5EF4-FFF2-40B4-BE49-F238E27FC236}">
                <a16:creationId xmlns:a16="http://schemas.microsoft.com/office/drawing/2014/main" id="{BD0D0128-1479-5CF4-57F3-542B6FAD8802}"/>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DDF0C5AF-94F1-1A97-D61B-6BA7779BFD6D}"/>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59AFB260-9CB8-B253-0104-F3296C1AA079}"/>
              </a:ext>
            </a:extLst>
          </p:cNvPr>
          <p:cNvSpPr>
            <a:spLocks noGrp="1"/>
          </p:cNvSpPr>
          <p:nvPr>
            <p:ph type="sldNum" sz="quarter" idx="12"/>
          </p:nvPr>
        </p:nvSpPr>
        <p:spPr/>
        <p:txBody>
          <a:bodyPr/>
          <a:lstStyle/>
          <a:p>
            <a:fld id="{5B4F5413-E548-45A8-B9DD-11B71454D5CA}" type="slidenum">
              <a:rPr lang="en-US" smtClean="0"/>
              <a:pPr/>
              <a:t>16</a:t>
            </a:fld>
            <a:endParaRPr lang="en-US" dirty="0"/>
          </a:p>
        </p:txBody>
      </p:sp>
      <p:sp>
        <p:nvSpPr>
          <p:cNvPr id="15" name="TextBox 14">
            <a:extLst>
              <a:ext uri="{FF2B5EF4-FFF2-40B4-BE49-F238E27FC236}">
                <a16:creationId xmlns:a16="http://schemas.microsoft.com/office/drawing/2014/main" id="{A06DB297-F00B-4D98-74B1-4AACF7CD55A0}"/>
              </a:ext>
            </a:extLst>
          </p:cNvPr>
          <p:cNvSpPr txBox="1"/>
          <p:nvPr/>
        </p:nvSpPr>
        <p:spPr>
          <a:xfrm>
            <a:off x="722785" y="830687"/>
            <a:ext cx="7887815" cy="6186309"/>
          </a:xfrm>
          <a:prstGeom prst="rect">
            <a:avLst/>
          </a:prstGeom>
          <a:noFill/>
        </p:spPr>
        <p:txBody>
          <a:bodyPr wrap="square" rtlCol="0">
            <a:spAutoFit/>
          </a:bodyPr>
          <a:lstStyle/>
          <a:p>
            <a:pPr algn="just">
              <a:lnSpc>
                <a:spcPct val="150000"/>
              </a:lnSpc>
            </a:pPr>
            <a:r>
              <a:rPr lang="en-IN" b="1" i="0">
                <a:effectLst/>
                <a:latin typeface="Times New Roman" panose="02020603050405020304" pitchFamily="18" charset="0"/>
                <a:cs typeface="Times New Roman" panose="02020603050405020304" pitchFamily="18" charset="0"/>
              </a:rPr>
              <a:t>ARCHITECTURE</a:t>
            </a:r>
            <a:endParaRPr lang="en-US" b="0" i="0">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0" i="0">
                <a:effectLst/>
                <a:latin typeface="Times New Roman" panose="02020603050405020304" pitchFamily="18" charset="0"/>
                <a:cs typeface="Times New Roman" panose="02020603050405020304" pitchFamily="18" charset="0"/>
              </a:rPr>
              <a:t>The proposed traffic management system that utilizes Li-Fi technology consists of two main nodes: the ambulance (emergency vehicle) and the traffic signal control.</a:t>
            </a:r>
          </a:p>
          <a:p>
            <a:pPr algn="just">
              <a:lnSpc>
                <a:spcPct val="150000"/>
              </a:lnSpc>
              <a:buFont typeface="Arial" panose="020B0604020202020204" pitchFamily="34" charset="0"/>
              <a:buChar char="•"/>
            </a:pPr>
            <a:r>
              <a:rPr lang="en-US" b="0" i="0">
                <a:effectLst/>
                <a:latin typeface="Times New Roman" panose="02020603050405020304" pitchFamily="18" charset="0"/>
                <a:cs typeface="Times New Roman" panose="02020603050405020304" pitchFamily="18" charset="0"/>
              </a:rPr>
              <a:t>The nodes are powered by microcontrollers, specifically the ArduinoUno ATmega328, which control the transmission and reception of data.</a:t>
            </a:r>
          </a:p>
          <a:p>
            <a:pPr algn="just">
              <a:lnSpc>
                <a:spcPct val="150000"/>
              </a:lnSpc>
              <a:buFont typeface="Arial" panose="020B0604020202020204" pitchFamily="34" charset="0"/>
              <a:buChar char="•"/>
            </a:pPr>
            <a:r>
              <a:rPr lang="en-US" b="0" i="0">
                <a:effectLst/>
                <a:latin typeface="Times New Roman" panose="02020603050405020304" pitchFamily="18" charset="0"/>
                <a:cs typeface="Times New Roman" panose="02020603050405020304" pitchFamily="18" charset="0"/>
              </a:rPr>
              <a:t>The ambulance node includes a Li-Fi transmitter, such as an LED lamp, that receives command signals from the microcontroller indicating the direction from which the ambulance is approaching the traffic signal.</a:t>
            </a:r>
          </a:p>
          <a:p>
            <a:pPr algn="just">
              <a:lnSpc>
                <a:spcPct val="150000"/>
              </a:lnSpc>
              <a:buFont typeface="Arial" panose="020B0604020202020204" pitchFamily="34" charset="0"/>
              <a:buChar char="•"/>
            </a:pPr>
            <a:r>
              <a:rPr lang="en-US" b="0" i="0">
                <a:effectLst/>
                <a:latin typeface="Times New Roman" panose="02020603050405020304" pitchFamily="18" charset="0"/>
                <a:cs typeface="Times New Roman" panose="02020603050405020304" pitchFamily="18" charset="0"/>
              </a:rPr>
              <a:t>The traffic signal node is equipped with a Li-Fi receiver, for example, a solar panel, that receives signals from the ambulance's transmitter.</a:t>
            </a:r>
          </a:p>
          <a:p>
            <a:pPr algn="just">
              <a:lnSpc>
                <a:spcPct val="150000"/>
              </a:lnSpc>
              <a:buFont typeface="Arial" panose="020B0604020202020204" pitchFamily="34" charset="0"/>
              <a:buChar char="•"/>
            </a:pPr>
            <a:r>
              <a:rPr lang="en-US" b="0" i="0">
                <a:effectLst/>
                <a:latin typeface="Times New Roman" panose="02020603050405020304" pitchFamily="18" charset="0"/>
                <a:cs typeface="Times New Roman" panose="02020603050405020304" pitchFamily="18" charset="0"/>
              </a:rPr>
              <a:t>The microcontroller located within the traffic signal node decrypts the received signal and triggers the traffic signal LED light to change the color of a particular direction to green, allowing the ambulance to pass through smoothly.</a:t>
            </a:r>
          </a:p>
          <a:p>
            <a:pPr algn="just">
              <a:lnSpc>
                <a:spcPct val="150000"/>
              </a:lnSpc>
            </a:pPr>
            <a:endParaRPr lang="en-IN">
              <a:latin typeface="Times New Roman" panose="02020603050405020304" pitchFamily="18" charset="0"/>
              <a:cs typeface="Times New Roman" panose="02020603050405020304" pitchFamily="18" charset="0"/>
            </a:endParaRPr>
          </a:p>
          <a:p>
            <a:pPr marL="342900" indent="-342900">
              <a:buAutoNum type="arabicPeriod"/>
            </a:pPr>
            <a:endParaRPr lang="en-IN"/>
          </a:p>
        </p:txBody>
      </p:sp>
    </p:spTree>
    <p:extLst>
      <p:ext uri="{BB962C8B-B14F-4D97-AF65-F5344CB8AC3E}">
        <p14:creationId xmlns:p14="http://schemas.microsoft.com/office/powerpoint/2010/main" val="4130812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DA35-340A-0134-51E5-CDD7EE0F20A4}"/>
              </a:ext>
            </a:extLst>
          </p:cNvPr>
          <p:cNvSpPr>
            <a:spLocks noGrp="1"/>
          </p:cNvSpPr>
          <p:nvPr>
            <p:ph type="title"/>
          </p:nvPr>
        </p:nvSpPr>
        <p:spPr/>
        <p:txBody>
          <a:bodyPr>
            <a:normAutofit fontScale="90000"/>
          </a:bodyPr>
          <a:lstStyle/>
          <a:p>
            <a:pPr algn="ctr"/>
            <a:r>
              <a:rPr lang="en-IN"/>
              <a:t>IMPLEMENTATION</a:t>
            </a:r>
            <a:endParaRPr lang="en-IN" dirty="0"/>
          </a:p>
        </p:txBody>
      </p:sp>
      <p:sp>
        <p:nvSpPr>
          <p:cNvPr id="3" name="Content Placeholder 2">
            <a:extLst>
              <a:ext uri="{FF2B5EF4-FFF2-40B4-BE49-F238E27FC236}">
                <a16:creationId xmlns:a16="http://schemas.microsoft.com/office/drawing/2014/main" id="{A6E8D001-BB6A-2379-1C0B-0BBA709995D5}"/>
              </a:ext>
            </a:extLst>
          </p:cNvPr>
          <p:cNvSpPr>
            <a:spLocks noGrp="1"/>
          </p:cNvSpPr>
          <p:nvPr>
            <p:ph idx="1"/>
          </p:nvPr>
        </p:nvSpPr>
        <p:spPr/>
        <p:txBody>
          <a:bodyPr>
            <a:normAutofit/>
          </a:bodyPr>
          <a:lstStyle/>
          <a:p>
            <a:pPr marL="0" lvl="0" indent="0" algn="just">
              <a:lnSpc>
                <a:spcPct val="100000"/>
              </a:lnSpc>
              <a:buNone/>
            </a:pPr>
            <a:r>
              <a:rPr lang="en-IN" sz="1800" b="1">
                <a:latin typeface="Times New Roman" panose="02020603050405020304" pitchFamily="18" charset="0"/>
                <a:cs typeface="Times New Roman" panose="02020603050405020304" pitchFamily="18" charset="0"/>
              </a:rPr>
              <a:t>COMPONENTS</a:t>
            </a:r>
            <a:r>
              <a:rPr lang="en-IN" sz="2000" b="1">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Ø"/>
            </a:pPr>
            <a:r>
              <a:rPr lang="en-IN" sz="16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Controller-Arduino Uno ATmega328: </a:t>
            </a:r>
            <a:r>
              <a:rPr lang="en-IN" sz="1600"/>
              <a:t>The ATmega328-based Arduino Uno microcontroller board includes several components such as 14 digital input/output pins (with 6 that can function as PWM outputs), 6 analog inputs, a 16 MHz ceramic resonator, a USB connection, a power jack, an ICSP header, and a reset button.</a:t>
            </a:r>
            <a:r>
              <a:rPr lang="en-US" sz="1600"/>
              <a:t> The board can run on an external power supply of 6 to 20 volts, but if less than 7V is supplied, the 5V pin may output less than 5 volts and the board may be unstable. The power pins on the board include VIN, which is the input voltage when using an external power source; 5V, which outputs a regulated 5V from the onboard regulator.</a:t>
            </a:r>
            <a:endParaRPr lang="en-IN" sz="1600"/>
          </a:p>
        </p:txBody>
      </p:sp>
      <p:sp>
        <p:nvSpPr>
          <p:cNvPr id="4" name="Date Placeholder 3">
            <a:extLst>
              <a:ext uri="{FF2B5EF4-FFF2-40B4-BE49-F238E27FC236}">
                <a16:creationId xmlns:a16="http://schemas.microsoft.com/office/drawing/2014/main" id="{851593AA-6BB8-9266-305F-C14A4DD1EEB9}"/>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6AEDF69A-A29E-A28C-4932-5C3311C377F3}"/>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1BFB1668-D5D2-D628-661B-E06625C328B1}"/>
              </a:ext>
            </a:extLst>
          </p:cNvPr>
          <p:cNvSpPr>
            <a:spLocks noGrp="1"/>
          </p:cNvSpPr>
          <p:nvPr>
            <p:ph type="sldNum" sz="quarter" idx="12"/>
          </p:nvPr>
        </p:nvSpPr>
        <p:spPr/>
        <p:txBody>
          <a:bodyPr/>
          <a:lstStyle/>
          <a:p>
            <a:fld id="{5B4F5413-E548-45A8-B9DD-11B71454D5CA}" type="slidenum">
              <a:rPr lang="en-US" smtClean="0"/>
              <a:pPr/>
              <a:t>17</a:t>
            </a:fld>
            <a:endParaRPr lang="en-US" dirty="0"/>
          </a:p>
        </p:txBody>
      </p:sp>
      <p:pic>
        <p:nvPicPr>
          <p:cNvPr id="9" name="Picture 8">
            <a:extLst>
              <a:ext uri="{FF2B5EF4-FFF2-40B4-BE49-F238E27FC236}">
                <a16:creationId xmlns:a16="http://schemas.microsoft.com/office/drawing/2014/main" id="{1A8025FB-F7EB-4B6E-242D-841DC5D67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975903"/>
            <a:ext cx="4752528" cy="3516971"/>
          </a:xfrm>
          <a:prstGeom prst="rect">
            <a:avLst/>
          </a:prstGeom>
        </p:spPr>
      </p:pic>
    </p:spTree>
    <p:extLst>
      <p:ext uri="{BB962C8B-B14F-4D97-AF65-F5344CB8AC3E}">
        <p14:creationId xmlns:p14="http://schemas.microsoft.com/office/powerpoint/2010/main" val="3003691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DA35-340A-0134-51E5-CDD7EE0F20A4}"/>
              </a:ext>
            </a:extLst>
          </p:cNvPr>
          <p:cNvSpPr>
            <a:spLocks noGrp="1"/>
          </p:cNvSpPr>
          <p:nvPr>
            <p:ph type="title"/>
          </p:nvPr>
        </p:nvSpPr>
        <p:spPr/>
        <p:txBody>
          <a:bodyPr>
            <a:normAutofit fontScale="90000"/>
          </a:bodyPr>
          <a:lstStyle/>
          <a:p>
            <a:pPr algn="ctr"/>
            <a:r>
              <a:rPr lang="en-IN"/>
              <a:t>IMPLEMENTATION</a:t>
            </a:r>
            <a:endParaRPr lang="en-IN" dirty="0"/>
          </a:p>
        </p:txBody>
      </p:sp>
      <p:sp>
        <p:nvSpPr>
          <p:cNvPr id="3" name="Content Placeholder 2">
            <a:extLst>
              <a:ext uri="{FF2B5EF4-FFF2-40B4-BE49-F238E27FC236}">
                <a16:creationId xmlns:a16="http://schemas.microsoft.com/office/drawing/2014/main" id="{A6E8D001-BB6A-2379-1C0B-0BBA709995D5}"/>
              </a:ext>
            </a:extLst>
          </p:cNvPr>
          <p:cNvSpPr>
            <a:spLocks noGrp="1"/>
          </p:cNvSpPr>
          <p:nvPr>
            <p:ph idx="1"/>
          </p:nvPr>
        </p:nvSpPr>
        <p:spPr/>
        <p:txBody>
          <a:bodyPr>
            <a:normAutofit/>
          </a:bodyPr>
          <a:lstStyle/>
          <a:p>
            <a:pPr marL="0" lvl="0" indent="0" algn="just">
              <a:lnSpc>
                <a:spcPct val="100000"/>
              </a:lnSpc>
              <a:buNone/>
            </a:pPr>
            <a:r>
              <a:rPr lang="en-IN" sz="1800" b="1">
                <a:latin typeface="Times New Roman" panose="02020603050405020304" pitchFamily="18" charset="0"/>
                <a:cs typeface="Times New Roman" panose="02020603050405020304" pitchFamily="18" charset="0"/>
              </a:rPr>
              <a:t>COMPONENTS</a:t>
            </a:r>
            <a:r>
              <a:rPr lang="en-IN" sz="2000" b="1">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Ø"/>
            </a:pPr>
            <a:r>
              <a:rPr lang="en-IN" sz="16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Li-Fi transmitter - LED lamp: </a:t>
            </a:r>
            <a:r>
              <a:rPr lang="en-US" sz="1600">
                <a:latin typeface="Times New Roman" panose="02020603050405020304" pitchFamily="18" charset="0"/>
                <a:cs typeface="Times New Roman" panose="02020603050405020304" pitchFamily="18" charset="0"/>
              </a:rPr>
              <a:t>The use of LED lamps as Li-Fi transmitters in a traffic signal control system can provide reliable and efficient communication, especially when the baud rate is set at 1200. With this baud rate, the LED lamp can transmit data at a faster rate than lower baud rates, ensuring quick and accurate transmission of information. Moreover, the LED lamp is an affordable and low-power option for a Li-Fi transmitter, making it an ideal choice for traffic signal control systems. Additionally, it can easily be installed in existing traffic lights, simplifying the setup process.</a:t>
            </a:r>
            <a:endParaRPr lang="en-IN" sz="16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51593AA-6BB8-9266-305F-C14A4DD1EEB9}"/>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6AEDF69A-A29E-A28C-4932-5C3311C377F3}"/>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1BFB1668-D5D2-D628-661B-E06625C328B1}"/>
              </a:ext>
            </a:extLst>
          </p:cNvPr>
          <p:cNvSpPr>
            <a:spLocks noGrp="1"/>
          </p:cNvSpPr>
          <p:nvPr>
            <p:ph type="sldNum" sz="quarter" idx="12"/>
          </p:nvPr>
        </p:nvSpPr>
        <p:spPr/>
        <p:txBody>
          <a:bodyPr/>
          <a:lstStyle/>
          <a:p>
            <a:fld id="{5B4F5413-E548-45A8-B9DD-11B71454D5CA}" type="slidenum">
              <a:rPr lang="en-US" smtClean="0"/>
              <a:pPr/>
              <a:t>18</a:t>
            </a:fld>
            <a:endParaRPr lang="en-US" dirty="0"/>
          </a:p>
        </p:txBody>
      </p:sp>
      <p:pic>
        <p:nvPicPr>
          <p:cNvPr id="9" name="Picture 8">
            <a:extLst>
              <a:ext uri="{FF2B5EF4-FFF2-40B4-BE49-F238E27FC236}">
                <a16:creationId xmlns:a16="http://schemas.microsoft.com/office/drawing/2014/main" id="{1A8025FB-F7EB-4B6E-242D-841DC5D67368}"/>
              </a:ext>
            </a:extLst>
          </p:cNvPr>
          <p:cNvPicPr>
            <a:picLocks noChangeAspect="1"/>
          </p:cNvPicPr>
          <p:nvPr/>
        </p:nvPicPr>
        <p:blipFill rotWithShape="1">
          <a:blip r:embed="rId2">
            <a:extLst>
              <a:ext uri="{28A0092B-C50C-407E-A947-70E740481C1C}">
                <a14:useLocalDpi xmlns:a14="http://schemas.microsoft.com/office/drawing/2010/main" val="0"/>
              </a:ext>
            </a:extLst>
          </a:blip>
          <a:srcRect l="26415" t="31311" r="42342" b="38463"/>
          <a:stretch/>
        </p:blipFill>
        <p:spPr>
          <a:xfrm>
            <a:off x="3110511" y="3068960"/>
            <a:ext cx="5649785" cy="3096344"/>
          </a:xfrm>
          <a:prstGeom prst="rect">
            <a:avLst/>
          </a:prstGeom>
        </p:spPr>
      </p:pic>
    </p:spTree>
    <p:extLst>
      <p:ext uri="{BB962C8B-B14F-4D97-AF65-F5344CB8AC3E}">
        <p14:creationId xmlns:p14="http://schemas.microsoft.com/office/powerpoint/2010/main" val="4205328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DA35-340A-0134-51E5-CDD7EE0F20A4}"/>
              </a:ext>
            </a:extLst>
          </p:cNvPr>
          <p:cNvSpPr>
            <a:spLocks noGrp="1"/>
          </p:cNvSpPr>
          <p:nvPr>
            <p:ph type="title"/>
          </p:nvPr>
        </p:nvSpPr>
        <p:spPr/>
        <p:txBody>
          <a:bodyPr>
            <a:normAutofit fontScale="90000"/>
          </a:bodyPr>
          <a:lstStyle/>
          <a:p>
            <a:pPr algn="ctr"/>
            <a:r>
              <a:rPr lang="en-IN"/>
              <a:t>IMPLEMENTATION</a:t>
            </a:r>
            <a:endParaRPr lang="en-IN" dirty="0"/>
          </a:p>
        </p:txBody>
      </p:sp>
      <p:sp>
        <p:nvSpPr>
          <p:cNvPr id="3" name="Content Placeholder 2">
            <a:extLst>
              <a:ext uri="{FF2B5EF4-FFF2-40B4-BE49-F238E27FC236}">
                <a16:creationId xmlns:a16="http://schemas.microsoft.com/office/drawing/2014/main" id="{A6E8D001-BB6A-2379-1C0B-0BBA709995D5}"/>
              </a:ext>
            </a:extLst>
          </p:cNvPr>
          <p:cNvSpPr>
            <a:spLocks noGrp="1"/>
          </p:cNvSpPr>
          <p:nvPr>
            <p:ph idx="1"/>
          </p:nvPr>
        </p:nvSpPr>
        <p:spPr/>
        <p:txBody>
          <a:bodyPr>
            <a:normAutofit/>
          </a:bodyPr>
          <a:lstStyle/>
          <a:p>
            <a:pPr marL="0" lvl="0" indent="0" algn="just">
              <a:lnSpc>
                <a:spcPct val="100000"/>
              </a:lnSpc>
              <a:buNone/>
            </a:pPr>
            <a:r>
              <a:rPr lang="en-IN" sz="1800" b="1">
                <a:latin typeface="Times New Roman" panose="02020603050405020304" pitchFamily="18" charset="0"/>
                <a:cs typeface="Times New Roman" panose="02020603050405020304" pitchFamily="18" charset="0"/>
              </a:rPr>
              <a:t>COMPONENTS</a:t>
            </a:r>
            <a:r>
              <a:rPr lang="en-IN" sz="2000" b="1">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Ø"/>
            </a:pPr>
            <a:r>
              <a:rPr lang="en-IN" sz="16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Li-Fi receiver - Solar Panel: </a:t>
            </a:r>
            <a:r>
              <a:rPr lang="en-US" sz="1600">
                <a:latin typeface="Times New Roman" panose="02020603050405020304" pitchFamily="18" charset="0"/>
                <a:cs typeface="Times New Roman" panose="02020603050405020304" pitchFamily="18" charset="0"/>
              </a:rPr>
              <a:t>In a Li-Fi based traffic management system for ambulances, a solar panel can function as a Li-Fi receiver for the traffic signal control node. As the Li-Fi transmitter in the ambulance emits modulated light signals, the solar panel receives these signals by detecting the variations in light intensity. This ability to detect and interpret light signals enables the solar panel to act as a receiver of data. The signals are then decrypted and processed by the microcontroller in the traffic signal control node to direct the traffic light accordingly. The use of a solar panel ensures a self-sufficient and sustainable power source for the traffic signal control node. This makes it an energy efficient and cost-effective option for a reliable means of data transmission. </a:t>
            </a:r>
            <a:endParaRPr lang="en-IN" sz="16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51593AA-6BB8-9266-305F-C14A4DD1EEB9}"/>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6AEDF69A-A29E-A28C-4932-5C3311C377F3}"/>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1BFB1668-D5D2-D628-661B-E06625C328B1}"/>
              </a:ext>
            </a:extLst>
          </p:cNvPr>
          <p:cNvSpPr>
            <a:spLocks noGrp="1"/>
          </p:cNvSpPr>
          <p:nvPr>
            <p:ph type="sldNum" sz="quarter" idx="12"/>
          </p:nvPr>
        </p:nvSpPr>
        <p:spPr/>
        <p:txBody>
          <a:bodyPr/>
          <a:lstStyle/>
          <a:p>
            <a:fld id="{5B4F5413-E548-45A8-B9DD-11B71454D5CA}" type="slidenum">
              <a:rPr lang="en-US" smtClean="0"/>
              <a:pPr/>
              <a:t>19</a:t>
            </a:fld>
            <a:endParaRPr lang="en-US" dirty="0"/>
          </a:p>
        </p:txBody>
      </p:sp>
      <p:pic>
        <p:nvPicPr>
          <p:cNvPr id="9" name="Picture 8">
            <a:extLst>
              <a:ext uri="{FF2B5EF4-FFF2-40B4-BE49-F238E27FC236}">
                <a16:creationId xmlns:a16="http://schemas.microsoft.com/office/drawing/2014/main" id="{1A8025FB-F7EB-4B6E-242D-841DC5D6736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4166061" y="3707819"/>
            <a:ext cx="3859877" cy="2454126"/>
          </a:xfrm>
          <a:prstGeom prst="rect">
            <a:avLst/>
          </a:prstGeom>
        </p:spPr>
      </p:pic>
    </p:spTree>
    <p:extLst>
      <p:ext uri="{BB962C8B-B14F-4D97-AF65-F5344CB8AC3E}">
        <p14:creationId xmlns:p14="http://schemas.microsoft.com/office/powerpoint/2010/main" val="2996166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DA35-340A-0134-51E5-CDD7EE0F20A4}"/>
              </a:ext>
            </a:extLst>
          </p:cNvPr>
          <p:cNvSpPr>
            <a:spLocks noGrp="1"/>
          </p:cNvSpPr>
          <p:nvPr>
            <p:ph type="title"/>
          </p:nvPr>
        </p:nvSpPr>
        <p:spPr>
          <a:xfrm>
            <a:off x="838200" y="333439"/>
            <a:ext cx="10515600" cy="694162"/>
          </a:xfrm>
        </p:spPr>
        <p:txBody>
          <a:bodyPr>
            <a:normAutofit fontScale="90000"/>
          </a:bodyPr>
          <a:lstStyle/>
          <a:p>
            <a:pPr algn="ctr"/>
            <a:r>
              <a:rPr lang="en-IN"/>
              <a:t>IMPLEMENTATION</a:t>
            </a:r>
            <a:endParaRPr lang="en-IN" dirty="0"/>
          </a:p>
        </p:txBody>
      </p:sp>
      <p:pic>
        <p:nvPicPr>
          <p:cNvPr id="8" name="Content Placeholder 7">
            <a:extLst>
              <a:ext uri="{FF2B5EF4-FFF2-40B4-BE49-F238E27FC236}">
                <a16:creationId xmlns:a16="http://schemas.microsoft.com/office/drawing/2014/main" id="{54E2464F-C5CD-5AE8-D09D-CD625B81E71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4252" t="24439" r="54828" b="29786"/>
          <a:stretch/>
        </p:blipFill>
        <p:spPr>
          <a:xfrm>
            <a:off x="1631504" y="1416433"/>
            <a:ext cx="3600400" cy="3960440"/>
          </a:xfrm>
        </p:spPr>
      </p:pic>
      <p:sp>
        <p:nvSpPr>
          <p:cNvPr id="4" name="Date Placeholder 3">
            <a:extLst>
              <a:ext uri="{FF2B5EF4-FFF2-40B4-BE49-F238E27FC236}">
                <a16:creationId xmlns:a16="http://schemas.microsoft.com/office/drawing/2014/main" id="{851593AA-6BB8-9266-305F-C14A4DD1EEB9}"/>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6AEDF69A-A29E-A28C-4932-5C3311C377F3}"/>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1BFB1668-D5D2-D628-661B-E06625C328B1}"/>
              </a:ext>
            </a:extLst>
          </p:cNvPr>
          <p:cNvSpPr>
            <a:spLocks noGrp="1"/>
          </p:cNvSpPr>
          <p:nvPr>
            <p:ph type="sldNum" sz="quarter" idx="12"/>
          </p:nvPr>
        </p:nvSpPr>
        <p:spPr/>
        <p:txBody>
          <a:bodyPr/>
          <a:lstStyle/>
          <a:p>
            <a:fld id="{5B4F5413-E548-45A8-B9DD-11B71454D5CA}" type="slidenum">
              <a:rPr lang="en-US" smtClean="0"/>
              <a:pPr/>
              <a:t>20</a:t>
            </a:fld>
            <a:endParaRPr lang="en-US" dirty="0"/>
          </a:p>
        </p:txBody>
      </p:sp>
      <p:pic>
        <p:nvPicPr>
          <p:cNvPr id="11" name="Picture 10">
            <a:extLst>
              <a:ext uri="{FF2B5EF4-FFF2-40B4-BE49-F238E27FC236}">
                <a16:creationId xmlns:a16="http://schemas.microsoft.com/office/drawing/2014/main" id="{B1F494CC-95C2-7A3A-3383-74CEF336058D}"/>
              </a:ext>
            </a:extLst>
          </p:cNvPr>
          <p:cNvPicPr>
            <a:picLocks noChangeAspect="1"/>
          </p:cNvPicPr>
          <p:nvPr/>
        </p:nvPicPr>
        <p:blipFill rotWithShape="1">
          <a:blip r:embed="rId3">
            <a:extLst>
              <a:ext uri="{28A0092B-C50C-407E-A947-70E740481C1C}">
                <a14:useLocalDpi xmlns:a14="http://schemas.microsoft.com/office/drawing/2010/main" val="0"/>
              </a:ext>
            </a:extLst>
          </a:blip>
          <a:srcRect l="29071" t="17698" r="44382" b="23310"/>
          <a:stretch/>
        </p:blipFill>
        <p:spPr>
          <a:xfrm>
            <a:off x="7104112" y="1448780"/>
            <a:ext cx="3168352" cy="3960440"/>
          </a:xfrm>
          <a:prstGeom prst="rect">
            <a:avLst/>
          </a:prstGeom>
        </p:spPr>
      </p:pic>
      <p:sp>
        <p:nvSpPr>
          <p:cNvPr id="12" name="TextBox 11">
            <a:extLst>
              <a:ext uri="{FF2B5EF4-FFF2-40B4-BE49-F238E27FC236}">
                <a16:creationId xmlns:a16="http://schemas.microsoft.com/office/drawing/2014/main" id="{0055EB41-57E8-B2F6-299D-7FB1A99D4EB4}"/>
              </a:ext>
            </a:extLst>
          </p:cNvPr>
          <p:cNvSpPr txBox="1"/>
          <p:nvPr/>
        </p:nvSpPr>
        <p:spPr>
          <a:xfrm flipH="1">
            <a:off x="7005815" y="5475720"/>
            <a:ext cx="3662185" cy="369332"/>
          </a:xfrm>
          <a:prstGeom prst="rect">
            <a:avLst/>
          </a:prstGeom>
          <a:noFill/>
        </p:spPr>
        <p:txBody>
          <a:bodyPr wrap="square" rtlCol="0">
            <a:spAutoFit/>
          </a:bodyPr>
          <a:lstStyle/>
          <a:p>
            <a:r>
              <a:rPr lang="en-IN"/>
              <a:t>Flow chart of ambulance module</a:t>
            </a:r>
          </a:p>
        </p:txBody>
      </p:sp>
      <p:sp>
        <p:nvSpPr>
          <p:cNvPr id="16" name="TextBox 15">
            <a:extLst>
              <a:ext uri="{FF2B5EF4-FFF2-40B4-BE49-F238E27FC236}">
                <a16:creationId xmlns:a16="http://schemas.microsoft.com/office/drawing/2014/main" id="{730E5F5B-9763-B85B-AA86-FFBE469F80C8}"/>
              </a:ext>
            </a:extLst>
          </p:cNvPr>
          <p:cNvSpPr txBox="1"/>
          <p:nvPr/>
        </p:nvSpPr>
        <p:spPr>
          <a:xfrm>
            <a:off x="1703512" y="5461067"/>
            <a:ext cx="6096000" cy="369332"/>
          </a:xfrm>
          <a:prstGeom prst="rect">
            <a:avLst/>
          </a:prstGeom>
          <a:noFill/>
        </p:spPr>
        <p:txBody>
          <a:bodyPr wrap="square">
            <a:spAutoFit/>
          </a:bodyPr>
          <a:lstStyle/>
          <a:p>
            <a:r>
              <a:rPr lang="en-IN"/>
              <a:t>Block diagram of ambulance module </a:t>
            </a:r>
          </a:p>
        </p:txBody>
      </p:sp>
    </p:spTree>
    <p:extLst>
      <p:ext uri="{BB962C8B-B14F-4D97-AF65-F5344CB8AC3E}">
        <p14:creationId xmlns:p14="http://schemas.microsoft.com/office/powerpoint/2010/main" val="2438230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DA35-340A-0134-51E5-CDD7EE0F20A4}"/>
              </a:ext>
            </a:extLst>
          </p:cNvPr>
          <p:cNvSpPr>
            <a:spLocks noGrp="1"/>
          </p:cNvSpPr>
          <p:nvPr>
            <p:ph type="title"/>
          </p:nvPr>
        </p:nvSpPr>
        <p:spPr/>
        <p:txBody>
          <a:bodyPr>
            <a:normAutofit fontScale="90000"/>
          </a:bodyPr>
          <a:lstStyle/>
          <a:p>
            <a:pPr algn="ctr"/>
            <a:r>
              <a:rPr lang="en-IN"/>
              <a:t>IMPLEMENTATION</a:t>
            </a:r>
            <a:endParaRPr lang="en-IN" dirty="0"/>
          </a:p>
        </p:txBody>
      </p:sp>
      <p:pic>
        <p:nvPicPr>
          <p:cNvPr id="8" name="Content Placeholder 7">
            <a:extLst>
              <a:ext uri="{FF2B5EF4-FFF2-40B4-BE49-F238E27FC236}">
                <a16:creationId xmlns:a16="http://schemas.microsoft.com/office/drawing/2014/main" id="{54E2464F-C5CD-5AE8-D09D-CD625B81E71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7500" t="14521" r="41818" b="12904"/>
          <a:stretch/>
        </p:blipFill>
        <p:spPr>
          <a:xfrm>
            <a:off x="6816080" y="1585239"/>
            <a:ext cx="3168352" cy="3787977"/>
          </a:xfrm>
        </p:spPr>
      </p:pic>
      <p:sp>
        <p:nvSpPr>
          <p:cNvPr id="4" name="Date Placeholder 3">
            <a:extLst>
              <a:ext uri="{FF2B5EF4-FFF2-40B4-BE49-F238E27FC236}">
                <a16:creationId xmlns:a16="http://schemas.microsoft.com/office/drawing/2014/main" id="{851593AA-6BB8-9266-305F-C14A4DD1EEB9}"/>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6AEDF69A-A29E-A28C-4932-5C3311C377F3}"/>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1BFB1668-D5D2-D628-661B-E06625C328B1}"/>
              </a:ext>
            </a:extLst>
          </p:cNvPr>
          <p:cNvSpPr>
            <a:spLocks noGrp="1"/>
          </p:cNvSpPr>
          <p:nvPr>
            <p:ph type="sldNum" sz="quarter" idx="12"/>
          </p:nvPr>
        </p:nvSpPr>
        <p:spPr/>
        <p:txBody>
          <a:bodyPr/>
          <a:lstStyle/>
          <a:p>
            <a:fld id="{5B4F5413-E548-45A8-B9DD-11B71454D5CA}" type="slidenum">
              <a:rPr lang="en-US" smtClean="0"/>
              <a:pPr/>
              <a:t>21</a:t>
            </a:fld>
            <a:endParaRPr lang="en-US" dirty="0"/>
          </a:p>
        </p:txBody>
      </p:sp>
      <p:pic>
        <p:nvPicPr>
          <p:cNvPr id="11" name="Picture 10">
            <a:extLst>
              <a:ext uri="{FF2B5EF4-FFF2-40B4-BE49-F238E27FC236}">
                <a16:creationId xmlns:a16="http://schemas.microsoft.com/office/drawing/2014/main" id="{B1F494CC-95C2-7A3A-3383-74CEF336058D}"/>
              </a:ext>
            </a:extLst>
          </p:cNvPr>
          <p:cNvPicPr>
            <a:picLocks noChangeAspect="1"/>
          </p:cNvPicPr>
          <p:nvPr/>
        </p:nvPicPr>
        <p:blipFill rotWithShape="1">
          <a:blip r:embed="rId3">
            <a:extLst>
              <a:ext uri="{28A0092B-C50C-407E-A947-70E740481C1C}">
                <a14:useLocalDpi xmlns:a14="http://schemas.microsoft.com/office/drawing/2010/main" val="0"/>
              </a:ext>
            </a:extLst>
          </a:blip>
          <a:srcRect l="48228" t="24520" r="26376" b="35301"/>
          <a:stretch/>
        </p:blipFill>
        <p:spPr>
          <a:xfrm>
            <a:off x="851448" y="1485728"/>
            <a:ext cx="4114800" cy="3661926"/>
          </a:xfrm>
          <a:prstGeom prst="rect">
            <a:avLst/>
          </a:prstGeom>
        </p:spPr>
      </p:pic>
      <p:sp>
        <p:nvSpPr>
          <p:cNvPr id="12" name="TextBox 11">
            <a:extLst>
              <a:ext uri="{FF2B5EF4-FFF2-40B4-BE49-F238E27FC236}">
                <a16:creationId xmlns:a16="http://schemas.microsoft.com/office/drawing/2014/main" id="{0055EB41-57E8-B2F6-299D-7FB1A99D4EB4}"/>
              </a:ext>
            </a:extLst>
          </p:cNvPr>
          <p:cNvSpPr txBox="1"/>
          <p:nvPr/>
        </p:nvSpPr>
        <p:spPr>
          <a:xfrm flipH="1">
            <a:off x="6779507" y="5482280"/>
            <a:ext cx="3662185" cy="369332"/>
          </a:xfrm>
          <a:prstGeom prst="rect">
            <a:avLst/>
          </a:prstGeom>
          <a:noFill/>
        </p:spPr>
        <p:txBody>
          <a:bodyPr wrap="square" rtlCol="0">
            <a:spAutoFit/>
          </a:bodyPr>
          <a:lstStyle/>
          <a:p>
            <a:r>
              <a:rPr lang="en-IN"/>
              <a:t>Flow chart of traffic light1 module</a:t>
            </a:r>
          </a:p>
        </p:txBody>
      </p:sp>
      <p:sp>
        <p:nvSpPr>
          <p:cNvPr id="16" name="TextBox 15">
            <a:extLst>
              <a:ext uri="{FF2B5EF4-FFF2-40B4-BE49-F238E27FC236}">
                <a16:creationId xmlns:a16="http://schemas.microsoft.com/office/drawing/2014/main" id="{730E5F5B-9763-B85B-AA86-FFBE469F80C8}"/>
              </a:ext>
            </a:extLst>
          </p:cNvPr>
          <p:cNvSpPr txBox="1"/>
          <p:nvPr/>
        </p:nvSpPr>
        <p:spPr>
          <a:xfrm>
            <a:off x="1127448" y="5482280"/>
            <a:ext cx="6096000" cy="369332"/>
          </a:xfrm>
          <a:prstGeom prst="rect">
            <a:avLst/>
          </a:prstGeom>
          <a:noFill/>
        </p:spPr>
        <p:txBody>
          <a:bodyPr wrap="square">
            <a:spAutoFit/>
          </a:bodyPr>
          <a:lstStyle/>
          <a:p>
            <a:r>
              <a:rPr lang="en-IN"/>
              <a:t>Block diagram of traffic light1 module </a:t>
            </a:r>
          </a:p>
        </p:txBody>
      </p:sp>
    </p:spTree>
    <p:extLst>
      <p:ext uri="{BB962C8B-B14F-4D97-AF65-F5344CB8AC3E}">
        <p14:creationId xmlns:p14="http://schemas.microsoft.com/office/powerpoint/2010/main" val="4154900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DA35-340A-0134-51E5-CDD7EE0F20A4}"/>
              </a:ext>
            </a:extLst>
          </p:cNvPr>
          <p:cNvSpPr>
            <a:spLocks noGrp="1"/>
          </p:cNvSpPr>
          <p:nvPr>
            <p:ph type="title"/>
          </p:nvPr>
        </p:nvSpPr>
        <p:spPr/>
        <p:txBody>
          <a:bodyPr>
            <a:normAutofit fontScale="90000"/>
          </a:bodyPr>
          <a:lstStyle/>
          <a:p>
            <a:pPr algn="ctr"/>
            <a:r>
              <a:rPr lang="en-IN"/>
              <a:t>IMPLEMENTATION</a:t>
            </a:r>
            <a:endParaRPr lang="en-IN" dirty="0"/>
          </a:p>
        </p:txBody>
      </p:sp>
      <p:sp>
        <p:nvSpPr>
          <p:cNvPr id="4" name="Date Placeholder 3">
            <a:extLst>
              <a:ext uri="{FF2B5EF4-FFF2-40B4-BE49-F238E27FC236}">
                <a16:creationId xmlns:a16="http://schemas.microsoft.com/office/drawing/2014/main" id="{851593AA-6BB8-9266-305F-C14A4DD1EEB9}"/>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6AEDF69A-A29E-A28C-4932-5C3311C377F3}"/>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1BFB1668-D5D2-D628-661B-E06625C328B1}"/>
              </a:ext>
            </a:extLst>
          </p:cNvPr>
          <p:cNvSpPr>
            <a:spLocks noGrp="1"/>
          </p:cNvSpPr>
          <p:nvPr>
            <p:ph type="sldNum" sz="quarter" idx="12"/>
          </p:nvPr>
        </p:nvSpPr>
        <p:spPr/>
        <p:txBody>
          <a:bodyPr/>
          <a:lstStyle/>
          <a:p>
            <a:fld id="{5B4F5413-E548-45A8-B9DD-11B71454D5CA}" type="slidenum">
              <a:rPr lang="en-US" smtClean="0"/>
              <a:pPr/>
              <a:t>22</a:t>
            </a:fld>
            <a:endParaRPr lang="en-US" dirty="0"/>
          </a:p>
        </p:txBody>
      </p:sp>
      <p:pic>
        <p:nvPicPr>
          <p:cNvPr id="14" name="Content Placeholder 13">
            <a:extLst>
              <a:ext uri="{FF2B5EF4-FFF2-40B4-BE49-F238E27FC236}">
                <a16:creationId xmlns:a16="http://schemas.microsoft.com/office/drawing/2014/main" id="{F3589394-D468-66F9-02FB-DC6FACFD427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1838" t="35587" r="33907" b="16178"/>
          <a:stretch/>
        </p:blipFill>
        <p:spPr>
          <a:xfrm>
            <a:off x="1055440" y="1541639"/>
            <a:ext cx="5401816" cy="4176464"/>
          </a:xfrm>
        </p:spPr>
      </p:pic>
      <p:pic>
        <p:nvPicPr>
          <p:cNvPr id="17" name="Picture 16">
            <a:extLst>
              <a:ext uri="{FF2B5EF4-FFF2-40B4-BE49-F238E27FC236}">
                <a16:creationId xmlns:a16="http://schemas.microsoft.com/office/drawing/2014/main" id="{CF72A946-D85D-CA28-158A-FDD4223B9F98}"/>
              </a:ext>
            </a:extLst>
          </p:cNvPr>
          <p:cNvPicPr>
            <a:picLocks noChangeAspect="1"/>
          </p:cNvPicPr>
          <p:nvPr/>
        </p:nvPicPr>
        <p:blipFill rotWithShape="1">
          <a:blip r:embed="rId3">
            <a:extLst>
              <a:ext uri="{28A0092B-C50C-407E-A947-70E740481C1C}">
                <a14:useLocalDpi xmlns:a14="http://schemas.microsoft.com/office/drawing/2010/main" val="0"/>
              </a:ext>
            </a:extLst>
          </a:blip>
          <a:srcRect l="23422" t="9051" r="32272" b="23750"/>
          <a:stretch/>
        </p:blipFill>
        <p:spPr>
          <a:xfrm>
            <a:off x="6457256" y="1124744"/>
            <a:ext cx="4680520" cy="4608512"/>
          </a:xfrm>
          <a:prstGeom prst="rect">
            <a:avLst/>
          </a:prstGeom>
        </p:spPr>
      </p:pic>
      <p:sp>
        <p:nvSpPr>
          <p:cNvPr id="19" name="TextBox 18">
            <a:extLst>
              <a:ext uri="{FF2B5EF4-FFF2-40B4-BE49-F238E27FC236}">
                <a16:creationId xmlns:a16="http://schemas.microsoft.com/office/drawing/2014/main" id="{A9506F52-F3CB-2AF2-0596-89C5C4C1DA19}"/>
              </a:ext>
            </a:extLst>
          </p:cNvPr>
          <p:cNvSpPr txBox="1"/>
          <p:nvPr/>
        </p:nvSpPr>
        <p:spPr>
          <a:xfrm>
            <a:off x="1055440" y="5733256"/>
            <a:ext cx="6096000" cy="369332"/>
          </a:xfrm>
          <a:prstGeom prst="rect">
            <a:avLst/>
          </a:prstGeom>
          <a:noFill/>
        </p:spPr>
        <p:txBody>
          <a:bodyPr wrap="square">
            <a:spAutoFit/>
          </a:bodyPr>
          <a:lstStyle/>
          <a:p>
            <a:r>
              <a:rPr lang="en-IN"/>
              <a:t>Block diagram of traffic light2 module </a:t>
            </a:r>
          </a:p>
        </p:txBody>
      </p:sp>
      <p:sp>
        <p:nvSpPr>
          <p:cNvPr id="21" name="TextBox 20">
            <a:extLst>
              <a:ext uri="{FF2B5EF4-FFF2-40B4-BE49-F238E27FC236}">
                <a16:creationId xmlns:a16="http://schemas.microsoft.com/office/drawing/2014/main" id="{202BC911-941D-A579-369F-494ED41574B6}"/>
              </a:ext>
            </a:extLst>
          </p:cNvPr>
          <p:cNvSpPr txBox="1"/>
          <p:nvPr/>
        </p:nvSpPr>
        <p:spPr>
          <a:xfrm>
            <a:off x="6457256" y="5752472"/>
            <a:ext cx="4535288" cy="369332"/>
          </a:xfrm>
          <a:prstGeom prst="rect">
            <a:avLst/>
          </a:prstGeom>
          <a:noFill/>
        </p:spPr>
        <p:txBody>
          <a:bodyPr wrap="square">
            <a:spAutoFit/>
          </a:bodyPr>
          <a:lstStyle/>
          <a:p>
            <a:pPr algn="ctr"/>
            <a:r>
              <a:rPr lang="en-IN"/>
              <a:t>Flow chart of traffic light2 module</a:t>
            </a:r>
          </a:p>
        </p:txBody>
      </p:sp>
    </p:spTree>
    <p:extLst>
      <p:ext uri="{BB962C8B-B14F-4D97-AF65-F5344CB8AC3E}">
        <p14:creationId xmlns:p14="http://schemas.microsoft.com/office/powerpoint/2010/main" val="3666238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4"/>
            <a:ext cx="10515600" cy="3649665"/>
          </a:xfrm>
        </p:spPr>
        <p:txBody>
          <a:bodyPr>
            <a:noAutofit/>
          </a:bodyPr>
          <a:lstStyle/>
          <a:p>
            <a:pPr algn="ctr"/>
            <a:r>
              <a:rPr lang="en-US" sz="3200" dirty="0">
                <a:solidFill>
                  <a:schemeClr val="accent1">
                    <a:lumMod val="75000"/>
                  </a:schemeClr>
                </a:solidFill>
                <a:latin typeface="Times New Roman" pitchFamily="18" charset="0"/>
                <a:cs typeface="Times New Roman" pitchFamily="18" charset="0"/>
              </a:rPr>
              <a:t>IMPLEMENTATION </a:t>
            </a: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4252FCF-B27B-4BF9-9A7D-79F85AD5ADBF}"/>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A7B1F4F0-081C-449C-9C3A-E0B44A6D0E5F}"/>
              </a:ext>
            </a:extLst>
          </p:cNvPr>
          <p:cNvSpPr>
            <a:spLocks noGrp="1"/>
          </p:cNvSpPr>
          <p:nvPr>
            <p:ph type="ftr" sz="quarter" idx="11"/>
          </p:nvPr>
        </p:nvSpPr>
        <p:spPr/>
        <p:txBody>
          <a:bodyPr/>
          <a:lstStyle/>
          <a:p>
            <a:r>
              <a:rPr lang="en-US" dirty="0"/>
              <a:t>2022 - 2023</a:t>
            </a:r>
          </a:p>
        </p:txBody>
      </p:sp>
      <p:sp>
        <p:nvSpPr>
          <p:cNvPr id="9" name="Content Placeholder 2">
            <a:extLst>
              <a:ext uri="{FF2B5EF4-FFF2-40B4-BE49-F238E27FC236}">
                <a16:creationId xmlns:a16="http://schemas.microsoft.com/office/drawing/2014/main" id="{B5F54E7E-0CB3-497B-98EB-74178BF12B55}"/>
              </a:ext>
            </a:extLst>
          </p:cNvPr>
          <p:cNvSpPr txBox="1">
            <a:spLocks/>
          </p:cNvSpPr>
          <p:nvPr/>
        </p:nvSpPr>
        <p:spPr>
          <a:xfrm>
            <a:off x="479376" y="992124"/>
            <a:ext cx="11233248" cy="517318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5600" indent="-355600">
              <a:lnSpc>
                <a:spcPct val="150000"/>
              </a:lnSpc>
              <a:buNone/>
            </a:pPr>
            <a:r>
              <a:rPr lang="en-US" b="1" dirty="0">
                <a:latin typeface="Times New Roman" pitchFamily="18" charset="0"/>
                <a:cs typeface="Times New Roman" pitchFamily="18" charset="0"/>
              </a:rPr>
              <a:t> </a:t>
            </a:r>
          </a:p>
          <a:p>
            <a:pPr marL="355600" indent="-355600">
              <a:lnSpc>
                <a:spcPct val="150000"/>
              </a:lnSpc>
              <a:buFont typeface="Wingdings" panose="05000000000000000000" pitchFamily="2" charset="2"/>
              <a:buChar char="v"/>
            </a:pPr>
            <a:endParaRPr lang="en-IN" sz="1800" b="1" dirty="0">
              <a:solidFill>
                <a:schemeClr val="tx1">
                  <a:lumMod val="75000"/>
                  <a:lumOff val="25000"/>
                </a:schemeClr>
              </a:solidFill>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8FF483D0-FC24-4C7F-A767-4599303441E0}"/>
              </a:ext>
            </a:extLst>
          </p:cNvPr>
          <p:cNvSpPr>
            <a:spLocks noGrp="1"/>
          </p:cNvSpPr>
          <p:nvPr>
            <p:ph type="sldNum" sz="quarter" idx="12"/>
          </p:nvPr>
        </p:nvSpPr>
        <p:spPr/>
        <p:txBody>
          <a:bodyPr/>
          <a:lstStyle/>
          <a:p>
            <a:fld id="{5B4F5413-E548-45A8-B9DD-11B71454D5CA}" type="slidenum">
              <a:rPr lang="en-US" smtClean="0"/>
              <a:pPr/>
              <a:t>23</a:t>
            </a:fld>
            <a:endParaRPr lang="en-US" dirty="0"/>
          </a:p>
        </p:txBody>
      </p:sp>
      <p:sp>
        <p:nvSpPr>
          <p:cNvPr id="10" name="TextBox 9"/>
          <p:cNvSpPr txBox="1"/>
          <p:nvPr/>
        </p:nvSpPr>
        <p:spPr>
          <a:xfrm>
            <a:off x="838200" y="5507230"/>
            <a:ext cx="4638910" cy="584775"/>
          </a:xfrm>
          <a:prstGeom prst="rect">
            <a:avLst/>
          </a:prstGeom>
          <a:noFill/>
        </p:spPr>
        <p:txBody>
          <a:bodyPr wrap="square" rtlCol="0">
            <a:spAutoFit/>
          </a:bodyPr>
          <a:lstStyle/>
          <a:p>
            <a:r>
              <a:rPr lang="en-US" sz="1600" b="1">
                <a:latin typeface="Times New Roman" pitchFamily="18" charset="0"/>
                <a:cs typeface="Times New Roman" pitchFamily="18" charset="0"/>
              </a:rPr>
              <a:t>Ambulance: sending north side direction signal</a:t>
            </a:r>
          </a:p>
          <a:p>
            <a:r>
              <a:rPr lang="en-US" sz="1600" b="1">
                <a:latin typeface="Times New Roman" pitchFamily="18" charset="0"/>
                <a:cs typeface="Times New Roman" pitchFamily="18" charset="0"/>
              </a:rPr>
              <a:t>Ambulance: receiving hospital1 response </a:t>
            </a:r>
            <a:endParaRPr lang="en-US" sz="1600" b="1" dirty="0">
              <a:latin typeface="Times New Roman" pitchFamily="18" charset="0"/>
              <a:cs typeface="Times New Roman" pitchFamily="18" charset="0"/>
            </a:endParaRPr>
          </a:p>
        </p:txBody>
      </p:sp>
      <p:sp>
        <p:nvSpPr>
          <p:cNvPr id="11" name="Rectangle 10"/>
          <p:cNvSpPr/>
          <p:nvPr/>
        </p:nvSpPr>
        <p:spPr>
          <a:xfrm>
            <a:off x="881026" y="714356"/>
            <a:ext cx="2500330" cy="400110"/>
          </a:xfrm>
          <a:prstGeom prst="rect">
            <a:avLst/>
          </a:prstGeom>
        </p:spPr>
        <p:txBody>
          <a:bodyPr wrap="square">
            <a:spAutoFit/>
          </a:bodyPr>
          <a:lstStyle/>
          <a:p>
            <a:r>
              <a:rPr lang="en-US" sz="2000" b="1" dirty="0" err="1">
                <a:latin typeface="Times New Roman" panose="02020603050405020304" pitchFamily="18" charset="0"/>
                <a:cs typeface="Times New Roman" panose="02020603050405020304" pitchFamily="18" charset="0"/>
              </a:rPr>
              <a:t>Pseudocode</a:t>
            </a:r>
            <a:endParaRPr lang="en-IN" sz="2000" b="1" dirty="0">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23527" t="14066" r="48605" b="35501"/>
          <a:stretch/>
        </p:blipFill>
        <p:spPr>
          <a:xfrm>
            <a:off x="6400225" y="1219200"/>
            <a:ext cx="4638910" cy="4210190"/>
          </a:xfrm>
          <a:prstGeom prst="rect">
            <a:avLst/>
          </a:prstGeom>
        </p:spPr>
      </p:pic>
      <p:sp>
        <p:nvSpPr>
          <p:cNvPr id="14" name="TextBox 13"/>
          <p:cNvSpPr txBox="1"/>
          <p:nvPr/>
        </p:nvSpPr>
        <p:spPr>
          <a:xfrm>
            <a:off x="6400225" y="5469523"/>
            <a:ext cx="4223054" cy="338554"/>
          </a:xfrm>
          <a:prstGeom prst="rect">
            <a:avLst/>
          </a:prstGeom>
          <a:noFill/>
        </p:spPr>
        <p:txBody>
          <a:bodyPr wrap="square" rtlCol="0">
            <a:spAutoFit/>
          </a:bodyPr>
          <a:lstStyle/>
          <a:p>
            <a:r>
              <a:rPr lang="en-US" sz="1600" b="1">
                <a:latin typeface="Times New Roman" pitchFamily="18" charset="0"/>
                <a:cs typeface="Times New Roman" pitchFamily="18" charset="0"/>
              </a:rPr>
              <a:t>Receiving Hospital Signal from Adafruit </a:t>
            </a:r>
            <a:endParaRPr lang="en-US" sz="1600" b="1"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1CCEA097-C789-F7C5-E48A-6E1AC775A2A9}"/>
              </a:ext>
            </a:extLst>
          </p:cNvPr>
          <p:cNvPicPr>
            <a:picLocks noChangeAspect="1"/>
          </p:cNvPicPr>
          <p:nvPr/>
        </p:nvPicPr>
        <p:blipFill rotWithShape="1">
          <a:blip r:embed="rId4">
            <a:extLst>
              <a:ext uri="{28A0092B-C50C-407E-A947-70E740481C1C}">
                <a14:useLocalDpi xmlns:a14="http://schemas.microsoft.com/office/drawing/2010/main" val="0"/>
              </a:ext>
            </a:extLst>
          </a:blip>
          <a:srcRect l="22877" t="14954" r="44449" b="35501"/>
          <a:stretch/>
        </p:blipFill>
        <p:spPr>
          <a:xfrm>
            <a:off x="881026" y="1219200"/>
            <a:ext cx="4910750" cy="4210190"/>
          </a:xfrm>
          <a:prstGeom prst="rect">
            <a:avLst/>
          </a:prstGeom>
        </p:spPr>
      </p:pic>
    </p:spTree>
    <p:extLst>
      <p:ext uri="{BB962C8B-B14F-4D97-AF65-F5344CB8AC3E}">
        <p14:creationId xmlns:p14="http://schemas.microsoft.com/office/powerpoint/2010/main" val="2274261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4"/>
            <a:ext cx="10515600" cy="3649665"/>
          </a:xfrm>
        </p:spPr>
        <p:txBody>
          <a:bodyPr>
            <a:noAutofit/>
          </a:bodyPr>
          <a:lstStyle/>
          <a:p>
            <a:pPr algn="ctr"/>
            <a:r>
              <a:rPr lang="en-US" sz="3200" dirty="0">
                <a:solidFill>
                  <a:schemeClr val="accent1">
                    <a:lumMod val="75000"/>
                  </a:schemeClr>
                </a:solidFill>
                <a:latin typeface="Times New Roman" pitchFamily="18" charset="0"/>
                <a:cs typeface="Times New Roman" pitchFamily="18" charset="0"/>
              </a:rPr>
              <a:t>IMPLEMENTATION </a:t>
            </a: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4252FCF-B27B-4BF9-9A7D-79F85AD5ADBF}"/>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A7B1F4F0-081C-449C-9C3A-E0B44A6D0E5F}"/>
              </a:ext>
            </a:extLst>
          </p:cNvPr>
          <p:cNvSpPr>
            <a:spLocks noGrp="1"/>
          </p:cNvSpPr>
          <p:nvPr>
            <p:ph type="ftr" sz="quarter" idx="11"/>
          </p:nvPr>
        </p:nvSpPr>
        <p:spPr/>
        <p:txBody>
          <a:bodyPr/>
          <a:lstStyle/>
          <a:p>
            <a:r>
              <a:rPr lang="en-US" dirty="0"/>
              <a:t>2022 - 2023</a:t>
            </a:r>
          </a:p>
        </p:txBody>
      </p:sp>
      <p:sp>
        <p:nvSpPr>
          <p:cNvPr id="9" name="Content Placeholder 2">
            <a:extLst>
              <a:ext uri="{FF2B5EF4-FFF2-40B4-BE49-F238E27FC236}">
                <a16:creationId xmlns:a16="http://schemas.microsoft.com/office/drawing/2014/main" id="{B5F54E7E-0CB3-497B-98EB-74178BF12B55}"/>
              </a:ext>
            </a:extLst>
          </p:cNvPr>
          <p:cNvSpPr txBox="1">
            <a:spLocks/>
          </p:cNvSpPr>
          <p:nvPr/>
        </p:nvSpPr>
        <p:spPr>
          <a:xfrm>
            <a:off x="479376" y="992124"/>
            <a:ext cx="11233248" cy="517318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5600" indent="-355600">
              <a:lnSpc>
                <a:spcPct val="150000"/>
              </a:lnSpc>
              <a:buNone/>
            </a:pPr>
            <a:r>
              <a:rPr lang="en-US" b="1" dirty="0">
                <a:latin typeface="Times New Roman" pitchFamily="18" charset="0"/>
                <a:cs typeface="Times New Roman" pitchFamily="18" charset="0"/>
              </a:rPr>
              <a:t> </a:t>
            </a:r>
          </a:p>
          <a:p>
            <a:pPr marL="355600" indent="-355600">
              <a:lnSpc>
                <a:spcPct val="150000"/>
              </a:lnSpc>
              <a:buFont typeface="Wingdings" panose="05000000000000000000" pitchFamily="2" charset="2"/>
              <a:buChar char="v"/>
            </a:pPr>
            <a:endParaRPr lang="en-IN" sz="1800" b="1" dirty="0">
              <a:solidFill>
                <a:schemeClr val="tx1">
                  <a:lumMod val="75000"/>
                  <a:lumOff val="25000"/>
                </a:schemeClr>
              </a:solidFill>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8FF483D0-FC24-4C7F-A767-4599303441E0}"/>
              </a:ext>
            </a:extLst>
          </p:cNvPr>
          <p:cNvSpPr>
            <a:spLocks noGrp="1"/>
          </p:cNvSpPr>
          <p:nvPr>
            <p:ph type="sldNum" sz="quarter" idx="12"/>
          </p:nvPr>
        </p:nvSpPr>
        <p:spPr/>
        <p:txBody>
          <a:bodyPr/>
          <a:lstStyle/>
          <a:p>
            <a:fld id="{5B4F5413-E548-45A8-B9DD-11B71454D5CA}" type="slidenum">
              <a:rPr lang="en-US" smtClean="0"/>
              <a:pPr/>
              <a:t>24</a:t>
            </a:fld>
            <a:endParaRPr lang="en-US" dirty="0"/>
          </a:p>
        </p:txBody>
      </p:sp>
      <p:sp>
        <p:nvSpPr>
          <p:cNvPr id="10" name="TextBox 9"/>
          <p:cNvSpPr txBox="1"/>
          <p:nvPr/>
        </p:nvSpPr>
        <p:spPr>
          <a:xfrm>
            <a:off x="1106623" y="5504960"/>
            <a:ext cx="4733962" cy="584775"/>
          </a:xfrm>
          <a:prstGeom prst="rect">
            <a:avLst/>
          </a:prstGeom>
          <a:noFill/>
        </p:spPr>
        <p:txBody>
          <a:bodyPr wrap="square" rtlCol="0">
            <a:spAutoFit/>
          </a:bodyPr>
          <a:lstStyle/>
          <a:p>
            <a:r>
              <a:rPr lang="en-US" sz="1600" b="1">
                <a:latin typeface="Times New Roman" pitchFamily="18" charset="0"/>
                <a:cs typeface="Times New Roman" pitchFamily="18" charset="0"/>
              </a:rPr>
              <a:t>Traffic1 receiving north side ambulance incoming signal </a:t>
            </a:r>
            <a:endParaRPr lang="en-US" sz="1600" b="1" dirty="0">
              <a:latin typeface="Times New Roman" pitchFamily="18" charset="0"/>
              <a:cs typeface="Times New Roman" pitchFamily="18" charset="0"/>
            </a:endParaRPr>
          </a:p>
        </p:txBody>
      </p:sp>
      <p:sp>
        <p:nvSpPr>
          <p:cNvPr id="11" name="Rectangle 10"/>
          <p:cNvSpPr/>
          <p:nvPr/>
        </p:nvSpPr>
        <p:spPr>
          <a:xfrm>
            <a:off x="881026" y="714356"/>
            <a:ext cx="2500330" cy="400110"/>
          </a:xfrm>
          <a:prstGeom prst="rect">
            <a:avLst/>
          </a:prstGeom>
        </p:spPr>
        <p:txBody>
          <a:bodyPr wrap="square">
            <a:spAutoFit/>
          </a:bodyPr>
          <a:lstStyle/>
          <a:p>
            <a:r>
              <a:rPr lang="en-US" sz="2000" b="1" dirty="0" err="1">
                <a:latin typeface="Times New Roman" panose="02020603050405020304" pitchFamily="18" charset="0"/>
                <a:cs typeface="Times New Roman" panose="02020603050405020304" pitchFamily="18" charset="0"/>
              </a:rPr>
              <a:t>Pseudocode</a:t>
            </a:r>
            <a:endParaRPr lang="en-IN" sz="2000" b="1" dirty="0">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22431" t="14156" r="41626" b="19367"/>
          <a:stretch/>
        </p:blipFill>
        <p:spPr>
          <a:xfrm>
            <a:off x="6384032" y="1214549"/>
            <a:ext cx="4824535" cy="4214842"/>
          </a:xfrm>
          <a:prstGeom prst="rect">
            <a:avLst/>
          </a:prstGeom>
        </p:spPr>
      </p:pic>
      <p:sp>
        <p:nvSpPr>
          <p:cNvPr id="14" name="TextBox 13"/>
          <p:cNvSpPr txBox="1"/>
          <p:nvPr/>
        </p:nvSpPr>
        <p:spPr>
          <a:xfrm>
            <a:off x="6537195" y="5537882"/>
            <a:ext cx="4478819" cy="338554"/>
          </a:xfrm>
          <a:prstGeom prst="rect">
            <a:avLst/>
          </a:prstGeom>
          <a:noFill/>
        </p:spPr>
        <p:txBody>
          <a:bodyPr wrap="square" rtlCol="0">
            <a:spAutoFit/>
          </a:bodyPr>
          <a:lstStyle/>
          <a:p>
            <a:pPr algn="ctr"/>
            <a:r>
              <a:rPr lang="en-US" sz="1600" b="1">
                <a:latin typeface="Times New Roman" pitchFamily="18" charset="0"/>
                <a:cs typeface="Times New Roman" pitchFamily="18" charset="0"/>
              </a:rPr>
              <a:t>Traffic 2 detecting rain</a:t>
            </a:r>
            <a:endParaRPr lang="en-US" sz="1600" b="1"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1CCEA097-C789-F7C5-E48A-6E1AC775A2A9}"/>
              </a:ext>
            </a:extLst>
          </p:cNvPr>
          <p:cNvPicPr>
            <a:picLocks noChangeAspect="1"/>
          </p:cNvPicPr>
          <p:nvPr/>
        </p:nvPicPr>
        <p:blipFill rotWithShape="1">
          <a:blip r:embed="rId4">
            <a:extLst>
              <a:ext uri="{28A0092B-C50C-407E-A947-70E740481C1C}">
                <a14:useLocalDpi xmlns:a14="http://schemas.microsoft.com/office/drawing/2010/main" val="0"/>
              </a:ext>
            </a:extLst>
          </a:blip>
          <a:srcRect l="22576" t="14060" r="46145" b="28912"/>
          <a:stretch/>
        </p:blipFill>
        <p:spPr>
          <a:xfrm>
            <a:off x="1152865" y="1214549"/>
            <a:ext cx="4733962" cy="4214842"/>
          </a:xfrm>
          <a:prstGeom prst="rect">
            <a:avLst/>
          </a:prstGeom>
        </p:spPr>
      </p:pic>
    </p:spTree>
    <p:extLst>
      <p:ext uri="{BB962C8B-B14F-4D97-AF65-F5344CB8AC3E}">
        <p14:creationId xmlns:p14="http://schemas.microsoft.com/office/powerpoint/2010/main" val="2692382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94162"/>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Testing</a:t>
            </a: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4252FCF-B27B-4BF9-9A7D-79F85AD5ADBF}"/>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A7B1F4F0-081C-449C-9C3A-E0B44A6D0E5F}"/>
              </a:ext>
            </a:extLst>
          </p:cNvPr>
          <p:cNvSpPr>
            <a:spLocks noGrp="1"/>
          </p:cNvSpPr>
          <p:nvPr>
            <p:ph type="ftr" sz="quarter" idx="11"/>
          </p:nvPr>
        </p:nvSpPr>
        <p:spPr/>
        <p:txBody>
          <a:bodyPr/>
          <a:lstStyle/>
          <a:p>
            <a:r>
              <a:rPr lang="en-US" dirty="0"/>
              <a:t>2022 - 2023</a:t>
            </a:r>
          </a:p>
        </p:txBody>
      </p:sp>
      <p:sp>
        <p:nvSpPr>
          <p:cNvPr id="9" name="Content Placeholder 2">
            <a:extLst>
              <a:ext uri="{FF2B5EF4-FFF2-40B4-BE49-F238E27FC236}">
                <a16:creationId xmlns:a16="http://schemas.microsoft.com/office/drawing/2014/main" id="{B5F54E7E-0CB3-497B-98EB-74178BF12B55}"/>
              </a:ext>
            </a:extLst>
          </p:cNvPr>
          <p:cNvSpPr txBox="1">
            <a:spLocks/>
          </p:cNvSpPr>
          <p:nvPr/>
        </p:nvSpPr>
        <p:spPr>
          <a:xfrm>
            <a:off x="479376" y="992124"/>
            <a:ext cx="11233248" cy="517318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endParaRPr lang="en-US" b="1" dirty="0">
              <a:latin typeface="Times New Roman" pitchFamily="18" charset="0"/>
              <a:cs typeface="Times New Roman" pitchFamily="18" charset="0"/>
            </a:endParaRPr>
          </a:p>
          <a:p>
            <a:pPr>
              <a:lnSpc>
                <a:spcPct val="150000"/>
              </a:lnSpc>
            </a:pPr>
            <a:endParaRPr lang="en-US" b="1" dirty="0">
              <a:latin typeface="Times New Roman" pitchFamily="18" charset="0"/>
              <a:cs typeface="Times New Roman" pitchFamily="18" charset="0"/>
            </a:endParaRPr>
          </a:p>
          <a:p>
            <a:pPr marL="355600" indent="-355600">
              <a:lnSpc>
                <a:spcPct val="150000"/>
              </a:lnSpc>
              <a:buFont typeface="Wingdings" panose="05000000000000000000" pitchFamily="2" charset="2"/>
              <a:buChar char="v"/>
            </a:pPr>
            <a:endParaRPr lang="en-IN" sz="1800" b="1" dirty="0">
              <a:solidFill>
                <a:schemeClr val="tx1">
                  <a:lumMod val="75000"/>
                  <a:lumOff val="25000"/>
                </a:schemeClr>
              </a:solidFill>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8FF483D0-FC24-4C7F-A767-4599303441E0}"/>
              </a:ext>
            </a:extLst>
          </p:cNvPr>
          <p:cNvSpPr>
            <a:spLocks noGrp="1"/>
          </p:cNvSpPr>
          <p:nvPr>
            <p:ph type="sldNum" sz="quarter" idx="12"/>
          </p:nvPr>
        </p:nvSpPr>
        <p:spPr/>
        <p:txBody>
          <a:bodyPr/>
          <a:lstStyle/>
          <a:p>
            <a:fld id="{5B4F5413-E548-45A8-B9DD-11B71454D5CA}" type="slidenum">
              <a:rPr lang="en-US" smtClean="0"/>
              <a:pPr/>
              <a:t>25</a:t>
            </a:fld>
            <a:endParaRPr lang="en-US" dirty="0"/>
          </a:p>
        </p:txBody>
      </p:sp>
      <p:graphicFrame>
        <p:nvGraphicFramePr>
          <p:cNvPr id="4" name="Table 6">
            <a:extLst>
              <a:ext uri="{FF2B5EF4-FFF2-40B4-BE49-F238E27FC236}">
                <a16:creationId xmlns:a16="http://schemas.microsoft.com/office/drawing/2014/main" id="{A6820B66-0798-26ED-7458-AEE382A2BF31}"/>
              </a:ext>
            </a:extLst>
          </p:cNvPr>
          <p:cNvGraphicFramePr>
            <a:graphicFrameLocks noGrp="1"/>
          </p:cNvGraphicFramePr>
          <p:nvPr>
            <p:extLst>
              <p:ext uri="{D42A27DB-BD31-4B8C-83A1-F6EECF244321}">
                <p14:modId xmlns:p14="http://schemas.microsoft.com/office/powerpoint/2010/main" val="1387116715"/>
              </p:ext>
            </p:extLst>
          </p:nvPr>
        </p:nvGraphicFramePr>
        <p:xfrm>
          <a:off x="656964" y="830686"/>
          <a:ext cx="11055660" cy="5107729"/>
        </p:xfrm>
        <a:graphic>
          <a:graphicData uri="http://schemas.openxmlformats.org/drawingml/2006/table">
            <a:tbl>
              <a:tblPr firstRow="1" bandRow="1">
                <a:tableStyleId>{5C22544A-7EE6-4342-B048-85BDC9FD1C3A}</a:tableStyleId>
              </a:tblPr>
              <a:tblGrid>
                <a:gridCol w="744885">
                  <a:extLst>
                    <a:ext uri="{9D8B030D-6E8A-4147-A177-3AD203B41FA5}">
                      <a16:colId xmlns:a16="http://schemas.microsoft.com/office/drawing/2014/main" val="1839108493"/>
                    </a:ext>
                  </a:extLst>
                </a:gridCol>
                <a:gridCol w="2893951">
                  <a:extLst>
                    <a:ext uri="{9D8B030D-6E8A-4147-A177-3AD203B41FA5}">
                      <a16:colId xmlns:a16="http://schemas.microsoft.com/office/drawing/2014/main" val="1970195856"/>
                    </a:ext>
                  </a:extLst>
                </a:gridCol>
                <a:gridCol w="2520280">
                  <a:extLst>
                    <a:ext uri="{9D8B030D-6E8A-4147-A177-3AD203B41FA5}">
                      <a16:colId xmlns:a16="http://schemas.microsoft.com/office/drawing/2014/main" val="524740365"/>
                    </a:ext>
                  </a:extLst>
                </a:gridCol>
                <a:gridCol w="1996737">
                  <a:extLst>
                    <a:ext uri="{9D8B030D-6E8A-4147-A177-3AD203B41FA5}">
                      <a16:colId xmlns:a16="http://schemas.microsoft.com/office/drawing/2014/main" val="2460292454"/>
                    </a:ext>
                  </a:extLst>
                </a:gridCol>
                <a:gridCol w="2035711">
                  <a:extLst>
                    <a:ext uri="{9D8B030D-6E8A-4147-A177-3AD203B41FA5}">
                      <a16:colId xmlns:a16="http://schemas.microsoft.com/office/drawing/2014/main" val="3569019269"/>
                    </a:ext>
                  </a:extLst>
                </a:gridCol>
                <a:gridCol w="864096">
                  <a:extLst>
                    <a:ext uri="{9D8B030D-6E8A-4147-A177-3AD203B41FA5}">
                      <a16:colId xmlns:a16="http://schemas.microsoft.com/office/drawing/2014/main" val="615033120"/>
                    </a:ext>
                  </a:extLst>
                </a:gridCol>
              </a:tblGrid>
              <a:tr h="922893">
                <a:tc>
                  <a:txBody>
                    <a:bodyPr/>
                    <a:lstStyle/>
                    <a:p>
                      <a:r>
                        <a:rPr lang="en-IN" sz="1600" b="1" dirty="0"/>
                        <a:t>Test Case No. </a:t>
                      </a:r>
                    </a:p>
                  </a:txBody>
                  <a:tcPr/>
                </a:tc>
                <a:tc>
                  <a:txBody>
                    <a:bodyPr/>
                    <a:lstStyle/>
                    <a:p>
                      <a:r>
                        <a:rPr lang="en-IN" sz="1600" dirty="0"/>
                        <a:t>Description</a:t>
                      </a:r>
                    </a:p>
                  </a:txBody>
                  <a:tcPr/>
                </a:tc>
                <a:tc>
                  <a:txBody>
                    <a:bodyPr/>
                    <a:lstStyle/>
                    <a:p>
                      <a:r>
                        <a:rPr lang="en-IN" sz="1600" dirty="0"/>
                        <a:t>Test Steps</a:t>
                      </a:r>
                    </a:p>
                  </a:txBody>
                  <a:tcPr/>
                </a:tc>
                <a:tc>
                  <a:txBody>
                    <a:bodyPr/>
                    <a:lstStyle/>
                    <a:p>
                      <a:r>
                        <a:rPr lang="en-IN" sz="1600" dirty="0"/>
                        <a:t>Expected Results</a:t>
                      </a:r>
                    </a:p>
                  </a:txBody>
                  <a:tcPr/>
                </a:tc>
                <a:tc>
                  <a:txBody>
                    <a:bodyPr/>
                    <a:lstStyle/>
                    <a:p>
                      <a:r>
                        <a:rPr lang="en-IN" sz="1600" dirty="0"/>
                        <a:t>Actual Results</a:t>
                      </a:r>
                    </a:p>
                  </a:txBody>
                  <a:tcPr/>
                </a:tc>
                <a:tc>
                  <a:txBody>
                    <a:bodyPr/>
                    <a:lstStyle/>
                    <a:p>
                      <a:r>
                        <a:rPr lang="en-IN" sz="1600" dirty="0"/>
                        <a:t>Pass / Fail</a:t>
                      </a:r>
                    </a:p>
                  </a:txBody>
                  <a:tcPr/>
                </a:tc>
                <a:extLst>
                  <a:ext uri="{0D108BD9-81ED-4DB2-BD59-A6C34878D82A}">
                    <a16:rowId xmlns:a16="http://schemas.microsoft.com/office/drawing/2014/main" val="194792347"/>
                  </a:ext>
                </a:extLst>
              </a:tr>
              <a:tr h="1469792">
                <a:tc>
                  <a:txBody>
                    <a:bodyPr/>
                    <a:lstStyle/>
                    <a:p>
                      <a:pPr algn="ctr"/>
                      <a:r>
                        <a:rPr lang="en-IN" sz="1600" dirty="0"/>
                        <a:t>1.</a:t>
                      </a:r>
                    </a:p>
                  </a:txBody>
                  <a:tcPr/>
                </a:tc>
                <a:tc>
                  <a:txBody>
                    <a:bodyPr/>
                    <a:lstStyle/>
                    <a:p>
                      <a:r>
                        <a:rPr lang="en-IN" sz="1600" dirty="0"/>
                        <a:t>Checking </a:t>
                      </a:r>
                      <a:r>
                        <a:rPr lang="en-IN" sz="1600"/>
                        <a:t>the transmission of direction signal from ambulance to traffic light.</a:t>
                      </a:r>
                      <a:endParaRPr lang="en-IN" sz="1600" dirty="0"/>
                    </a:p>
                  </a:txBody>
                  <a:tcPr/>
                </a:tc>
                <a:tc>
                  <a:txBody>
                    <a:bodyPr/>
                    <a:lstStyle/>
                    <a:p>
                      <a:r>
                        <a:rPr lang="en-IN" sz="1600"/>
                        <a:t>Send the direction signal using switches on ambulance module.</a:t>
                      </a:r>
                      <a:endParaRPr lang="en-IN" sz="1600" dirty="0"/>
                    </a:p>
                  </a:txBody>
                  <a:tcPr/>
                </a:tc>
                <a:tc>
                  <a:txBody>
                    <a:bodyPr/>
                    <a:lstStyle/>
                    <a:p>
                      <a:r>
                        <a:rPr lang="en-IN" sz="1600"/>
                        <a:t>Traffic light receives the direction signal from the ambulance.</a:t>
                      </a:r>
                      <a:endParaRPr lang="en-IN" sz="1600" dirty="0"/>
                    </a:p>
                  </a:txBody>
                  <a:tcPr/>
                </a:tc>
                <a:tc>
                  <a:txBody>
                    <a:bodyPr/>
                    <a:lstStyle/>
                    <a:p>
                      <a:r>
                        <a:rPr lang="en-IN" sz="1600"/>
                        <a:t>The direction signal was received by the traffic light.</a:t>
                      </a:r>
                      <a:endParaRPr lang="en-IN" sz="1600" dirty="0"/>
                    </a:p>
                  </a:txBody>
                  <a:tcPr/>
                </a:tc>
                <a:tc>
                  <a:txBody>
                    <a:bodyPr/>
                    <a:lstStyle/>
                    <a:p>
                      <a:r>
                        <a:rPr lang="en-IN" sz="1600" dirty="0"/>
                        <a:t>Pass</a:t>
                      </a:r>
                    </a:p>
                  </a:txBody>
                  <a:tcPr/>
                </a:tc>
                <a:extLst>
                  <a:ext uri="{0D108BD9-81ED-4DB2-BD59-A6C34878D82A}">
                    <a16:rowId xmlns:a16="http://schemas.microsoft.com/office/drawing/2014/main" val="3903977429"/>
                  </a:ext>
                </a:extLst>
              </a:tr>
              <a:tr h="1005657">
                <a:tc>
                  <a:txBody>
                    <a:bodyPr/>
                    <a:lstStyle/>
                    <a:p>
                      <a:pPr algn="ctr"/>
                      <a:r>
                        <a:rPr lang="en-IN" sz="1600" dirty="0"/>
                        <a:t>2.</a:t>
                      </a:r>
                    </a:p>
                  </a:txBody>
                  <a:tcPr/>
                </a:tc>
                <a:tc>
                  <a:txBody>
                    <a:bodyPr/>
                    <a:lstStyle/>
                    <a:p>
                      <a:r>
                        <a:rPr lang="en-IN" sz="1600"/>
                        <a:t>Checking the transmission of hospital availability signal from server to ambulance.</a:t>
                      </a:r>
                      <a:endParaRPr lang="en-IN" sz="1600" dirty="0"/>
                    </a:p>
                  </a:txBody>
                  <a:tcPr/>
                </a:tc>
                <a:tc>
                  <a:txBody>
                    <a:bodyPr/>
                    <a:lstStyle/>
                    <a:p>
                      <a:r>
                        <a:rPr lang="en-IN" sz="1600"/>
                        <a:t>Send the hospital availability signal from server.</a:t>
                      </a:r>
                      <a:endParaRPr lang="en-IN" sz="1600" dirty="0"/>
                    </a:p>
                  </a:txBody>
                  <a:tcPr/>
                </a:tc>
                <a:tc>
                  <a:txBody>
                    <a:bodyPr/>
                    <a:lstStyle/>
                    <a:p>
                      <a:r>
                        <a:rPr lang="en-IN" sz="1600" dirty="0"/>
                        <a:t>Message received </a:t>
                      </a:r>
                      <a:r>
                        <a:rPr lang="en-IN" sz="1600"/>
                        <a:t>by the ambulance.</a:t>
                      </a:r>
                      <a:endParaRPr lang="en-IN" sz="1600" dirty="0"/>
                    </a:p>
                  </a:txBody>
                  <a:tcPr/>
                </a:tc>
                <a:tc>
                  <a:txBody>
                    <a:bodyPr/>
                    <a:lstStyle/>
                    <a:p>
                      <a:r>
                        <a:rPr lang="en-IN" sz="1600"/>
                        <a:t>Ambulance receives the hospital availability signal from server.</a:t>
                      </a:r>
                      <a:endParaRPr lang="en-IN" sz="1600" dirty="0"/>
                    </a:p>
                  </a:txBody>
                  <a:tcPr/>
                </a:tc>
                <a:tc>
                  <a:txBody>
                    <a:bodyPr/>
                    <a:lstStyle/>
                    <a:p>
                      <a:r>
                        <a:rPr lang="en-IN" sz="1600" dirty="0"/>
                        <a:t>Pass</a:t>
                      </a:r>
                    </a:p>
                  </a:txBody>
                  <a:tcPr/>
                </a:tc>
                <a:extLst>
                  <a:ext uri="{0D108BD9-81ED-4DB2-BD59-A6C34878D82A}">
                    <a16:rowId xmlns:a16="http://schemas.microsoft.com/office/drawing/2014/main" val="619483697"/>
                  </a:ext>
                </a:extLst>
              </a:tr>
              <a:tr h="807520">
                <a:tc>
                  <a:txBody>
                    <a:bodyPr/>
                    <a:lstStyle/>
                    <a:p>
                      <a:pPr algn="ctr"/>
                      <a:r>
                        <a:rPr lang="en-IN" sz="1600" dirty="0"/>
                        <a:t>3.</a:t>
                      </a:r>
                    </a:p>
                  </a:txBody>
                  <a:tcPr/>
                </a:tc>
                <a:tc>
                  <a:txBody>
                    <a:bodyPr/>
                    <a:lstStyle/>
                    <a:p>
                      <a:r>
                        <a:rPr lang="en-IN" sz="1600"/>
                        <a:t>Checking the working of rain sensor.</a:t>
                      </a:r>
                      <a:endParaRPr lang="en-IN" sz="1600" dirty="0"/>
                    </a:p>
                  </a:txBody>
                  <a:tcPr/>
                </a:tc>
                <a:tc>
                  <a:txBody>
                    <a:bodyPr/>
                    <a:lstStyle/>
                    <a:p>
                      <a:r>
                        <a:rPr lang="en-IN" sz="1600"/>
                        <a:t>Dip the rain sensor in cup of water.</a:t>
                      </a:r>
                      <a:endParaRPr lang="en-IN" sz="1600" dirty="0"/>
                    </a:p>
                  </a:txBody>
                  <a:tcPr/>
                </a:tc>
                <a:tc>
                  <a:txBody>
                    <a:bodyPr/>
                    <a:lstStyle/>
                    <a:p>
                      <a:r>
                        <a:rPr lang="en-IN" sz="1600"/>
                        <a:t>Traffic light displays the rain indication.</a:t>
                      </a:r>
                      <a:endParaRPr lang="en-IN" sz="1600" dirty="0"/>
                    </a:p>
                  </a:txBody>
                  <a:tcPr/>
                </a:tc>
                <a:tc>
                  <a:txBody>
                    <a:bodyPr/>
                    <a:lstStyle/>
                    <a:p>
                      <a:r>
                        <a:rPr lang="en-IN" sz="1600"/>
                        <a:t>Traffic light displays the rain indication.</a:t>
                      </a:r>
                      <a:endParaRPr lang="en-IN" sz="1600" dirty="0"/>
                    </a:p>
                  </a:txBody>
                  <a:tcPr/>
                </a:tc>
                <a:tc>
                  <a:txBody>
                    <a:bodyPr/>
                    <a:lstStyle/>
                    <a:p>
                      <a:r>
                        <a:rPr lang="en-IN" sz="1600" dirty="0"/>
                        <a:t>Pass</a:t>
                      </a:r>
                    </a:p>
                  </a:txBody>
                  <a:tcPr/>
                </a:tc>
                <a:extLst>
                  <a:ext uri="{0D108BD9-81ED-4DB2-BD59-A6C34878D82A}">
                    <a16:rowId xmlns:a16="http://schemas.microsoft.com/office/drawing/2014/main" val="3219202583"/>
                  </a:ext>
                </a:extLst>
              </a:tr>
              <a:tr h="840724">
                <a:tc>
                  <a:txBody>
                    <a:bodyPr/>
                    <a:lstStyle/>
                    <a:p>
                      <a:pPr algn="ctr"/>
                      <a:r>
                        <a:rPr lang="en-IN" sz="1600" dirty="0"/>
                        <a:t>4.</a:t>
                      </a:r>
                    </a:p>
                  </a:txBody>
                  <a:tcPr/>
                </a:tc>
                <a:tc>
                  <a:txBody>
                    <a:bodyPr/>
                    <a:lstStyle/>
                    <a:p>
                      <a:r>
                        <a:rPr lang="en-IN" sz="1600"/>
                        <a:t>Checking the working of blockage sensor.</a:t>
                      </a:r>
                      <a:endParaRPr lang="en-IN" sz="1600" dirty="0"/>
                    </a:p>
                  </a:txBody>
                  <a:tcPr/>
                </a:tc>
                <a:tc>
                  <a:txBody>
                    <a:bodyPr/>
                    <a:lstStyle/>
                    <a:p>
                      <a:r>
                        <a:rPr lang="en-IN" sz="1600"/>
                        <a:t>Place an object infront of the blockage sensor.</a:t>
                      </a:r>
                      <a:endParaRPr lang="en-IN" sz="1600" dirty="0"/>
                    </a:p>
                  </a:txBody>
                  <a:tcPr/>
                </a:tc>
                <a:tc>
                  <a:txBody>
                    <a:bodyPr/>
                    <a:lstStyle/>
                    <a:p>
                      <a:r>
                        <a:rPr lang="en-IN" sz="1600"/>
                        <a:t>Traffic light displays the blockage indication.</a:t>
                      </a:r>
                      <a:endParaRPr lang="en-IN" sz="1600" dirty="0"/>
                    </a:p>
                  </a:txBody>
                  <a:tcPr/>
                </a:tc>
                <a:tc>
                  <a:txBody>
                    <a:bodyPr/>
                    <a:lstStyle/>
                    <a:p>
                      <a:r>
                        <a:rPr lang="en-IN" sz="1600"/>
                        <a:t>Traffic light displays the blockage indication.</a:t>
                      </a:r>
                      <a:endParaRPr lang="en-IN" sz="1600" dirty="0"/>
                    </a:p>
                  </a:txBody>
                  <a:tcPr/>
                </a:tc>
                <a:tc>
                  <a:txBody>
                    <a:bodyPr/>
                    <a:lstStyle/>
                    <a:p>
                      <a:r>
                        <a:rPr lang="en-IN" sz="1600" dirty="0"/>
                        <a:t>Pass</a:t>
                      </a:r>
                    </a:p>
                  </a:txBody>
                  <a:tcPr/>
                </a:tc>
                <a:extLst>
                  <a:ext uri="{0D108BD9-81ED-4DB2-BD59-A6C34878D82A}">
                    <a16:rowId xmlns:a16="http://schemas.microsoft.com/office/drawing/2014/main" val="1723939440"/>
                  </a:ext>
                </a:extLst>
              </a:tr>
            </a:tbl>
          </a:graphicData>
        </a:graphic>
      </p:graphicFrame>
    </p:spTree>
    <p:extLst>
      <p:ext uri="{BB962C8B-B14F-4D97-AF65-F5344CB8AC3E}">
        <p14:creationId xmlns:p14="http://schemas.microsoft.com/office/powerpoint/2010/main" val="3350339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94162"/>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Results and Discussions</a:t>
            </a: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4252FCF-B27B-4BF9-9A7D-79F85AD5ADBF}"/>
              </a:ext>
            </a:extLst>
          </p:cNvPr>
          <p:cNvSpPr>
            <a:spLocks noGrp="1"/>
          </p:cNvSpPr>
          <p:nvPr>
            <p:ph type="dt" sz="half" idx="10"/>
          </p:nvPr>
        </p:nvSpPr>
        <p:spPr/>
        <p:txBody>
          <a:bodyPr/>
          <a:lstStyle/>
          <a:p>
            <a:r>
              <a:rPr lang="en-US"/>
              <a:t>VIII Semester, Department of ISE, RNSIT</a:t>
            </a:r>
            <a:endParaRPr lang="en-US" dirty="0"/>
          </a:p>
        </p:txBody>
      </p:sp>
      <p:sp>
        <p:nvSpPr>
          <p:cNvPr id="5" name="Footer Placeholder 4">
            <a:extLst>
              <a:ext uri="{FF2B5EF4-FFF2-40B4-BE49-F238E27FC236}">
                <a16:creationId xmlns:a16="http://schemas.microsoft.com/office/drawing/2014/main" id="{A7B1F4F0-081C-449C-9C3A-E0B44A6D0E5F}"/>
              </a:ext>
            </a:extLst>
          </p:cNvPr>
          <p:cNvSpPr>
            <a:spLocks noGrp="1"/>
          </p:cNvSpPr>
          <p:nvPr>
            <p:ph type="ftr" sz="quarter" idx="11"/>
          </p:nvPr>
        </p:nvSpPr>
        <p:spPr/>
        <p:txBody>
          <a:bodyPr/>
          <a:lstStyle/>
          <a:p>
            <a:r>
              <a:rPr lang="en-US" dirty="0"/>
              <a:t>2022 - 2023</a:t>
            </a:r>
          </a:p>
        </p:txBody>
      </p:sp>
      <p:sp>
        <p:nvSpPr>
          <p:cNvPr id="9" name="Content Placeholder 2">
            <a:extLst>
              <a:ext uri="{FF2B5EF4-FFF2-40B4-BE49-F238E27FC236}">
                <a16:creationId xmlns:a16="http://schemas.microsoft.com/office/drawing/2014/main" id="{B5F54E7E-0CB3-497B-98EB-74178BF12B55}"/>
              </a:ext>
            </a:extLst>
          </p:cNvPr>
          <p:cNvSpPr txBox="1">
            <a:spLocks/>
          </p:cNvSpPr>
          <p:nvPr/>
        </p:nvSpPr>
        <p:spPr>
          <a:xfrm>
            <a:off x="479376" y="992124"/>
            <a:ext cx="11233248" cy="517318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endParaRPr lang="en-IN" sz="1800" b="1" dirty="0">
              <a:solidFill>
                <a:schemeClr val="tx1">
                  <a:lumMod val="75000"/>
                  <a:lumOff val="25000"/>
                </a:schemeClr>
              </a:solidFill>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8FF483D0-FC24-4C7F-A767-4599303441E0}"/>
              </a:ext>
            </a:extLst>
          </p:cNvPr>
          <p:cNvSpPr>
            <a:spLocks noGrp="1"/>
          </p:cNvSpPr>
          <p:nvPr>
            <p:ph type="sldNum" sz="quarter" idx="12"/>
          </p:nvPr>
        </p:nvSpPr>
        <p:spPr/>
        <p:txBody>
          <a:bodyPr/>
          <a:lstStyle/>
          <a:p>
            <a:fld id="{5B4F5413-E548-45A8-B9DD-11B71454D5CA}" type="slidenum">
              <a:rPr lang="en-US" smtClean="0"/>
              <a:pPr/>
              <a:t>26</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p:blipFill>
        <p:spPr>
          <a:xfrm>
            <a:off x="1127448" y="1021732"/>
            <a:ext cx="10009112" cy="4495499"/>
          </a:xfrm>
          <a:prstGeom prst="rect">
            <a:avLst/>
          </a:prstGeom>
        </p:spPr>
      </p:pic>
      <p:sp>
        <p:nvSpPr>
          <p:cNvPr id="7" name="TextBox 6">
            <a:extLst>
              <a:ext uri="{FF2B5EF4-FFF2-40B4-BE49-F238E27FC236}">
                <a16:creationId xmlns:a16="http://schemas.microsoft.com/office/drawing/2014/main" id="{A551ED56-12AB-1F51-9F6D-9D8600917BB2}"/>
              </a:ext>
            </a:extLst>
          </p:cNvPr>
          <p:cNvSpPr txBox="1"/>
          <p:nvPr/>
        </p:nvSpPr>
        <p:spPr>
          <a:xfrm>
            <a:off x="1271464" y="5571096"/>
            <a:ext cx="9192344" cy="369332"/>
          </a:xfrm>
          <a:prstGeom prst="rect">
            <a:avLst/>
          </a:prstGeom>
          <a:noFill/>
        </p:spPr>
        <p:txBody>
          <a:bodyPr wrap="square">
            <a:spAutoFit/>
          </a:bodyPr>
          <a:lstStyle/>
          <a:p>
            <a:pPr algn="ctr"/>
            <a:r>
              <a:rPr lang="en-IN"/>
              <a:t>Figure showing ambulance sending north direction signal and traffic light receiving it.</a:t>
            </a:r>
          </a:p>
        </p:txBody>
      </p:sp>
    </p:spTree>
    <p:extLst>
      <p:ext uri="{BB962C8B-B14F-4D97-AF65-F5344CB8AC3E}">
        <p14:creationId xmlns:p14="http://schemas.microsoft.com/office/powerpoint/2010/main" val="1263764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r>
              <a:rPr lang="en-US" sz="3600" dirty="0">
                <a:solidFill>
                  <a:schemeClr val="accent1">
                    <a:lumMod val="75000"/>
                  </a:schemeClr>
                </a:solidFill>
                <a:latin typeface="Times New Roman" pitchFamily="18" charset="0"/>
                <a:cs typeface="Times New Roman" pitchFamily="18" charset="0"/>
              </a:rPr>
              <a:t>Results and Discussions</a:t>
            </a:r>
            <a:endParaRPr lang="en-US" sz="3600"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rot="16200000">
            <a:off x="3647728" y="-1702786"/>
            <a:ext cx="4896544" cy="10263571"/>
          </a:xfrm>
        </p:spPr>
      </p:pic>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dirty="0"/>
              <a:t>2022 - 2023</a:t>
            </a:r>
          </a:p>
        </p:txBody>
      </p:sp>
      <p:sp>
        <p:nvSpPr>
          <p:cNvPr id="6" name="Slide Number Placeholder 5"/>
          <p:cNvSpPr>
            <a:spLocks noGrp="1"/>
          </p:cNvSpPr>
          <p:nvPr>
            <p:ph type="sldNum" sz="quarter" idx="12"/>
          </p:nvPr>
        </p:nvSpPr>
        <p:spPr/>
        <p:txBody>
          <a:bodyPr/>
          <a:lstStyle/>
          <a:p>
            <a:fld id="{5B4F5413-E548-45A8-B9DD-11B71454D5CA}" type="slidenum">
              <a:rPr lang="en-US" smtClean="0"/>
              <a:pPr/>
              <a:t>27</a:t>
            </a:fld>
            <a:endParaRPr lang="en-US" dirty="0"/>
          </a:p>
        </p:txBody>
      </p:sp>
      <p:sp>
        <p:nvSpPr>
          <p:cNvPr id="8" name="TextBox 7">
            <a:extLst>
              <a:ext uri="{FF2B5EF4-FFF2-40B4-BE49-F238E27FC236}">
                <a16:creationId xmlns:a16="http://schemas.microsoft.com/office/drawing/2014/main" id="{B88D0F0F-335C-22D4-B181-BA1FAC4F79F1}"/>
              </a:ext>
            </a:extLst>
          </p:cNvPr>
          <p:cNvSpPr txBox="1"/>
          <p:nvPr/>
        </p:nvSpPr>
        <p:spPr>
          <a:xfrm>
            <a:off x="964214" y="5845896"/>
            <a:ext cx="10263572" cy="369332"/>
          </a:xfrm>
          <a:prstGeom prst="rect">
            <a:avLst/>
          </a:prstGeom>
          <a:noFill/>
        </p:spPr>
        <p:txBody>
          <a:bodyPr wrap="square">
            <a:spAutoFit/>
          </a:bodyPr>
          <a:lstStyle/>
          <a:p>
            <a:pPr algn="ctr"/>
            <a:r>
              <a:rPr lang="en-IN"/>
              <a:t>Figure showing ambulance receiving hospital1 response.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r>
              <a:rPr lang="en-US" sz="3600" dirty="0">
                <a:solidFill>
                  <a:schemeClr val="accent1">
                    <a:lumMod val="75000"/>
                  </a:schemeClr>
                </a:solidFill>
                <a:latin typeface="Times New Roman" pitchFamily="18" charset="0"/>
                <a:cs typeface="Times New Roman" pitchFamily="18" charset="0"/>
              </a:rPr>
              <a:t>Results and Discussions</a:t>
            </a:r>
            <a:endParaRPr lang="en-US" sz="3600" dirty="0"/>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dirty="0"/>
              <a:t>2022 - 2023</a:t>
            </a:r>
          </a:p>
        </p:txBody>
      </p:sp>
      <p:sp>
        <p:nvSpPr>
          <p:cNvPr id="6" name="Slide Number Placeholder 5"/>
          <p:cNvSpPr>
            <a:spLocks noGrp="1"/>
          </p:cNvSpPr>
          <p:nvPr>
            <p:ph type="sldNum" sz="quarter" idx="12"/>
          </p:nvPr>
        </p:nvSpPr>
        <p:spPr/>
        <p:txBody>
          <a:bodyPr/>
          <a:lstStyle/>
          <a:p>
            <a:fld id="{5B4F5413-E548-45A8-B9DD-11B71454D5CA}" type="slidenum">
              <a:rPr lang="en-US" smtClean="0"/>
              <a:pPr/>
              <a:t>28</a:t>
            </a:fld>
            <a:endParaRPr lang="en-US" dirty="0"/>
          </a:p>
        </p:txBody>
      </p:sp>
      <p:pic>
        <p:nvPicPr>
          <p:cNvPr id="14" name="Content Placeholder 13">
            <a:extLst>
              <a:ext uri="{FF2B5EF4-FFF2-40B4-BE49-F238E27FC236}">
                <a16:creationId xmlns:a16="http://schemas.microsoft.com/office/drawing/2014/main" id="{EFE9A533-9D84-C25E-22AF-98983962FF7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4426"/>
          <a:stretch/>
        </p:blipFill>
        <p:spPr>
          <a:xfrm>
            <a:off x="855803" y="1340768"/>
            <a:ext cx="5073133" cy="4307756"/>
          </a:xfrm>
        </p:spPr>
      </p:pic>
      <p:pic>
        <p:nvPicPr>
          <p:cNvPr id="15" name="Content Placeholder 13">
            <a:extLst>
              <a:ext uri="{FF2B5EF4-FFF2-40B4-BE49-F238E27FC236}">
                <a16:creationId xmlns:a16="http://schemas.microsoft.com/office/drawing/2014/main" id="{200C034F-BDA9-5D77-2F09-FD826CDA5EBF}"/>
              </a:ext>
            </a:extLst>
          </p:cNvPr>
          <p:cNvPicPr>
            <a:picLocks noChangeAspect="1"/>
          </p:cNvPicPr>
          <p:nvPr/>
        </p:nvPicPr>
        <p:blipFill>
          <a:blip r:embed="rId3" cstate="print">
            <a:extLst>
              <a:ext uri="{28A0092B-C50C-407E-A947-70E740481C1C}">
                <a14:useLocalDpi xmlns:a14="http://schemas.microsoft.com/office/drawing/2010/main" val="0"/>
              </a:ext>
            </a:extLst>
          </a:blip>
          <a:srcRect t="8483" b="8483"/>
          <a:stretch/>
        </p:blipFill>
        <p:spPr>
          <a:xfrm>
            <a:off x="6096000" y="1340768"/>
            <a:ext cx="5348480" cy="4307756"/>
          </a:xfrm>
          <a:prstGeom prst="rect">
            <a:avLst/>
          </a:prstGeom>
        </p:spPr>
      </p:pic>
      <p:sp>
        <p:nvSpPr>
          <p:cNvPr id="17" name="TextBox 16">
            <a:extLst>
              <a:ext uri="{FF2B5EF4-FFF2-40B4-BE49-F238E27FC236}">
                <a16:creationId xmlns:a16="http://schemas.microsoft.com/office/drawing/2014/main" id="{E7918EF6-F3F5-4ACD-023F-13CE4D2703C0}"/>
              </a:ext>
            </a:extLst>
          </p:cNvPr>
          <p:cNvSpPr txBox="1"/>
          <p:nvPr/>
        </p:nvSpPr>
        <p:spPr>
          <a:xfrm>
            <a:off x="855803" y="5679271"/>
            <a:ext cx="5073133" cy="369332"/>
          </a:xfrm>
          <a:prstGeom prst="rect">
            <a:avLst/>
          </a:prstGeom>
          <a:noFill/>
        </p:spPr>
        <p:txBody>
          <a:bodyPr wrap="square">
            <a:spAutoFit/>
          </a:bodyPr>
          <a:lstStyle/>
          <a:p>
            <a:pPr algn="ctr"/>
            <a:r>
              <a:rPr lang="en-IN"/>
              <a:t>Figure showing no rain detection</a:t>
            </a:r>
          </a:p>
        </p:txBody>
      </p:sp>
      <p:sp>
        <p:nvSpPr>
          <p:cNvPr id="19" name="TextBox 18">
            <a:extLst>
              <a:ext uri="{FF2B5EF4-FFF2-40B4-BE49-F238E27FC236}">
                <a16:creationId xmlns:a16="http://schemas.microsoft.com/office/drawing/2014/main" id="{E47F8B6F-9730-3A08-B737-74DD129F0A39}"/>
              </a:ext>
            </a:extLst>
          </p:cNvPr>
          <p:cNvSpPr txBox="1"/>
          <p:nvPr/>
        </p:nvSpPr>
        <p:spPr>
          <a:xfrm>
            <a:off x="6096000" y="5679271"/>
            <a:ext cx="5348480" cy="369332"/>
          </a:xfrm>
          <a:prstGeom prst="rect">
            <a:avLst/>
          </a:prstGeom>
          <a:noFill/>
        </p:spPr>
        <p:txBody>
          <a:bodyPr wrap="square">
            <a:spAutoFit/>
          </a:bodyPr>
          <a:lstStyle/>
          <a:p>
            <a:pPr algn="ctr"/>
            <a:r>
              <a:rPr lang="en-IN"/>
              <a:t>Figure showing rain detection</a:t>
            </a:r>
          </a:p>
        </p:txBody>
      </p:sp>
    </p:spTree>
    <p:extLst>
      <p:ext uri="{BB962C8B-B14F-4D97-AF65-F5344CB8AC3E}">
        <p14:creationId xmlns:p14="http://schemas.microsoft.com/office/powerpoint/2010/main" val="2070138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r>
              <a:rPr lang="en-US" sz="3600" dirty="0">
                <a:solidFill>
                  <a:schemeClr val="accent1">
                    <a:lumMod val="75000"/>
                  </a:schemeClr>
                </a:solidFill>
                <a:latin typeface="Times New Roman" pitchFamily="18" charset="0"/>
                <a:cs typeface="Times New Roman" pitchFamily="18" charset="0"/>
              </a:rPr>
              <a:t>Results and Discussions</a:t>
            </a:r>
            <a:endParaRPr lang="en-US" sz="3600" dirty="0"/>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dirty="0"/>
              <a:t>2022 - 2023</a:t>
            </a:r>
          </a:p>
        </p:txBody>
      </p:sp>
      <p:sp>
        <p:nvSpPr>
          <p:cNvPr id="6" name="Slide Number Placeholder 5"/>
          <p:cNvSpPr>
            <a:spLocks noGrp="1"/>
          </p:cNvSpPr>
          <p:nvPr>
            <p:ph type="sldNum" sz="quarter" idx="12"/>
          </p:nvPr>
        </p:nvSpPr>
        <p:spPr/>
        <p:txBody>
          <a:bodyPr/>
          <a:lstStyle/>
          <a:p>
            <a:fld id="{5B4F5413-E548-45A8-B9DD-11B71454D5CA}" type="slidenum">
              <a:rPr lang="en-US" smtClean="0"/>
              <a:pPr/>
              <a:t>29</a:t>
            </a:fld>
            <a:endParaRPr lang="en-US" dirty="0"/>
          </a:p>
        </p:txBody>
      </p:sp>
      <p:pic>
        <p:nvPicPr>
          <p:cNvPr id="14" name="Content Placeholder 13">
            <a:extLst>
              <a:ext uri="{FF2B5EF4-FFF2-40B4-BE49-F238E27FC236}">
                <a16:creationId xmlns:a16="http://schemas.microsoft.com/office/drawing/2014/main" id="{EFE9A533-9D84-C25E-22AF-98983962FF7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5869" t="21104" r="23703" b="36381"/>
          <a:stretch/>
        </p:blipFill>
        <p:spPr>
          <a:xfrm>
            <a:off x="983432" y="1169034"/>
            <a:ext cx="10370368" cy="4708238"/>
          </a:xfrm>
        </p:spPr>
      </p:pic>
      <p:sp>
        <p:nvSpPr>
          <p:cNvPr id="7" name="TextBox 6">
            <a:extLst>
              <a:ext uri="{FF2B5EF4-FFF2-40B4-BE49-F238E27FC236}">
                <a16:creationId xmlns:a16="http://schemas.microsoft.com/office/drawing/2014/main" id="{9E056B81-EC24-B2E9-E646-54ADA77C0C3F}"/>
              </a:ext>
            </a:extLst>
          </p:cNvPr>
          <p:cNvSpPr txBox="1"/>
          <p:nvPr/>
        </p:nvSpPr>
        <p:spPr>
          <a:xfrm>
            <a:off x="983432" y="5877272"/>
            <a:ext cx="10370368" cy="369332"/>
          </a:xfrm>
          <a:prstGeom prst="rect">
            <a:avLst/>
          </a:prstGeom>
          <a:noFill/>
        </p:spPr>
        <p:txBody>
          <a:bodyPr wrap="square">
            <a:spAutoFit/>
          </a:bodyPr>
          <a:lstStyle/>
          <a:p>
            <a:pPr algn="ctr"/>
            <a:r>
              <a:rPr lang="en-IN"/>
              <a:t>Adafruit dashboard showing hospital1 availability and live-updates log</a:t>
            </a:r>
          </a:p>
        </p:txBody>
      </p:sp>
    </p:spTree>
    <p:extLst>
      <p:ext uri="{BB962C8B-B14F-4D97-AF65-F5344CB8AC3E}">
        <p14:creationId xmlns:p14="http://schemas.microsoft.com/office/powerpoint/2010/main" val="1581037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400" b="1">
                <a:solidFill>
                  <a:schemeClr val="accent1">
                    <a:lumMod val="75000"/>
                  </a:schemeClr>
                </a:solidFill>
                <a:latin typeface="Times New Roman" pitchFamily="18" charset="0"/>
                <a:cs typeface="Times New Roman" pitchFamily="18" charset="0"/>
              </a:rPr>
              <a:t>National Conference Paper</a:t>
            </a:r>
            <a:endParaRPr lang="en-IN" sz="4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dirty="0"/>
              <a:t>2022 - 2023</a:t>
            </a:r>
          </a:p>
        </p:txBody>
      </p:sp>
      <p:sp>
        <p:nvSpPr>
          <p:cNvPr id="6" name="Slide Number Placeholder 5"/>
          <p:cNvSpPr>
            <a:spLocks noGrp="1"/>
          </p:cNvSpPr>
          <p:nvPr>
            <p:ph type="sldNum" sz="quarter" idx="12"/>
          </p:nvPr>
        </p:nvSpPr>
        <p:spPr/>
        <p:txBody>
          <a:bodyPr/>
          <a:lstStyle/>
          <a:p>
            <a:fld id="{5B4F5413-E548-45A8-B9DD-11B71454D5CA}" type="slidenum">
              <a:rPr lang="en-US" smtClean="0"/>
              <a:pPr/>
              <a:t>30</a:t>
            </a:fld>
            <a:endParaRPr lang="en-US" dirty="0"/>
          </a:p>
        </p:txBody>
      </p:sp>
      <p:sp>
        <p:nvSpPr>
          <p:cNvPr id="8" name="Content Placeholder 7">
            <a:extLst>
              <a:ext uri="{FF2B5EF4-FFF2-40B4-BE49-F238E27FC236}">
                <a16:creationId xmlns:a16="http://schemas.microsoft.com/office/drawing/2014/main" id="{53F84D4D-5932-3B23-D636-6B9D566378DA}"/>
              </a:ext>
            </a:extLst>
          </p:cNvPr>
          <p:cNvSpPr>
            <a:spLocks noGrp="1"/>
          </p:cNvSpPr>
          <p:nvPr>
            <p:ph idx="1"/>
          </p:nvPr>
        </p:nvSpPr>
        <p:spPr/>
        <p:txBody>
          <a:bodyPr/>
          <a:lstStyle/>
          <a:p>
            <a:pPr marL="0" indent="0" algn="just">
              <a:buNone/>
            </a:pPr>
            <a:endParaRPr lang="en-US">
              <a:latin typeface="Times New Roman" panose="02020603050405020304" pitchFamily="18" charset="0"/>
              <a:cs typeface="Times New Roman" panose="02020603050405020304" pitchFamily="18" charset="0"/>
            </a:endParaRPr>
          </a:p>
          <a:p>
            <a:pPr marL="0" indent="0" algn="just">
              <a:buNone/>
            </a:pPr>
            <a:r>
              <a:rPr lang="en-US">
                <a:latin typeface="Times New Roman" panose="02020603050405020304" pitchFamily="18" charset="0"/>
                <a:cs typeface="Times New Roman" panose="02020603050405020304" pitchFamily="18" charset="0"/>
              </a:rPr>
              <a:t>Find the link below to access the National Conference Paper:</a:t>
            </a:r>
          </a:p>
          <a:p>
            <a:pPr marL="0" indent="0" algn="just">
              <a:buNone/>
            </a:pPr>
            <a:endParaRPr lang="en-US">
              <a:latin typeface="Times New Roman" panose="02020603050405020304" pitchFamily="18" charset="0"/>
              <a:cs typeface="Times New Roman" panose="02020603050405020304" pitchFamily="18" charset="0"/>
            </a:endParaRPr>
          </a:p>
          <a:p>
            <a:pPr marL="0" indent="0" algn="just">
              <a:buNone/>
            </a:pPr>
            <a:r>
              <a:rPr lang="en-US">
                <a:latin typeface="Times New Roman" panose="02020603050405020304" pitchFamily="18" charset="0"/>
                <a:cs typeface="Times New Roman" panose="02020603050405020304" pitchFamily="18" charset="0"/>
                <a:hlinkClick r:id="rId2"/>
              </a:rPr>
              <a:t>https://drive.google.com/file/d/13Iw-8qkun4O3GxB2cbds4Ozg9MHzTcaP/view?usp=sharing</a:t>
            </a:r>
            <a:endParaRPr lang="en-IN"/>
          </a:p>
        </p:txBody>
      </p:sp>
    </p:spTree>
    <p:extLst>
      <p:ext uri="{BB962C8B-B14F-4D97-AF65-F5344CB8AC3E}">
        <p14:creationId xmlns:p14="http://schemas.microsoft.com/office/powerpoint/2010/main" val="2064786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191482"/>
            <a:ext cx="7467600" cy="714396"/>
          </a:xfrm>
        </p:spPr>
        <p:txBody>
          <a:bodyPr>
            <a:normAutofit/>
          </a:bodyPr>
          <a:lstStyle/>
          <a:p>
            <a:pPr algn="ctr"/>
            <a:r>
              <a:rPr lang="en-US" sz="3200" b="1">
                <a:solidFill>
                  <a:schemeClr val="accent1">
                    <a:lumMod val="75000"/>
                  </a:schemeClr>
                </a:solidFill>
                <a:latin typeface="Times New Roman" pitchFamily="18" charset="0"/>
                <a:cs typeface="Times New Roman" pitchFamily="18" charset="0"/>
              </a:rPr>
              <a:t>CONCLUSION</a:t>
            </a:r>
            <a:endParaRPr lang="en-IN" sz="3200"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23392" y="980728"/>
            <a:ext cx="11089232" cy="5094566"/>
          </a:xfrm>
        </p:spPr>
        <p:txBody>
          <a:bodyPr>
            <a:noAutofit/>
          </a:bodyPr>
          <a:lstStyle/>
          <a:p>
            <a:pPr algn="just">
              <a:lnSpc>
                <a:spcPct val="150000"/>
              </a:lnSpc>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To conclude, the experimental implementation of the LiFi based traffic signal control system for ambulance has demonstrated significant improvements in emergency response times compared to the existing system.</a:t>
            </a:r>
          </a:p>
          <a:p>
            <a:pPr algn="just">
              <a:lnSpc>
                <a:spcPct val="150000"/>
              </a:lnSpc>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The cost-effectiveness of Li-Fi technology makes it an efficient and environmentally friendly alternative to existing cellular-based traffic management systems.</a:t>
            </a:r>
          </a:p>
          <a:p>
            <a:pPr algn="just">
              <a:lnSpc>
                <a:spcPct val="150000"/>
              </a:lnSpc>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Using the Li-Fi communication infrastructure various other data can also be sent from one vehicle to another.</a:t>
            </a:r>
          </a:p>
          <a:p>
            <a:pPr algn="just">
              <a:lnSpc>
                <a:spcPct val="150000"/>
              </a:lnSpc>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If this system is implemented in the real world, many lives can be saved as the emergency vehicles would wait for very less time in traffic jams.</a:t>
            </a:r>
          </a:p>
          <a:p>
            <a:pPr algn="just">
              <a:lnSpc>
                <a:spcPct val="150000"/>
              </a:lnSpc>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rPr>
              <a:t>This can be further implemented to other emergency vehicle such as firefighter trucks and police vehicles.</a:t>
            </a:r>
          </a:p>
        </p:txBody>
      </p:sp>
      <p:sp>
        <p:nvSpPr>
          <p:cNvPr id="5" name="Date Placeholder 4">
            <a:extLst>
              <a:ext uri="{FF2B5EF4-FFF2-40B4-BE49-F238E27FC236}">
                <a16:creationId xmlns:a16="http://schemas.microsoft.com/office/drawing/2014/main" id="{BA33232D-C5B6-4904-B0FD-67D9A472EF55}"/>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93F751C5-4D03-4713-B38A-E84F63B94AB2}"/>
              </a:ext>
            </a:extLst>
          </p:cNvPr>
          <p:cNvSpPr>
            <a:spLocks noGrp="1"/>
          </p:cNvSpPr>
          <p:nvPr>
            <p:ph type="ftr" sz="quarter" idx="11"/>
          </p:nvPr>
        </p:nvSpPr>
        <p:spPr/>
        <p:txBody>
          <a:bodyPr/>
          <a:lstStyle/>
          <a:p>
            <a:r>
              <a:rPr lang="en-US" dirty="0"/>
              <a:t>2022 - 2023</a:t>
            </a:r>
          </a:p>
        </p:txBody>
      </p:sp>
      <p:sp>
        <p:nvSpPr>
          <p:cNvPr id="7" name="Slide Number Placeholder 6">
            <a:extLst>
              <a:ext uri="{FF2B5EF4-FFF2-40B4-BE49-F238E27FC236}">
                <a16:creationId xmlns:a16="http://schemas.microsoft.com/office/drawing/2014/main" id="{C198CA14-345C-4F3F-85D3-748718383803}"/>
              </a:ext>
            </a:extLst>
          </p:cNvPr>
          <p:cNvSpPr>
            <a:spLocks noGrp="1"/>
          </p:cNvSpPr>
          <p:nvPr>
            <p:ph type="sldNum" sz="quarter" idx="12"/>
          </p:nvPr>
        </p:nvSpPr>
        <p:spPr/>
        <p:txBody>
          <a:bodyPr/>
          <a:lstStyle/>
          <a:p>
            <a:fld id="{5B4F5413-E548-45A8-B9DD-11B71454D5CA}" type="slidenum">
              <a:rPr lang="en-US" smtClean="0"/>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5560" y="136525"/>
            <a:ext cx="7467600" cy="714396"/>
          </a:xfrm>
        </p:spPr>
        <p:txBody>
          <a:bodyPr>
            <a:normAutofit/>
          </a:bodyPr>
          <a:lstStyle/>
          <a:p>
            <a:pPr algn="ctr"/>
            <a:r>
              <a:rPr lang="en-US" sz="3200" b="1" dirty="0">
                <a:solidFill>
                  <a:schemeClr val="accent1">
                    <a:lumMod val="75000"/>
                  </a:schemeClr>
                </a:solidFill>
                <a:latin typeface="Times New Roman" pitchFamily="18" charset="0"/>
                <a:cs typeface="Times New Roman" pitchFamily="18" charset="0"/>
              </a:rPr>
              <a:t>Future Enhancements</a:t>
            </a:r>
            <a:endParaRPr lang="en-IN" sz="3200"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395230" y="850921"/>
            <a:ext cx="11317394" cy="5386391"/>
          </a:xfrm>
        </p:spPr>
        <p:txBody>
          <a:bodyPr>
            <a:noAutofit/>
          </a:bodyPr>
          <a:lstStyle/>
          <a:p>
            <a:pPr algn="just">
              <a:lnSpc>
                <a:spcPct val="150000"/>
              </a:lnSpc>
              <a:buFont typeface="Wingdings" panose="05000000000000000000" pitchFamily="2" charset="2"/>
              <a:buChar char="Ø"/>
            </a:pPr>
            <a:r>
              <a:rPr lang="en-US" sz="1700" b="0" i="0">
                <a:effectLst/>
                <a:latin typeface="Times New Roman" panose="02020603050405020304" pitchFamily="18" charset="0"/>
                <a:cs typeface="Times New Roman" panose="02020603050405020304" pitchFamily="18" charset="0"/>
              </a:rPr>
              <a:t>Implementation of Machine Learning: By analyzing data from previous emergencies, the system can learn to predict traffic patterns and optimize traffic signal timings accordingly, allowing for faster response times and better emergency management.</a:t>
            </a:r>
          </a:p>
          <a:p>
            <a:pPr algn="just">
              <a:lnSpc>
                <a:spcPct val="150000"/>
              </a:lnSpc>
              <a:buFont typeface="Wingdings" panose="05000000000000000000" pitchFamily="2" charset="2"/>
              <a:buChar char="Ø"/>
            </a:pPr>
            <a:r>
              <a:rPr lang="en-US" sz="1700" b="0" i="0">
                <a:effectLst/>
                <a:latin typeface="Times New Roman" panose="02020603050405020304" pitchFamily="18" charset="0"/>
                <a:cs typeface="Times New Roman" panose="02020603050405020304" pitchFamily="18" charset="0"/>
              </a:rPr>
              <a:t>Expansion to other emergency vehicles: While the LiFi system is currently designed to work with ambulances, it could be expanded to other emergency vehicles, such as fire trucks and police cars.</a:t>
            </a:r>
          </a:p>
          <a:p>
            <a:pPr algn="just">
              <a:lnSpc>
                <a:spcPct val="150000"/>
              </a:lnSpc>
              <a:buFont typeface="Wingdings" panose="05000000000000000000" pitchFamily="2" charset="2"/>
              <a:buChar char="Ø"/>
            </a:pPr>
            <a:r>
              <a:rPr lang="en-US" sz="1700" b="0" i="0">
                <a:effectLst/>
                <a:latin typeface="Times New Roman" panose="02020603050405020304" pitchFamily="18" charset="0"/>
                <a:cs typeface="Times New Roman" panose="02020603050405020304" pitchFamily="18" charset="0"/>
              </a:rPr>
              <a:t>Improved accuracy and reliability: While LiFi technology has the potential to be very accurate, there are still some limitations to its range and reliability. To make the system even more effective, researchers could work on improving the accuracy and reliability of the LiFi signals, so that they can be detected by traffic signals from even greater distances.</a:t>
            </a:r>
          </a:p>
          <a:p>
            <a:pPr algn="just">
              <a:lnSpc>
                <a:spcPct val="150000"/>
              </a:lnSpc>
              <a:buFont typeface="Wingdings" panose="05000000000000000000" pitchFamily="2" charset="2"/>
              <a:buChar char="Ø"/>
            </a:pPr>
            <a:r>
              <a:rPr lang="en-US" sz="1700" b="0" i="0">
                <a:effectLst/>
                <a:latin typeface="Times New Roman" panose="02020603050405020304" pitchFamily="18" charset="0"/>
                <a:cs typeface="Times New Roman" panose="02020603050405020304" pitchFamily="18" charset="0"/>
              </a:rPr>
              <a:t>V2V smart connection enhancements: Another possible area for improvement would be to enhance the V2V communication capabilities of the system. This could involve incorporating additional sensors and communication protocols to enable more robust data exchange between vehicles. For example, vehicles could share information about their speed, direction, and location in real-time, allowing the traffic signal system to make more informed decisions about when to change signals. </a:t>
            </a:r>
            <a:endParaRPr lang="en-US" sz="170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A33232D-C5B6-4904-B0FD-67D9A472EF55}"/>
              </a:ext>
            </a:extLst>
          </p:cNvPr>
          <p:cNvSpPr>
            <a:spLocks noGrp="1"/>
          </p:cNvSpPr>
          <p:nvPr>
            <p:ph type="dt" sz="half" idx="10"/>
          </p:nvPr>
        </p:nvSpPr>
        <p:spPr/>
        <p:txBody>
          <a:bodyPr/>
          <a:lstStyle/>
          <a:p>
            <a:r>
              <a:rPr lang="en-US"/>
              <a:t>VIII Semester, Department of ISE, RNSIT</a:t>
            </a:r>
            <a:endParaRPr lang="en-US" dirty="0"/>
          </a:p>
        </p:txBody>
      </p:sp>
      <p:sp>
        <p:nvSpPr>
          <p:cNvPr id="4" name="Footer Placeholder 3">
            <a:extLst>
              <a:ext uri="{FF2B5EF4-FFF2-40B4-BE49-F238E27FC236}">
                <a16:creationId xmlns:a16="http://schemas.microsoft.com/office/drawing/2014/main" id="{93F751C5-4D03-4713-B38A-E84F63B94AB2}"/>
              </a:ext>
            </a:extLst>
          </p:cNvPr>
          <p:cNvSpPr>
            <a:spLocks noGrp="1"/>
          </p:cNvSpPr>
          <p:nvPr>
            <p:ph type="ftr" sz="quarter" idx="11"/>
          </p:nvPr>
        </p:nvSpPr>
        <p:spPr/>
        <p:txBody>
          <a:bodyPr/>
          <a:lstStyle/>
          <a:p>
            <a:r>
              <a:rPr lang="en-US" dirty="0"/>
              <a:t>2022 - 2023</a:t>
            </a:r>
          </a:p>
        </p:txBody>
      </p:sp>
      <p:sp>
        <p:nvSpPr>
          <p:cNvPr id="7" name="Slide Number Placeholder 6">
            <a:extLst>
              <a:ext uri="{FF2B5EF4-FFF2-40B4-BE49-F238E27FC236}">
                <a16:creationId xmlns:a16="http://schemas.microsoft.com/office/drawing/2014/main" id="{AEE063CF-6D7D-432E-B18C-EBA1A9073E26}"/>
              </a:ext>
            </a:extLst>
          </p:cNvPr>
          <p:cNvSpPr>
            <a:spLocks noGrp="1"/>
          </p:cNvSpPr>
          <p:nvPr>
            <p:ph type="sldNum" sz="quarter" idx="12"/>
          </p:nvPr>
        </p:nvSpPr>
        <p:spPr/>
        <p:txBody>
          <a:bodyPr/>
          <a:lstStyle/>
          <a:p>
            <a:fld id="{5B4F5413-E548-45A8-B9DD-11B71454D5CA}" type="slidenum">
              <a:rPr lang="en-US" smtClean="0"/>
              <a:pPr/>
              <a:t>32</a:t>
            </a:fld>
            <a:endParaRPr lang="en-US" dirty="0"/>
          </a:p>
        </p:txBody>
      </p:sp>
    </p:spTree>
    <p:extLst>
      <p:ext uri="{BB962C8B-B14F-4D97-AF65-F5344CB8AC3E}">
        <p14:creationId xmlns:p14="http://schemas.microsoft.com/office/powerpoint/2010/main" val="1294571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712"/>
            <a:ext cx="10802416" cy="5668960"/>
          </a:xfrm>
        </p:spPr>
        <p:txBody>
          <a:bodyPr>
            <a:noAutofit/>
          </a:bodyPr>
          <a:lstStyle/>
          <a:p>
            <a:pPr algn="ctr">
              <a:lnSpc>
                <a:spcPct val="100000"/>
              </a:lnSpc>
              <a:buNone/>
            </a:pPr>
            <a:r>
              <a:rPr lang="en-US" sz="3200" b="1" dirty="0">
                <a:solidFill>
                  <a:schemeClr val="accent1">
                    <a:lumMod val="75000"/>
                  </a:schemeClr>
                </a:solidFill>
                <a:latin typeface="Times New Roman" panose="02020603050405020304" pitchFamily="18" charset="0"/>
                <a:cs typeface="Times New Roman" pitchFamily="18" charset="0"/>
              </a:rPr>
              <a:t>REFERENCES</a:t>
            </a:r>
          </a:p>
          <a:p>
            <a:pPr>
              <a:lnSpc>
                <a:spcPct val="150000"/>
              </a:lnSpc>
              <a:buNone/>
            </a:pPr>
            <a:r>
              <a:rPr lang="en-US" sz="1600" b="1">
                <a:solidFill>
                  <a:schemeClr val="tx1">
                    <a:lumMod val="75000"/>
                    <a:lumOff val="25000"/>
                  </a:schemeClr>
                </a:solidFill>
                <a:latin typeface="Times New Roman" panose="02020603050405020304" pitchFamily="18" charset="0"/>
                <a:cs typeface="Times New Roman" pitchFamily="18" charset="0"/>
              </a:rPr>
              <a:t>[1]</a:t>
            </a:r>
            <a:r>
              <a:rPr lang="en-IN" sz="1600">
                <a:latin typeface="Times New Roman" panose="02020603050405020304" pitchFamily="18" charset="0"/>
                <a:cs typeface="Times New Roman" panose="02020603050405020304" pitchFamily="18" charset="0"/>
              </a:rPr>
              <a:t> H. Noori, “Modeling the Impact of VANET-Enabled Traffic Lights Control on the Response Time of Emergency Vehicles in Realistic LargeScale Urban Area,” 2013. </a:t>
            </a:r>
          </a:p>
          <a:p>
            <a:pPr>
              <a:lnSpc>
                <a:spcPct val="150000"/>
              </a:lnSpc>
              <a:buNone/>
            </a:pPr>
            <a:r>
              <a:rPr lang="en-IN" sz="1600" b="1">
                <a:latin typeface="Times New Roman" panose="02020603050405020304" pitchFamily="18" charset="0"/>
                <a:cs typeface="Times New Roman" panose="02020603050405020304" pitchFamily="18" charset="0"/>
              </a:rPr>
              <a:t>[2] </a:t>
            </a:r>
            <a:r>
              <a:rPr lang="en-IN" sz="1600">
                <a:latin typeface="Times New Roman" panose="02020603050405020304" pitchFamily="18" charset="0"/>
                <a:cs typeface="Times New Roman" panose="02020603050405020304" pitchFamily="18" charset="0"/>
              </a:rPr>
              <a:t>A. S. Eltayeb, H. O. Almubarak, and T. A. Attia, “A GPS Based Traffic Light Pre-emption Control System for Emergency Vehicles,” 2013. </a:t>
            </a:r>
          </a:p>
          <a:p>
            <a:pPr>
              <a:lnSpc>
                <a:spcPct val="150000"/>
              </a:lnSpc>
              <a:buNone/>
            </a:pPr>
            <a:r>
              <a:rPr lang="en-IN" sz="1600" b="1">
                <a:latin typeface="Times New Roman" panose="02020603050405020304" pitchFamily="18" charset="0"/>
                <a:cs typeface="Times New Roman" panose="02020603050405020304" pitchFamily="18" charset="0"/>
              </a:rPr>
              <a:t>[3] </a:t>
            </a:r>
            <a:r>
              <a:rPr lang="en-IN" sz="1600">
                <a:latin typeface="Times New Roman" panose="02020603050405020304" pitchFamily="18" charset="0"/>
                <a:cs typeface="Times New Roman" panose="02020603050405020304" pitchFamily="18" charset="0"/>
              </a:rPr>
              <a:t>R. S. Rajeshwari, S. Hebbar, and V. Golla, “Implementing Intelligent Traffic Control System for Congestion Control, Ambulance Clearance and Stolen Vehicle Detection,” 2015.</a:t>
            </a:r>
          </a:p>
          <a:p>
            <a:pPr>
              <a:lnSpc>
                <a:spcPct val="150000"/>
              </a:lnSpc>
              <a:buNone/>
            </a:pPr>
            <a:r>
              <a:rPr lang="en-IN" sz="1600" b="1">
                <a:latin typeface="Times New Roman" panose="02020603050405020304" pitchFamily="18" charset="0"/>
                <a:cs typeface="Times New Roman" panose="02020603050405020304" pitchFamily="18" charset="0"/>
              </a:rPr>
              <a:t>[4] </a:t>
            </a:r>
            <a:r>
              <a:rPr lang="en-IN" sz="1600">
                <a:latin typeface="Times New Roman" panose="02020603050405020304" pitchFamily="18" charset="0"/>
                <a:cs typeface="Times New Roman" panose="02020603050405020304" pitchFamily="18" charset="0"/>
              </a:rPr>
              <a:t>V. Kodire, S. Bhaskaran, and V. H.N., “GPS and ZigBee Based Traffic Signal Preemption,” 2016.</a:t>
            </a:r>
          </a:p>
          <a:p>
            <a:pPr>
              <a:lnSpc>
                <a:spcPct val="150000"/>
              </a:lnSpc>
              <a:buNone/>
            </a:pPr>
            <a:r>
              <a:rPr lang="en-IN" sz="1600" b="1">
                <a:latin typeface="Times New Roman" panose="02020603050405020304" pitchFamily="18" charset="0"/>
                <a:cs typeface="Times New Roman" panose="02020603050405020304" pitchFamily="18" charset="0"/>
              </a:rPr>
              <a:t>[5] </a:t>
            </a:r>
            <a:r>
              <a:rPr lang="en-IN" sz="1600">
                <a:latin typeface="Times New Roman" panose="02020603050405020304" pitchFamily="18" charset="0"/>
                <a:cs typeface="Times New Roman" panose="02020603050405020304" pitchFamily="18" charset="0"/>
              </a:rPr>
              <a:t>L. Sai Krishna, S. Vijay Chowdary, M. Pushpavalli, and P. Sivagami, “Advanced Automation Control in an Ambulance under Emergency Condition,” 2017.</a:t>
            </a:r>
          </a:p>
          <a:p>
            <a:pPr>
              <a:lnSpc>
                <a:spcPct val="150000"/>
              </a:lnSpc>
              <a:buNone/>
            </a:pPr>
            <a:r>
              <a:rPr lang="en-IN" sz="1600" b="1">
                <a:latin typeface="Times New Roman" panose="02020603050405020304" pitchFamily="18" charset="0"/>
                <a:cs typeface="Times New Roman" panose="02020603050405020304" pitchFamily="18" charset="0"/>
              </a:rPr>
              <a:t>[6] </a:t>
            </a:r>
            <a:r>
              <a:rPr lang="en-IN" sz="1600">
                <a:latin typeface="Times New Roman" panose="02020603050405020304" pitchFamily="18" charset="0"/>
                <a:cs typeface="Times New Roman" panose="02020603050405020304" pitchFamily="18" charset="0"/>
              </a:rPr>
              <a:t>M. Managuli, A. Deshpande, and S. H. Ayatti, “Emergent vehicle tracking system using IR sensor,” 2017.</a:t>
            </a:r>
          </a:p>
          <a:p>
            <a:pPr>
              <a:lnSpc>
                <a:spcPct val="150000"/>
              </a:lnSpc>
              <a:buNone/>
            </a:pPr>
            <a:r>
              <a:rPr lang="en-IN" sz="1600" b="1">
                <a:latin typeface="Times New Roman" panose="02020603050405020304" pitchFamily="18" charset="0"/>
                <a:cs typeface="Times New Roman" panose="02020603050405020304" pitchFamily="18" charset="0"/>
              </a:rPr>
              <a:t>[7] </a:t>
            </a:r>
            <a:r>
              <a:rPr lang="en-IN" sz="1600">
                <a:latin typeface="Times New Roman" panose="02020603050405020304" pitchFamily="18" charset="0"/>
                <a:cs typeface="Times New Roman" panose="02020603050405020304" pitchFamily="18" charset="0"/>
              </a:rPr>
              <a:t>P. Devi and S. Anila, “Intelligent Ambulance with Automatic Traffic Control,” 2020. </a:t>
            </a:r>
          </a:p>
          <a:p>
            <a:pPr>
              <a:lnSpc>
                <a:spcPct val="150000"/>
              </a:lnSpc>
              <a:buNone/>
            </a:pPr>
            <a:r>
              <a:rPr lang="en-IN" sz="1600" b="1">
                <a:latin typeface="Times New Roman" panose="02020603050405020304" pitchFamily="18" charset="0"/>
                <a:cs typeface="Times New Roman" panose="02020603050405020304" pitchFamily="18" charset="0"/>
              </a:rPr>
              <a:t>[8] </a:t>
            </a:r>
            <a:r>
              <a:rPr lang="en-IN" sz="1600">
                <a:latin typeface="Times New Roman" panose="02020603050405020304" pitchFamily="18" charset="0"/>
                <a:cs typeface="Times New Roman" panose="02020603050405020304" pitchFamily="18" charset="0"/>
              </a:rPr>
              <a:t>L. A. Magre Colorado, J. Franco Ibanez, and J. C. Martinez-Santos, “Leveraging Emergency Response System Using the Internet of Things,” 2020.</a:t>
            </a:r>
          </a:p>
          <a:p>
            <a:pPr marL="0" indent="0">
              <a:lnSpc>
                <a:spcPct val="150000"/>
              </a:lnSpc>
              <a:buNone/>
            </a:pPr>
            <a:endParaRPr lang="en-US" sz="1600" dirty="0">
              <a:solidFill>
                <a:schemeClr val="tx1">
                  <a:lumMod val="75000"/>
                  <a:lumOff val="25000"/>
                </a:schemeClr>
              </a:solidFill>
              <a:latin typeface="Times New Roman" panose="02020603050405020304" pitchFamily="18" charset="0"/>
              <a:cs typeface="Times New Roman" pitchFamily="18" charset="0"/>
            </a:endParaRPr>
          </a:p>
        </p:txBody>
      </p:sp>
      <p:sp>
        <p:nvSpPr>
          <p:cNvPr id="4" name="Date Placeholder 3">
            <a:extLst>
              <a:ext uri="{FF2B5EF4-FFF2-40B4-BE49-F238E27FC236}">
                <a16:creationId xmlns:a16="http://schemas.microsoft.com/office/drawing/2014/main" id="{A7C2A149-87F3-4546-B37B-612BD139184B}"/>
              </a:ext>
            </a:extLst>
          </p:cNvPr>
          <p:cNvSpPr>
            <a:spLocks noGrp="1"/>
          </p:cNvSpPr>
          <p:nvPr>
            <p:ph type="dt" sz="half" idx="10"/>
          </p:nvPr>
        </p:nvSpPr>
        <p:spPr/>
        <p:txBody>
          <a:bodyPr/>
          <a:lstStyle/>
          <a:p>
            <a:r>
              <a:rPr lang="en-US"/>
              <a:t>VIII Semester, Department of ISE, RNSIT</a:t>
            </a:r>
            <a:endParaRPr lang="en-US" dirty="0"/>
          </a:p>
        </p:txBody>
      </p:sp>
      <p:sp>
        <p:nvSpPr>
          <p:cNvPr id="2" name="Footer Placeholder 1">
            <a:extLst>
              <a:ext uri="{FF2B5EF4-FFF2-40B4-BE49-F238E27FC236}">
                <a16:creationId xmlns:a16="http://schemas.microsoft.com/office/drawing/2014/main" id="{DFA78DEB-6914-4A76-B9B4-66FB89B00F93}"/>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8351C7A7-D0BC-42EC-8035-D91B8D8A8121}"/>
              </a:ext>
            </a:extLst>
          </p:cNvPr>
          <p:cNvSpPr>
            <a:spLocks noGrp="1"/>
          </p:cNvSpPr>
          <p:nvPr>
            <p:ph type="sldNum" sz="quarter" idx="12"/>
          </p:nvPr>
        </p:nvSpPr>
        <p:spPr/>
        <p:txBody>
          <a:bodyPr/>
          <a:lstStyle/>
          <a:p>
            <a:fld id="{5B4F5413-E548-45A8-B9DD-11B71454D5CA}" type="slidenum">
              <a:rPr lang="en-US" smtClean="0"/>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9588" y="642918"/>
            <a:ext cx="10515600" cy="694162"/>
          </a:xfrm>
        </p:spPr>
        <p:txBody>
          <a:bodyPr>
            <a:normAutofit fontScale="90000"/>
          </a:bodyPr>
          <a:lstStyle/>
          <a:p>
            <a:r>
              <a:rPr lang="en-US" dirty="0"/>
              <a:t>                           </a:t>
            </a:r>
          </a:p>
        </p:txBody>
      </p:sp>
      <p:sp>
        <p:nvSpPr>
          <p:cNvPr id="3" name="Content Placeholder 2"/>
          <p:cNvSpPr>
            <a:spLocks noGrp="1"/>
          </p:cNvSpPr>
          <p:nvPr>
            <p:ph idx="1"/>
          </p:nvPr>
        </p:nvSpPr>
        <p:spPr>
          <a:xfrm>
            <a:off x="866812" y="642918"/>
            <a:ext cx="10515600" cy="5033842"/>
          </a:xfrm>
        </p:spPr>
        <p:txBody>
          <a:bodyPr>
            <a:noAutofit/>
          </a:bodyPr>
          <a:lstStyle/>
          <a:p>
            <a:pPr>
              <a:lnSpc>
                <a:spcPct val="150000"/>
              </a:lnSpc>
              <a:buNone/>
            </a:pPr>
            <a:r>
              <a:rPr lang="en-IN" sz="1600">
                <a:latin typeface="Times New Roman" panose="02020603050405020304" pitchFamily="18" charset="0"/>
                <a:cs typeface="Times New Roman" panose="02020603050405020304" pitchFamily="18" charset="0"/>
              </a:rPr>
              <a:t> </a:t>
            </a:r>
            <a:r>
              <a:rPr lang="en-IN" sz="1600" b="1">
                <a:latin typeface="Times New Roman" panose="02020603050405020304" pitchFamily="18" charset="0"/>
                <a:cs typeface="Times New Roman" panose="02020603050405020304" pitchFamily="18" charset="0"/>
              </a:rPr>
              <a:t>[9] </a:t>
            </a:r>
            <a:r>
              <a:rPr lang="en-IN" sz="1600">
                <a:latin typeface="Times New Roman" panose="02020603050405020304" pitchFamily="18" charset="0"/>
                <a:cs typeface="Times New Roman" panose="02020603050405020304" pitchFamily="18" charset="0"/>
              </a:rPr>
              <a:t>V.K.G. Kalaiselvi, A. Sangavi, and Dhivya, “Li-Fi technology in traffic light,” 2017</a:t>
            </a:r>
            <a:endParaRPr lang="en-US" sz="1600" b="1">
              <a:solidFill>
                <a:schemeClr val="tx1">
                  <a:lumMod val="75000"/>
                  <a:lumOff val="25000"/>
                </a:schemeClr>
              </a:solidFill>
              <a:latin typeface="Times New Roman" panose="02020603050405020304" pitchFamily="18" charset="0"/>
              <a:cs typeface="Times New Roman" pitchFamily="18" charset="0"/>
            </a:endParaRPr>
          </a:p>
          <a:p>
            <a:pPr>
              <a:lnSpc>
                <a:spcPct val="150000"/>
              </a:lnSpc>
              <a:buNone/>
            </a:pPr>
            <a:r>
              <a:rPr lang="en-IN" sz="1600" b="1">
                <a:latin typeface="Times New Roman" panose="02020603050405020304" pitchFamily="18" charset="0"/>
                <a:cs typeface="Times New Roman" panose="02020603050405020304" pitchFamily="18" charset="0"/>
              </a:rPr>
              <a:t>[10] </a:t>
            </a:r>
            <a:r>
              <a:rPr lang="en-IN" sz="1600">
                <a:latin typeface="Times New Roman" panose="02020603050405020304" pitchFamily="18" charset="0"/>
                <a:cs typeface="Times New Roman" panose="02020603050405020304" pitchFamily="18" charset="0"/>
              </a:rPr>
              <a:t>V. Raj, A. Narayanan, and K. Bijlani, “Efficiency of opportunistic cellular,LiFi traffic offloading,” in 2017 2nd IEEE International Conference on Recent Trends in Electronics, Information and Communication Technology (RTEICT), 2017. </a:t>
            </a:r>
          </a:p>
          <a:p>
            <a:pPr>
              <a:lnSpc>
                <a:spcPct val="150000"/>
              </a:lnSpc>
              <a:buNone/>
            </a:pPr>
            <a:r>
              <a:rPr lang="en-IN" sz="1600" b="1">
                <a:latin typeface="Times New Roman" panose="02020603050405020304" pitchFamily="18" charset="0"/>
                <a:cs typeface="Times New Roman" panose="02020603050405020304" pitchFamily="18" charset="0"/>
              </a:rPr>
              <a:t>[11] </a:t>
            </a:r>
            <a:r>
              <a:rPr lang="en-IN" sz="1600">
                <a:latin typeface="Times New Roman" panose="02020603050405020304" pitchFamily="18" charset="0"/>
                <a:cs typeface="Times New Roman" panose="02020603050405020304" pitchFamily="18" charset="0"/>
              </a:rPr>
              <a:t>A. Correa, A. Hamid, and E. Sparks, “Li-Fi Based Smart Traffic Network,” in 2018 IEEE 88th Vehicular Technology Conference (VTCFall). </a:t>
            </a:r>
          </a:p>
          <a:p>
            <a:pPr>
              <a:lnSpc>
                <a:spcPct val="150000"/>
              </a:lnSpc>
              <a:buNone/>
            </a:pPr>
            <a:r>
              <a:rPr lang="en-IN" sz="1600" b="1">
                <a:latin typeface="Times New Roman" panose="02020603050405020304" pitchFamily="18" charset="0"/>
                <a:cs typeface="Times New Roman" panose="02020603050405020304" pitchFamily="18" charset="0"/>
              </a:rPr>
              <a:t>[12] </a:t>
            </a:r>
            <a:r>
              <a:rPr lang="en-IN" sz="1600">
                <a:latin typeface="Times New Roman" panose="02020603050405020304" pitchFamily="18" charset="0"/>
                <a:cs typeface="Times New Roman" panose="02020603050405020304" pitchFamily="18" charset="0"/>
              </a:rPr>
              <a:t>R. Shanmughasundaram, S. Prasanna Vadanan, and V. Dharmarajan, “LiFi Based Automatic Traffic Signal Control for Emergency Vehicles,” in 2018 IEEE Global Conference on Wireless Computing and Networking (GCWCN), 2018.</a:t>
            </a:r>
          </a:p>
          <a:p>
            <a:pPr>
              <a:lnSpc>
                <a:spcPct val="150000"/>
              </a:lnSpc>
              <a:buNone/>
            </a:pPr>
            <a:r>
              <a:rPr lang="en-IN" sz="1600" b="1">
                <a:latin typeface="Times New Roman" panose="02020603050405020304" pitchFamily="18" charset="0"/>
                <a:cs typeface="Times New Roman" panose="02020603050405020304" pitchFamily="18" charset="0"/>
              </a:rPr>
              <a:t>[13] </a:t>
            </a:r>
            <a:r>
              <a:rPr lang="en-IN" sz="1600">
                <a:latin typeface="Times New Roman" panose="02020603050405020304" pitchFamily="18" charset="0"/>
                <a:cs typeface="Times New Roman" panose="02020603050405020304" pitchFamily="18" charset="0"/>
              </a:rPr>
              <a:t>A. Patni, B. Mishra, H. Aditya, Y. Kumar, and R. Sharma, “Highway Navigation Using Light Fidelity Technology,” in 2015 IEEE 12th International Conference on Mobile Ad Hoc and Sensor Systems (MASS), 2015. </a:t>
            </a:r>
          </a:p>
          <a:p>
            <a:pPr>
              <a:lnSpc>
                <a:spcPct val="150000"/>
              </a:lnSpc>
              <a:buNone/>
            </a:pPr>
            <a:r>
              <a:rPr lang="en-IN" sz="1600" b="1">
                <a:latin typeface="Times New Roman" panose="02020603050405020304" pitchFamily="18" charset="0"/>
                <a:cs typeface="Times New Roman" panose="02020603050405020304" pitchFamily="18" charset="0"/>
              </a:rPr>
              <a:t>[14] </a:t>
            </a:r>
            <a:r>
              <a:rPr lang="en-IN" sz="1600">
                <a:latin typeface="Times New Roman" panose="02020603050405020304" pitchFamily="18" charset="0"/>
                <a:cs typeface="Times New Roman" panose="02020603050405020304" pitchFamily="18" charset="0"/>
              </a:rPr>
              <a:t>J. Saradha, G. Vijayshri, and T. Subha, “Intelligent traffic signal control system for ambulance using RFID and cloud,” in 2017 International Conference on Innovations in Information, Embedded and Communication Systems (ICIIECS), 2017. </a:t>
            </a:r>
          </a:p>
          <a:p>
            <a:pPr>
              <a:lnSpc>
                <a:spcPct val="150000"/>
              </a:lnSpc>
              <a:buNone/>
            </a:pPr>
            <a:r>
              <a:rPr lang="en-IN" sz="1600" b="1">
                <a:latin typeface="Times New Roman" panose="02020603050405020304" pitchFamily="18" charset="0"/>
                <a:cs typeface="Times New Roman" panose="02020603050405020304" pitchFamily="18" charset="0"/>
              </a:rPr>
              <a:t>[15] </a:t>
            </a:r>
            <a:r>
              <a:rPr lang="en-IN" sz="1600">
                <a:latin typeface="Times New Roman" panose="02020603050405020304" pitchFamily="18" charset="0"/>
                <a:cs typeface="Times New Roman" panose="02020603050405020304" pitchFamily="18" charset="0"/>
              </a:rPr>
              <a:t>J. I. Janjua, T. A. Khan, M. S. Khan, and M. Nadeem, “Li-Fi Communications in Smart Cities for Truly Connected Vehicles,” in 2021 International Conference on Information Networking (ICOIN), 2021</a:t>
            </a:r>
            <a:endParaRPr lang="en-US" sz="1600" dirty="0">
              <a:latin typeface="Times New Roman" panose="02020603050405020304" pitchFamily="18" charset="0"/>
              <a:cs typeface="Times New Roman" pitchFamily="18" charset="0"/>
            </a:endParaRPr>
          </a:p>
        </p:txBody>
      </p:sp>
      <p:sp>
        <p:nvSpPr>
          <p:cNvPr id="4" name="Date Placeholder 3"/>
          <p:cNvSpPr>
            <a:spLocks noGrp="1"/>
          </p:cNvSpPr>
          <p:nvPr>
            <p:ph type="dt" sz="half" idx="10"/>
          </p:nvPr>
        </p:nvSpPr>
        <p:spPr/>
        <p:txBody>
          <a:bodyPr/>
          <a:lstStyle/>
          <a:p>
            <a:r>
              <a:rPr lang="en-US"/>
              <a:t>VIII Semester, Department of ISE, RNSIT</a:t>
            </a:r>
            <a:endParaRPr lang="en-US" dirty="0"/>
          </a:p>
        </p:txBody>
      </p:sp>
      <p:sp>
        <p:nvSpPr>
          <p:cNvPr id="5" name="Footer Placeholder 4"/>
          <p:cNvSpPr>
            <a:spLocks noGrp="1"/>
          </p:cNvSpPr>
          <p:nvPr>
            <p:ph type="ftr" sz="quarter" idx="11"/>
          </p:nvPr>
        </p:nvSpPr>
        <p:spPr/>
        <p:txBody>
          <a:bodyPr/>
          <a:lstStyle/>
          <a:p>
            <a:r>
              <a:rPr lang="en-US" dirty="0"/>
              <a:t>2022 - 2023</a:t>
            </a:r>
          </a:p>
        </p:txBody>
      </p:sp>
      <p:sp>
        <p:nvSpPr>
          <p:cNvPr id="6" name="Slide Number Placeholder 5"/>
          <p:cNvSpPr>
            <a:spLocks noGrp="1"/>
          </p:cNvSpPr>
          <p:nvPr>
            <p:ph type="sldNum" sz="quarter" idx="12"/>
          </p:nvPr>
        </p:nvSpPr>
        <p:spPr/>
        <p:txBody>
          <a:bodyPr/>
          <a:lstStyle/>
          <a:p>
            <a:fld id="{5B4F5413-E548-45A8-B9DD-11B71454D5CA}" type="slidenum">
              <a:rPr lang="en-US" smtClean="0"/>
              <a:pPr/>
              <a:t>34</a:t>
            </a:fld>
            <a:endParaRPr lang="en-US" dirty="0"/>
          </a:p>
        </p:txBody>
      </p:sp>
      <p:sp>
        <p:nvSpPr>
          <p:cNvPr id="7" name="Rectangle 6"/>
          <p:cNvSpPr/>
          <p:nvPr/>
        </p:nvSpPr>
        <p:spPr>
          <a:xfrm>
            <a:off x="4583832" y="111970"/>
            <a:ext cx="2786082" cy="830997"/>
          </a:xfrm>
          <a:prstGeom prst="rect">
            <a:avLst/>
          </a:prstGeom>
        </p:spPr>
        <p:txBody>
          <a:bodyPr wrap="square">
            <a:spAutoFit/>
          </a:bodyPr>
          <a:lstStyle/>
          <a:p>
            <a:pPr algn="ctr"/>
            <a:r>
              <a:rPr lang="en-US" sz="2800" b="1" dirty="0">
                <a:solidFill>
                  <a:schemeClr val="accent1">
                    <a:lumMod val="75000"/>
                  </a:schemeClr>
                </a:solidFill>
                <a:latin typeface="Times New Roman" pitchFamily="18" charset="0"/>
                <a:cs typeface="Times New Roman" pitchFamily="18" charset="0"/>
              </a:rPr>
              <a:t>REFERENCES</a:t>
            </a:r>
          </a:p>
          <a:p>
            <a:pPr algn="ctr">
              <a:buNone/>
            </a:pPr>
            <a:endParaRPr lang="en-US" sz="2000" b="1" dirty="0">
              <a:solidFill>
                <a:schemeClr val="accent1">
                  <a:lumMod val="75000"/>
                </a:schemeClr>
              </a:solidFill>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3632" y="2132856"/>
            <a:ext cx="6428184" cy="990600"/>
          </a:xfrm>
        </p:spPr>
        <p:txBody>
          <a:bodyPr>
            <a:normAutofit/>
          </a:bodyPr>
          <a:lstStyle/>
          <a:p>
            <a:pPr algn="ctr"/>
            <a:r>
              <a:rPr lang="en-US" sz="4800" b="1" dirty="0">
                <a:ln w="10541" cmpd="sng">
                  <a:solidFill>
                    <a:schemeClr val="accent1">
                      <a:shade val="88000"/>
                      <a:satMod val="110000"/>
                    </a:schemeClr>
                  </a:solidFill>
                  <a:prstDash val="solid"/>
                </a:ln>
                <a:solidFill>
                  <a:srgbClr val="000066"/>
                </a:solidFill>
              </a:rPr>
              <a:t>Question and Answer</a:t>
            </a:r>
          </a:p>
        </p:txBody>
      </p:sp>
      <p:sp>
        <p:nvSpPr>
          <p:cNvPr id="4" name="Date Placeholder 3">
            <a:extLst>
              <a:ext uri="{FF2B5EF4-FFF2-40B4-BE49-F238E27FC236}">
                <a16:creationId xmlns:a16="http://schemas.microsoft.com/office/drawing/2014/main" id="{0DD6ABC9-2AA8-45D3-BBEA-5EDA91A7663B}"/>
              </a:ext>
            </a:extLst>
          </p:cNvPr>
          <p:cNvSpPr>
            <a:spLocks noGrp="1"/>
          </p:cNvSpPr>
          <p:nvPr>
            <p:ph type="dt" sz="half" idx="10"/>
          </p:nvPr>
        </p:nvSpPr>
        <p:spPr/>
        <p:txBody>
          <a:bodyPr/>
          <a:lstStyle/>
          <a:p>
            <a:r>
              <a:rPr lang="en-US"/>
              <a:t>VIII Semester, Department of ISE, RNSIT</a:t>
            </a:r>
            <a:endParaRPr lang="en-US" dirty="0"/>
          </a:p>
        </p:txBody>
      </p:sp>
      <p:sp>
        <p:nvSpPr>
          <p:cNvPr id="3" name="Footer Placeholder 2">
            <a:extLst>
              <a:ext uri="{FF2B5EF4-FFF2-40B4-BE49-F238E27FC236}">
                <a16:creationId xmlns:a16="http://schemas.microsoft.com/office/drawing/2014/main" id="{7BFABEAA-379F-4A82-AF2D-B81BD8E4AC4A}"/>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84D77451-EDE1-4F8C-ACC9-367848FE9A6A}"/>
              </a:ext>
            </a:extLst>
          </p:cNvPr>
          <p:cNvSpPr>
            <a:spLocks noGrp="1"/>
          </p:cNvSpPr>
          <p:nvPr>
            <p:ph type="sldNum" sz="quarter" idx="12"/>
          </p:nvPr>
        </p:nvSpPr>
        <p:spPr/>
        <p:txBody>
          <a:bodyPr/>
          <a:lstStyle/>
          <a:p>
            <a:fld id="{5B4F5413-E548-45A8-B9DD-11B71454D5CA}" type="slidenum">
              <a:rPr lang="en-US" smtClean="0"/>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9616" y="2458552"/>
            <a:ext cx="6553200" cy="754424"/>
          </a:xfrm>
        </p:spPr>
        <p:txBody>
          <a:bodyPr>
            <a:normAutofit/>
          </a:bodyPr>
          <a:lstStyle/>
          <a:p>
            <a:pPr algn="ctr"/>
            <a:r>
              <a:rPr lang="en-US" sz="4800" b="1" dirty="0">
                <a:ln w="10541" cmpd="sng">
                  <a:solidFill>
                    <a:schemeClr val="accent1">
                      <a:shade val="88000"/>
                      <a:satMod val="110000"/>
                    </a:schemeClr>
                  </a:solidFill>
                  <a:prstDash val="solid"/>
                </a:ln>
                <a:solidFill>
                  <a:srgbClr val="000066"/>
                </a:solidFill>
              </a:rPr>
              <a:t>THANK YOU</a:t>
            </a:r>
          </a:p>
        </p:txBody>
      </p:sp>
      <p:sp>
        <p:nvSpPr>
          <p:cNvPr id="4" name="Date Placeholder 3">
            <a:extLst>
              <a:ext uri="{FF2B5EF4-FFF2-40B4-BE49-F238E27FC236}">
                <a16:creationId xmlns:a16="http://schemas.microsoft.com/office/drawing/2014/main" id="{4F225990-F38C-4DDC-86BA-7F06ABDAFCC0}"/>
              </a:ext>
            </a:extLst>
          </p:cNvPr>
          <p:cNvSpPr>
            <a:spLocks noGrp="1"/>
          </p:cNvSpPr>
          <p:nvPr>
            <p:ph type="dt" sz="half" idx="10"/>
          </p:nvPr>
        </p:nvSpPr>
        <p:spPr/>
        <p:txBody>
          <a:bodyPr/>
          <a:lstStyle/>
          <a:p>
            <a:r>
              <a:rPr lang="en-US"/>
              <a:t>VIII Semester, Department of ISE, RNSIT</a:t>
            </a:r>
            <a:endParaRPr lang="en-US" dirty="0"/>
          </a:p>
        </p:txBody>
      </p:sp>
      <p:sp>
        <p:nvSpPr>
          <p:cNvPr id="3" name="Footer Placeholder 2">
            <a:extLst>
              <a:ext uri="{FF2B5EF4-FFF2-40B4-BE49-F238E27FC236}">
                <a16:creationId xmlns:a16="http://schemas.microsoft.com/office/drawing/2014/main" id="{6E55FA4F-0ACB-4158-BB75-7AD52B710C35}"/>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CD602A3F-45C8-46FF-A99F-20E606B7B72B}"/>
              </a:ext>
            </a:extLst>
          </p:cNvPr>
          <p:cNvSpPr>
            <a:spLocks noGrp="1"/>
          </p:cNvSpPr>
          <p:nvPr>
            <p:ph type="sldNum" sz="quarter" idx="12"/>
          </p:nvPr>
        </p:nvSpPr>
        <p:spPr/>
        <p:txBody>
          <a:bodyPr/>
          <a:lstStyle/>
          <a:p>
            <a:fld id="{5B4F5413-E548-45A8-B9DD-11B71454D5CA}" type="slidenum">
              <a:rPr lang="en-US" smtClean="0"/>
              <a:pPr/>
              <a:t>36</a:t>
            </a:fld>
            <a:endParaRPr lang="en-US" dirty="0"/>
          </a:p>
        </p:txBody>
      </p:sp>
    </p:spTree>
    <p:extLst>
      <p:ext uri="{BB962C8B-B14F-4D97-AF65-F5344CB8AC3E}">
        <p14:creationId xmlns:p14="http://schemas.microsoft.com/office/powerpoint/2010/main" val="1270399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4649</TotalTime>
  <Words>3971</Words>
  <Application>Microsoft Office PowerPoint</Application>
  <PresentationFormat>Widescreen</PresentationFormat>
  <Paragraphs>412</Paragraphs>
  <Slides>36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Times New Roman</vt:lpstr>
      <vt:lpstr>Wingdings</vt:lpstr>
      <vt:lpstr>Office Theme</vt:lpstr>
      <vt:lpstr>Li-Fi Based Automatic Traffic Signal Control For Ambulance </vt:lpstr>
      <vt:lpstr>AGENDA</vt:lpstr>
      <vt:lpstr>ABSTRACT </vt:lpstr>
      <vt:lpstr>INTRODUCTION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vt:lpstr>
      <vt:lpstr>ANALYSIS </vt:lpstr>
      <vt:lpstr>ANALYSIS </vt:lpstr>
      <vt:lpstr>ANALYSIS </vt:lpstr>
      <vt:lpstr>SYSTEM DESIGN </vt:lpstr>
      <vt:lpstr>IMPLEMENTATION</vt:lpstr>
      <vt:lpstr>IMPLEMENTATION</vt:lpstr>
      <vt:lpstr>IMPLEMENTATION</vt:lpstr>
      <vt:lpstr>IMPLEMENTATION</vt:lpstr>
      <vt:lpstr>IMPLEMENTATION</vt:lpstr>
      <vt:lpstr>IMPLEMENTATION</vt:lpstr>
      <vt:lpstr>IMPLEMENTATION </vt:lpstr>
      <vt:lpstr>IMPLEMENTATION </vt:lpstr>
      <vt:lpstr>Testing</vt:lpstr>
      <vt:lpstr>Results and Discussions</vt:lpstr>
      <vt:lpstr>                           Results and Discussions</vt:lpstr>
      <vt:lpstr>                           Results and Discussions</vt:lpstr>
      <vt:lpstr>                           Results and Discussions</vt:lpstr>
      <vt:lpstr>National Conference Paper</vt:lpstr>
      <vt:lpstr>CONCLUSION</vt:lpstr>
      <vt:lpstr>Future Enhancements</vt:lpstr>
      <vt:lpstr>PowerPoint Presentation</vt:lpstr>
      <vt:lpstr>                           </vt:lpstr>
      <vt:lpstr>Question and Answer</vt:lpstr>
      <vt:lpstr>THANK YOU</vt:lpstr>
    </vt:vector>
  </TitlesOfParts>
  <Company>DARSHAN SATHYA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DARSHAN SATHYA</dc:creator>
  <cp:lastModifiedBy>Amardeep Kumar</cp:lastModifiedBy>
  <cp:revision>306</cp:revision>
  <dcterms:created xsi:type="dcterms:W3CDTF">2015-10-29T14:36:38Z</dcterms:created>
  <dcterms:modified xsi:type="dcterms:W3CDTF">2023-05-08T03:28:22Z</dcterms:modified>
</cp:coreProperties>
</file>